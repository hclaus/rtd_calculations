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77" r:id="rId9"/>
    <p:sldId id="267" r:id="rId10"/>
    <p:sldId id="287" r:id="rId11"/>
    <p:sldId id="290" r:id="rId12"/>
    <p:sldId id="275" r:id="rId13"/>
    <p:sldId id="276" r:id="rId14"/>
    <p:sldId id="278" r:id="rId15"/>
    <p:sldId id="279" r:id="rId16"/>
    <p:sldId id="268" r:id="rId17"/>
    <p:sldId id="264" r:id="rId18"/>
    <p:sldId id="265" r:id="rId19"/>
    <p:sldId id="280" r:id="rId20"/>
    <p:sldId id="281" r:id="rId21"/>
    <p:sldId id="266" r:id="rId22"/>
    <p:sldId id="272" r:id="rId23"/>
    <p:sldId id="273" r:id="rId24"/>
    <p:sldId id="274" r:id="rId25"/>
    <p:sldId id="2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2" d="100"/>
          <a:sy n="152" d="100"/>
        </p:scale>
        <p:origin x="652" y="6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36378D-4520-4FC2-98E4-25345A14935E}"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1BE3AB-4D79-478E-8BF5-5F438631CDF2}" type="slidenum">
              <a:rPr lang="en-US" smtClean="0"/>
              <a:t>‹#›</a:t>
            </a:fld>
            <a:endParaRPr lang="en-US"/>
          </a:p>
        </p:txBody>
      </p:sp>
    </p:spTree>
    <p:extLst>
      <p:ext uri="{BB962C8B-B14F-4D97-AF65-F5344CB8AC3E}">
        <p14:creationId xmlns:p14="http://schemas.microsoft.com/office/powerpoint/2010/main" val="30633350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1BE3AB-4D79-478E-8BF5-5F438631CDF2}" type="slidenum">
              <a:rPr lang="en-US" smtClean="0"/>
              <a:t>1</a:t>
            </a:fld>
            <a:endParaRPr lang="en-US"/>
          </a:p>
        </p:txBody>
      </p:sp>
    </p:spTree>
    <p:extLst>
      <p:ext uri="{BB962C8B-B14F-4D97-AF65-F5344CB8AC3E}">
        <p14:creationId xmlns:p14="http://schemas.microsoft.com/office/powerpoint/2010/main" val="154645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1BE3AB-4D79-478E-8BF5-5F438631CDF2}" type="slidenum">
              <a:rPr lang="en-US" smtClean="0"/>
              <a:t>2</a:t>
            </a:fld>
            <a:endParaRPr lang="en-US"/>
          </a:p>
        </p:txBody>
      </p:sp>
    </p:spTree>
    <p:extLst>
      <p:ext uri="{BB962C8B-B14F-4D97-AF65-F5344CB8AC3E}">
        <p14:creationId xmlns:p14="http://schemas.microsoft.com/office/powerpoint/2010/main" val="3720348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F30215-8211-4532-A9D9-D98861104895}" type="slidenum">
              <a:rPr lang="en-US" smtClean="0"/>
              <a:t>9</a:t>
            </a:fld>
            <a:endParaRPr lang="en-US"/>
          </a:p>
        </p:txBody>
      </p:sp>
    </p:spTree>
    <p:extLst>
      <p:ext uri="{BB962C8B-B14F-4D97-AF65-F5344CB8AC3E}">
        <p14:creationId xmlns:p14="http://schemas.microsoft.com/office/powerpoint/2010/main" val="726996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BF30215-8211-4532-A9D9-D98861104895}" type="slidenum">
              <a:rPr lang="en-US" smtClean="0"/>
              <a:t>22</a:t>
            </a:fld>
            <a:endParaRPr lang="en-US"/>
          </a:p>
        </p:txBody>
      </p:sp>
    </p:spTree>
    <p:extLst>
      <p:ext uri="{BB962C8B-B14F-4D97-AF65-F5344CB8AC3E}">
        <p14:creationId xmlns:p14="http://schemas.microsoft.com/office/powerpoint/2010/main" val="3048638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2DE3A-E0C2-91D4-EDED-EC6DA8EAFF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1C7CE6-5FA3-91F4-97B5-C5506981BD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56F2503-DBCD-D2C6-41FE-6578DD1FFB87}"/>
              </a:ext>
            </a:extLst>
          </p:cNvPr>
          <p:cNvSpPr>
            <a:spLocks noGrp="1"/>
          </p:cNvSpPr>
          <p:nvPr>
            <p:ph type="dt" sz="half" idx="10"/>
          </p:nvPr>
        </p:nvSpPr>
        <p:spPr/>
        <p:txBody>
          <a:bodyPr/>
          <a:lstStyle/>
          <a:p>
            <a:fld id="{ADD1CE1A-E16B-4704-8972-A4B7D6FD891C}" type="datetime1">
              <a:rPr lang="en-US" smtClean="0"/>
              <a:t>9/29/2026</a:t>
            </a:fld>
            <a:endParaRPr lang="en-US"/>
          </a:p>
        </p:txBody>
      </p:sp>
      <p:sp>
        <p:nvSpPr>
          <p:cNvPr id="5" name="Footer Placeholder 4">
            <a:extLst>
              <a:ext uri="{FF2B5EF4-FFF2-40B4-BE49-F238E27FC236}">
                <a16:creationId xmlns:a16="http://schemas.microsoft.com/office/drawing/2014/main" id="{A0E53558-F374-A494-6885-FF467A4B95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9BBD9-9519-2C9B-4773-C5E46E831B19}"/>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296354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F658-95A4-97DC-DA49-8AC80694F3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63B72-A94B-7846-FEF2-25B3EC4452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564C7-A9AA-6EAB-2ED2-7CE31EFDE688}"/>
              </a:ext>
            </a:extLst>
          </p:cNvPr>
          <p:cNvSpPr>
            <a:spLocks noGrp="1"/>
          </p:cNvSpPr>
          <p:nvPr>
            <p:ph type="dt" sz="half" idx="10"/>
          </p:nvPr>
        </p:nvSpPr>
        <p:spPr/>
        <p:txBody>
          <a:bodyPr/>
          <a:lstStyle/>
          <a:p>
            <a:fld id="{FB4B4834-1F11-49E1-80D9-022FF453A182}" type="datetime1">
              <a:rPr lang="en-US" smtClean="0"/>
              <a:t>9/29/2026</a:t>
            </a:fld>
            <a:endParaRPr lang="en-US"/>
          </a:p>
        </p:txBody>
      </p:sp>
      <p:sp>
        <p:nvSpPr>
          <p:cNvPr id="5" name="Footer Placeholder 4">
            <a:extLst>
              <a:ext uri="{FF2B5EF4-FFF2-40B4-BE49-F238E27FC236}">
                <a16:creationId xmlns:a16="http://schemas.microsoft.com/office/drawing/2014/main" id="{9659C95A-ECC3-B745-B064-F8396BF83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3DF57A-CFFE-2DF8-EBFF-D4B7801BE6CB}"/>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1450327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9C323-4E44-C82B-B02E-116DDB10BC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0C945EC-AD7A-40BB-183A-CE2969F110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DD49AF-ECA7-910D-BD68-550E7D63390A}"/>
              </a:ext>
            </a:extLst>
          </p:cNvPr>
          <p:cNvSpPr>
            <a:spLocks noGrp="1"/>
          </p:cNvSpPr>
          <p:nvPr>
            <p:ph type="dt" sz="half" idx="10"/>
          </p:nvPr>
        </p:nvSpPr>
        <p:spPr/>
        <p:txBody>
          <a:bodyPr/>
          <a:lstStyle/>
          <a:p>
            <a:fld id="{09E90843-CA36-4C58-BB39-EADEA34EEE8A}" type="datetime1">
              <a:rPr lang="en-US" smtClean="0"/>
              <a:t>9/29/2026</a:t>
            </a:fld>
            <a:endParaRPr lang="en-US"/>
          </a:p>
        </p:txBody>
      </p:sp>
      <p:sp>
        <p:nvSpPr>
          <p:cNvPr id="5" name="Footer Placeholder 4">
            <a:extLst>
              <a:ext uri="{FF2B5EF4-FFF2-40B4-BE49-F238E27FC236}">
                <a16:creationId xmlns:a16="http://schemas.microsoft.com/office/drawing/2014/main" id="{8EA265A3-89E8-44B3-2650-9B1EC6787D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87F35F-7950-A688-F377-F794E9B8393C}"/>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12195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1483A-E888-6DF8-6C7D-C75AE5673F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FB3580-F98F-2700-BA03-3D6647DAEE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20ACD3-87CD-FD2A-5C97-097311E82D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E6808B-5094-C4B5-3ACD-A8F23D40FECF}"/>
              </a:ext>
            </a:extLst>
          </p:cNvPr>
          <p:cNvSpPr>
            <a:spLocks noGrp="1"/>
          </p:cNvSpPr>
          <p:nvPr>
            <p:ph type="dt" sz="half" idx="10"/>
          </p:nvPr>
        </p:nvSpPr>
        <p:spPr/>
        <p:txBody>
          <a:bodyPr/>
          <a:lstStyle/>
          <a:p>
            <a:fld id="{915E229B-BD4B-4BDE-823F-A7984D02417A}" type="datetime1">
              <a:rPr lang="en-US" smtClean="0"/>
              <a:t>9/29/2026</a:t>
            </a:fld>
            <a:endParaRPr lang="en-US"/>
          </a:p>
        </p:txBody>
      </p:sp>
      <p:sp>
        <p:nvSpPr>
          <p:cNvPr id="6" name="Footer Placeholder 5">
            <a:extLst>
              <a:ext uri="{FF2B5EF4-FFF2-40B4-BE49-F238E27FC236}">
                <a16:creationId xmlns:a16="http://schemas.microsoft.com/office/drawing/2014/main" id="{43C00C81-C313-F2BC-34CD-395B10F904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02334B-DBD1-7272-5031-D4BD30711166}"/>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3884209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14784-18C4-8DFF-3FD7-6D7C8CABCC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99EB8-9F2A-7FE4-563E-EC0F67C399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D011C6-73D7-B384-6AAE-9084C4C24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424D41-7018-9A03-59E7-128A6B0A06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7C5AFF-8DDD-3EBD-CBF9-099EB2DF00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D10A42-C783-0013-2D56-129E139868FB}"/>
              </a:ext>
            </a:extLst>
          </p:cNvPr>
          <p:cNvSpPr>
            <a:spLocks noGrp="1"/>
          </p:cNvSpPr>
          <p:nvPr>
            <p:ph type="dt" sz="half" idx="10"/>
          </p:nvPr>
        </p:nvSpPr>
        <p:spPr/>
        <p:txBody>
          <a:bodyPr/>
          <a:lstStyle/>
          <a:p>
            <a:fld id="{108F7A61-F5A6-4917-AF8C-A69A0032993C}" type="datetime1">
              <a:rPr lang="en-US" smtClean="0"/>
              <a:t>9/29/2026</a:t>
            </a:fld>
            <a:endParaRPr lang="en-US"/>
          </a:p>
        </p:txBody>
      </p:sp>
      <p:sp>
        <p:nvSpPr>
          <p:cNvPr id="8" name="Footer Placeholder 7">
            <a:extLst>
              <a:ext uri="{FF2B5EF4-FFF2-40B4-BE49-F238E27FC236}">
                <a16:creationId xmlns:a16="http://schemas.microsoft.com/office/drawing/2014/main" id="{F6D3F438-A206-2F4D-662F-6D5B951056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CD0923-F381-3CD3-51CA-32B6270EBEF5}"/>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1256414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F28D-560C-C875-E757-AB4AE6E4B2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81C3A-32FE-A897-748C-A30BB39C5404}"/>
              </a:ext>
            </a:extLst>
          </p:cNvPr>
          <p:cNvSpPr>
            <a:spLocks noGrp="1"/>
          </p:cNvSpPr>
          <p:nvPr>
            <p:ph type="dt" sz="half" idx="10"/>
          </p:nvPr>
        </p:nvSpPr>
        <p:spPr/>
        <p:txBody>
          <a:bodyPr/>
          <a:lstStyle/>
          <a:p>
            <a:fld id="{5D36686F-64A5-4F2F-BEED-F21E11C871A6}" type="datetime1">
              <a:rPr lang="en-US" smtClean="0"/>
              <a:t>9/29/2026</a:t>
            </a:fld>
            <a:endParaRPr lang="en-US"/>
          </a:p>
        </p:txBody>
      </p:sp>
      <p:sp>
        <p:nvSpPr>
          <p:cNvPr id="4" name="Footer Placeholder 3">
            <a:extLst>
              <a:ext uri="{FF2B5EF4-FFF2-40B4-BE49-F238E27FC236}">
                <a16:creationId xmlns:a16="http://schemas.microsoft.com/office/drawing/2014/main" id="{3F042BE5-A68C-19AC-EF69-24D9FBB5B1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E523B5-E44D-B02C-D8E5-F12B4FD3FFB7}"/>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4186078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375D55-ACB6-5C7D-049F-2D2E601AB923}"/>
              </a:ext>
            </a:extLst>
          </p:cNvPr>
          <p:cNvSpPr>
            <a:spLocks noGrp="1"/>
          </p:cNvSpPr>
          <p:nvPr>
            <p:ph type="dt" sz="half" idx="10"/>
          </p:nvPr>
        </p:nvSpPr>
        <p:spPr/>
        <p:txBody>
          <a:bodyPr/>
          <a:lstStyle/>
          <a:p>
            <a:fld id="{664A1003-2ED5-4EFA-9F71-A989CB93ACB0}" type="datetime1">
              <a:rPr lang="en-US" smtClean="0"/>
              <a:t>9/29/2026</a:t>
            </a:fld>
            <a:endParaRPr lang="en-US"/>
          </a:p>
        </p:txBody>
      </p:sp>
      <p:sp>
        <p:nvSpPr>
          <p:cNvPr id="3" name="Footer Placeholder 2">
            <a:extLst>
              <a:ext uri="{FF2B5EF4-FFF2-40B4-BE49-F238E27FC236}">
                <a16:creationId xmlns:a16="http://schemas.microsoft.com/office/drawing/2014/main" id="{11516D21-14F4-B303-D29A-C916E86B7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9D8328-AC3B-89F3-44FB-3D081767AF98}"/>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2354226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8217F-403D-A6E1-FB62-67AA160524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AEA286-4281-9959-1858-D0FBB8886A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AC0E75-D2F2-5423-09C2-51888B902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9901F2-0CA8-7977-F02B-7345AFF234CC}"/>
              </a:ext>
            </a:extLst>
          </p:cNvPr>
          <p:cNvSpPr>
            <a:spLocks noGrp="1"/>
          </p:cNvSpPr>
          <p:nvPr>
            <p:ph type="dt" sz="half" idx="10"/>
          </p:nvPr>
        </p:nvSpPr>
        <p:spPr/>
        <p:txBody>
          <a:bodyPr/>
          <a:lstStyle/>
          <a:p>
            <a:fld id="{7CDC8D39-01E5-439E-BC68-A9F582B745D4}" type="datetime1">
              <a:rPr lang="en-US" smtClean="0"/>
              <a:t>9/29/2026</a:t>
            </a:fld>
            <a:endParaRPr lang="en-US"/>
          </a:p>
        </p:txBody>
      </p:sp>
      <p:sp>
        <p:nvSpPr>
          <p:cNvPr id="6" name="Footer Placeholder 5">
            <a:extLst>
              <a:ext uri="{FF2B5EF4-FFF2-40B4-BE49-F238E27FC236}">
                <a16:creationId xmlns:a16="http://schemas.microsoft.com/office/drawing/2014/main" id="{B64FADC4-3A41-9BF3-2FB7-A4978FFE4D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9768B2-36FE-DC24-3F94-EBA562E0521F}"/>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1370128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2245-C25E-0E8A-AAE7-5C5ADE85CD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27D82D-E8D1-7A1C-E35F-C48BAB23A5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FC49BFE-FB17-0FE4-B324-9883A9088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102585-4C8A-B5E1-3D19-F07A3DB162A5}"/>
              </a:ext>
            </a:extLst>
          </p:cNvPr>
          <p:cNvSpPr>
            <a:spLocks noGrp="1"/>
          </p:cNvSpPr>
          <p:nvPr>
            <p:ph type="dt" sz="half" idx="10"/>
          </p:nvPr>
        </p:nvSpPr>
        <p:spPr/>
        <p:txBody>
          <a:bodyPr/>
          <a:lstStyle/>
          <a:p>
            <a:fld id="{0898F066-93E9-4B2E-B7BC-3CE7157AA805}" type="datetime1">
              <a:rPr lang="en-US" smtClean="0"/>
              <a:t>9/29/2026</a:t>
            </a:fld>
            <a:endParaRPr lang="en-US"/>
          </a:p>
        </p:txBody>
      </p:sp>
      <p:sp>
        <p:nvSpPr>
          <p:cNvPr id="6" name="Footer Placeholder 5">
            <a:extLst>
              <a:ext uri="{FF2B5EF4-FFF2-40B4-BE49-F238E27FC236}">
                <a16:creationId xmlns:a16="http://schemas.microsoft.com/office/drawing/2014/main" id="{1BA7357A-2F0C-4DCA-424A-524A560789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85931-4E56-2578-A424-26E291AE1DFA}"/>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304069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242D9-C99C-47EF-10FE-7A7C485355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AFFE6D-848E-2FD0-4274-861F634387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1A259D-623C-1B22-1186-629472F12530}"/>
              </a:ext>
            </a:extLst>
          </p:cNvPr>
          <p:cNvSpPr>
            <a:spLocks noGrp="1"/>
          </p:cNvSpPr>
          <p:nvPr>
            <p:ph type="dt" sz="half" idx="10"/>
          </p:nvPr>
        </p:nvSpPr>
        <p:spPr/>
        <p:txBody>
          <a:bodyPr/>
          <a:lstStyle/>
          <a:p>
            <a:fld id="{B59FCB84-64E4-4F50-B7DB-74B27204DBBA}" type="datetime1">
              <a:rPr lang="en-US" smtClean="0"/>
              <a:t>9/29/2026</a:t>
            </a:fld>
            <a:endParaRPr lang="en-US"/>
          </a:p>
        </p:txBody>
      </p:sp>
      <p:sp>
        <p:nvSpPr>
          <p:cNvPr id="5" name="Footer Placeholder 4">
            <a:extLst>
              <a:ext uri="{FF2B5EF4-FFF2-40B4-BE49-F238E27FC236}">
                <a16:creationId xmlns:a16="http://schemas.microsoft.com/office/drawing/2014/main" id="{EE567262-5CA3-05ED-FFAD-B2643A5CB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91852E-7929-80CA-823D-4839C1D963C4}"/>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111165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F458C5-1A51-59A5-A202-F7A7219F51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79C0E6-80F1-D5AA-B8D6-FD6D27F028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EAC836-C7F1-F904-A6B4-3AEF66746E7C}"/>
              </a:ext>
            </a:extLst>
          </p:cNvPr>
          <p:cNvSpPr>
            <a:spLocks noGrp="1"/>
          </p:cNvSpPr>
          <p:nvPr>
            <p:ph type="dt" sz="half" idx="10"/>
          </p:nvPr>
        </p:nvSpPr>
        <p:spPr/>
        <p:txBody>
          <a:bodyPr/>
          <a:lstStyle/>
          <a:p>
            <a:fld id="{796A4A14-3E98-4214-9B84-81E3514A9197}" type="datetime1">
              <a:rPr lang="en-US" smtClean="0"/>
              <a:t>9/29/2026</a:t>
            </a:fld>
            <a:endParaRPr lang="en-US"/>
          </a:p>
        </p:txBody>
      </p:sp>
      <p:sp>
        <p:nvSpPr>
          <p:cNvPr id="5" name="Footer Placeholder 4">
            <a:extLst>
              <a:ext uri="{FF2B5EF4-FFF2-40B4-BE49-F238E27FC236}">
                <a16:creationId xmlns:a16="http://schemas.microsoft.com/office/drawing/2014/main" id="{BDF6E526-B640-BB43-863D-04805DB9A0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F6D587-17A5-3C51-AB86-FDE659FF6328}"/>
              </a:ext>
            </a:extLst>
          </p:cNvPr>
          <p:cNvSpPr>
            <a:spLocks noGrp="1"/>
          </p:cNvSpPr>
          <p:nvPr>
            <p:ph type="sldNum" sz="quarter" idx="12"/>
          </p:nvPr>
        </p:nvSpPr>
        <p:spPr/>
        <p:txBody>
          <a:bodyPr/>
          <a:lstStyle/>
          <a:p>
            <a:fld id="{DA9AF7B9-8BBF-4957-8393-213600C515C9}" type="slidenum">
              <a:rPr lang="en-US" smtClean="0"/>
              <a:t>‹#›</a:t>
            </a:fld>
            <a:endParaRPr lang="en-US"/>
          </a:p>
        </p:txBody>
      </p:sp>
    </p:spTree>
    <p:extLst>
      <p:ext uri="{BB962C8B-B14F-4D97-AF65-F5344CB8AC3E}">
        <p14:creationId xmlns:p14="http://schemas.microsoft.com/office/powerpoint/2010/main" val="2595566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ACAC4-272B-DF93-BD9D-2251F73B13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33992C-438C-5984-D158-710A6E096C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8B4792-A112-B677-991F-4CC7BA6272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75351E-3773-42D8-B1BC-6A02D8E1803C}" type="datetime1">
              <a:rPr lang="en-US" smtClean="0"/>
              <a:t>9/29/2026</a:t>
            </a:fld>
            <a:endParaRPr lang="en-US"/>
          </a:p>
        </p:txBody>
      </p:sp>
      <p:sp>
        <p:nvSpPr>
          <p:cNvPr id="5" name="Footer Placeholder 4">
            <a:extLst>
              <a:ext uri="{FF2B5EF4-FFF2-40B4-BE49-F238E27FC236}">
                <a16:creationId xmlns:a16="http://schemas.microsoft.com/office/drawing/2014/main" id="{E6543D93-4477-F27E-6D6F-C8FBCD2174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193DEA6-41FD-3F64-AE19-84339F702E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9AF7B9-8BBF-4957-8393-213600C515C9}" type="slidenum">
              <a:rPr lang="en-US" smtClean="0"/>
              <a:t>‹#›</a:t>
            </a:fld>
            <a:endParaRPr lang="en-US"/>
          </a:p>
        </p:txBody>
      </p:sp>
    </p:spTree>
    <p:extLst>
      <p:ext uri="{BB962C8B-B14F-4D97-AF65-F5344CB8AC3E}">
        <p14:creationId xmlns:p14="http://schemas.microsoft.com/office/powerpoint/2010/main" val="3428046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4.xml"/><Relationship Id="rId5" Type="http://schemas.openxmlformats.org/officeDocument/2006/relationships/image" Target="../media/image16.jpeg"/><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package" Target="../embeddings/Microsoft_Word_Document.docx"/><Relationship Id="rId1" Type="http://schemas.openxmlformats.org/officeDocument/2006/relationships/slideLayout" Target="../slideLayouts/slideLayout6.xml"/><Relationship Id="rId4" Type="http://schemas.openxmlformats.org/officeDocument/2006/relationships/image" Target="../media/image180.png"/></Relationships>
</file>

<file path=ppt/slides/_rels/slide1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6.xml"/><Relationship Id="rId4" Type="http://schemas.openxmlformats.org/officeDocument/2006/relationships/image" Target="../media/image29.jpeg"/></Relationships>
</file>

<file path=ppt/slides/_rels/slide1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hyperlink" Target="mailto:blatch@purdue.edu" TargetMode="External"/><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9.png"/><Relationship Id="rId1" Type="http://schemas.openxmlformats.org/officeDocument/2006/relationships/slideLayout" Target="../slideLayouts/slideLayout6.xml"/><Relationship Id="rId5" Type="http://schemas.openxmlformats.org/officeDocument/2006/relationships/image" Target="../media/image60.png"/><Relationship Id="rId4" Type="http://schemas.openxmlformats.org/officeDocument/2006/relationships/image" Target="../media/image101.png"/></Relationships>
</file>

<file path=ppt/slides/_rels/slide2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4.bin"/><Relationship Id="rId1" Type="http://schemas.openxmlformats.org/officeDocument/2006/relationships/slideLayout" Target="../slideLayouts/slideLayout7.xml"/><Relationship Id="rId5" Type="http://schemas.openxmlformats.org/officeDocument/2006/relationships/image" Target="../media/image37.e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NC State CCEE (@NCStateCCEE) / X">
            <a:extLst>
              <a:ext uri="{FF2B5EF4-FFF2-40B4-BE49-F238E27FC236}">
                <a16:creationId xmlns:a16="http://schemas.microsoft.com/office/drawing/2014/main" id="{99AF3AC7-FDFE-7AD4-4E64-F03B8C72A93A}"/>
              </a:ext>
            </a:extLst>
          </p:cNvPr>
          <p:cNvPicPr>
            <a:picLocks noChangeAspect="1"/>
          </p:cNvPicPr>
          <p:nvPr/>
        </p:nvPicPr>
        <p:blipFill>
          <a:blip r:embed="rId3"/>
          <a:stretch>
            <a:fillRect/>
          </a:stretch>
        </p:blipFill>
        <p:spPr>
          <a:xfrm>
            <a:off x="9831630" y="5238925"/>
            <a:ext cx="1760824" cy="1760824"/>
          </a:xfrm>
          <a:prstGeom prst="rect">
            <a:avLst/>
          </a:prstGeom>
        </p:spPr>
      </p:pic>
      <p:sp>
        <p:nvSpPr>
          <p:cNvPr id="2" name="Title 1">
            <a:extLst>
              <a:ext uri="{FF2B5EF4-FFF2-40B4-BE49-F238E27FC236}">
                <a16:creationId xmlns:a16="http://schemas.microsoft.com/office/drawing/2014/main" id="{4FF88567-8584-3DE3-78D0-DCE050339260}"/>
              </a:ext>
            </a:extLst>
          </p:cNvPr>
          <p:cNvSpPr>
            <a:spLocks noGrp="1"/>
          </p:cNvSpPr>
          <p:nvPr>
            <p:ph type="ctrTitle"/>
          </p:nvPr>
        </p:nvSpPr>
        <p:spPr>
          <a:xfrm>
            <a:off x="207264" y="0"/>
            <a:ext cx="11777472" cy="2387600"/>
          </a:xfrm>
        </p:spPr>
        <p:txBody>
          <a:bodyPr>
            <a:normAutofit fontScale="90000"/>
          </a:bodyPr>
          <a:lstStyle/>
          <a:p>
            <a:r>
              <a:rPr lang="en-US" dirty="0">
                <a:solidFill>
                  <a:srgbClr val="0000CC"/>
                </a:solidFill>
              </a:rPr>
              <a:t>UV-C Dose-Response Behavior of Airborne (Aerosolized) Challenge Agents I: Theoretical Foundation</a:t>
            </a:r>
          </a:p>
        </p:txBody>
      </p:sp>
      <p:sp>
        <p:nvSpPr>
          <p:cNvPr id="3" name="Subtitle 2">
            <a:extLst>
              <a:ext uri="{FF2B5EF4-FFF2-40B4-BE49-F238E27FC236}">
                <a16:creationId xmlns:a16="http://schemas.microsoft.com/office/drawing/2014/main" id="{516C72C3-4596-1330-2AD3-45C331AB6FED}"/>
              </a:ext>
            </a:extLst>
          </p:cNvPr>
          <p:cNvSpPr>
            <a:spLocks noGrp="1"/>
          </p:cNvSpPr>
          <p:nvPr>
            <p:ph type="subTitle" idx="1"/>
          </p:nvPr>
        </p:nvSpPr>
        <p:spPr>
          <a:xfrm>
            <a:off x="0" y="2304014"/>
            <a:ext cx="12192000" cy="3292538"/>
          </a:xfrm>
        </p:spPr>
        <p:txBody>
          <a:bodyPr>
            <a:normAutofit fontScale="92500" lnSpcReduction="20000"/>
          </a:bodyPr>
          <a:lstStyle/>
          <a:p>
            <a:r>
              <a:rPr lang="en-US" dirty="0"/>
              <a:t>Ernest R. Blatchley III</a:t>
            </a:r>
            <a:r>
              <a:rPr lang="en-US" baseline="30000" dirty="0"/>
              <a:t>1,2</a:t>
            </a:r>
            <a:r>
              <a:rPr lang="en-US" dirty="0"/>
              <a:t>, Mark Jongewaard</a:t>
            </a:r>
            <a:r>
              <a:rPr lang="en-US" baseline="30000" dirty="0"/>
              <a:t>3</a:t>
            </a:r>
            <a:r>
              <a:rPr lang="en-US" dirty="0"/>
              <a:t>, Holger Claus</a:t>
            </a:r>
            <a:r>
              <a:rPr lang="en-US" baseline="30000" dirty="0"/>
              <a:t>4</a:t>
            </a:r>
            <a:r>
              <a:rPr lang="en-US" dirty="0"/>
              <a:t>, Mark T. Hernandez</a:t>
            </a:r>
            <a:r>
              <a:rPr lang="en-US" baseline="30000" dirty="0"/>
              <a:t>5</a:t>
            </a:r>
            <a:r>
              <a:rPr lang="en-US" dirty="0"/>
              <a:t>, </a:t>
            </a:r>
          </a:p>
          <a:p>
            <a:r>
              <a:rPr lang="en-US" dirty="0"/>
              <a:t>Shohoria Afrin Shorno</a:t>
            </a:r>
            <a:r>
              <a:rPr lang="en-US" baseline="30000" dirty="0"/>
              <a:t>1</a:t>
            </a:r>
            <a:r>
              <a:rPr lang="en-US" dirty="0"/>
              <a:t>, Christopher A. Bowers</a:t>
            </a:r>
            <a:r>
              <a:rPr lang="en-US" baseline="30000" dirty="0"/>
              <a:t>6</a:t>
            </a:r>
          </a:p>
          <a:p>
            <a:endParaRPr lang="en-US" dirty="0"/>
          </a:p>
          <a:p>
            <a:r>
              <a:rPr lang="en-US" baseline="30000" dirty="0"/>
              <a:t>1</a:t>
            </a:r>
            <a:r>
              <a:rPr lang="en-US" dirty="0"/>
              <a:t>Lyles School of Civil &amp; Construction Engineering, Purdue University</a:t>
            </a:r>
          </a:p>
          <a:p>
            <a:r>
              <a:rPr lang="en-US" baseline="30000" dirty="0"/>
              <a:t>2</a:t>
            </a:r>
            <a:r>
              <a:rPr lang="en-US" dirty="0"/>
              <a:t>School  of Sustainability Engineering &amp; Environmental Engineering, Purdue University</a:t>
            </a:r>
          </a:p>
          <a:p>
            <a:r>
              <a:rPr lang="en-US" baseline="30000" dirty="0"/>
              <a:t>3</a:t>
            </a:r>
            <a:r>
              <a:rPr lang="en-US" dirty="0"/>
              <a:t>LTI Optics, LLC</a:t>
            </a:r>
          </a:p>
          <a:p>
            <a:r>
              <a:rPr lang="en-US" baseline="30000" dirty="0"/>
              <a:t>4</a:t>
            </a:r>
            <a:r>
              <a:rPr lang="en-US" dirty="0"/>
              <a:t>A3 Lighting Consulting</a:t>
            </a:r>
          </a:p>
          <a:p>
            <a:r>
              <a:rPr lang="en-US" baseline="30000" dirty="0"/>
              <a:t>5</a:t>
            </a:r>
            <a:r>
              <a:rPr lang="en-US" dirty="0"/>
              <a:t>Department of Civil, Environmental and Architectural Engineering, University of Colorado</a:t>
            </a:r>
          </a:p>
          <a:p>
            <a:r>
              <a:rPr lang="en-US" baseline="30000" dirty="0"/>
              <a:t>6</a:t>
            </a:r>
            <a:r>
              <a:rPr lang="en-US" dirty="0"/>
              <a:t>Department of Civil, Construction and Environmental Engineering, North Carolina St. Univ.</a:t>
            </a:r>
          </a:p>
        </p:txBody>
      </p:sp>
      <p:pic>
        <p:nvPicPr>
          <p:cNvPr id="5" name="Picture 4" descr="A black background with white text&#10;&#10;AI-generated content may be incorrect.">
            <a:extLst>
              <a:ext uri="{FF2B5EF4-FFF2-40B4-BE49-F238E27FC236}">
                <a16:creationId xmlns:a16="http://schemas.microsoft.com/office/drawing/2014/main" id="{2726BC4A-8041-B21D-91B3-AC6393DC29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6194" y="5509566"/>
            <a:ext cx="1785249" cy="1412152"/>
          </a:xfrm>
          <a:prstGeom prst="rect">
            <a:avLst/>
          </a:prstGeom>
        </p:spPr>
      </p:pic>
      <p:pic>
        <p:nvPicPr>
          <p:cNvPr id="7" name="Picture 6" descr="A logo for a university&#10;&#10;AI-generated content may be incorrect.">
            <a:extLst>
              <a:ext uri="{FF2B5EF4-FFF2-40B4-BE49-F238E27FC236}">
                <a16:creationId xmlns:a16="http://schemas.microsoft.com/office/drawing/2014/main" id="{FF3E4700-BD93-EF09-48F3-AF80E2311D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940" y="5496527"/>
            <a:ext cx="1760824" cy="1397479"/>
          </a:xfrm>
          <a:prstGeom prst="rect">
            <a:avLst/>
          </a:prstGeom>
        </p:spPr>
      </p:pic>
      <p:pic>
        <p:nvPicPr>
          <p:cNvPr id="8" name="Picture 7" descr="LTI Optics - About | Photopia Optical Design Software">
            <a:extLst>
              <a:ext uri="{FF2B5EF4-FFF2-40B4-BE49-F238E27FC236}">
                <a16:creationId xmlns:a16="http://schemas.microsoft.com/office/drawing/2014/main" id="{1E4F8FC5-EA4A-38D5-C84A-871CAA24FCBB}"/>
              </a:ext>
            </a:extLst>
          </p:cNvPr>
          <p:cNvPicPr>
            <a:picLocks noChangeAspect="1"/>
          </p:cNvPicPr>
          <p:nvPr/>
        </p:nvPicPr>
        <p:blipFill>
          <a:blip r:embed="rId6"/>
          <a:stretch>
            <a:fillRect/>
          </a:stretch>
        </p:blipFill>
        <p:spPr>
          <a:xfrm>
            <a:off x="5012381" y="5760035"/>
            <a:ext cx="2499612" cy="834841"/>
          </a:xfrm>
          <a:prstGeom prst="rect">
            <a:avLst/>
          </a:prstGeom>
        </p:spPr>
      </p:pic>
      <p:pic>
        <p:nvPicPr>
          <p:cNvPr id="9" name="Picture 8" descr="University of Colorado Boulder Civil, Environmental and Architectural  Engineering Employees, Location, Alumni | LinkedIn">
            <a:extLst>
              <a:ext uri="{FF2B5EF4-FFF2-40B4-BE49-F238E27FC236}">
                <a16:creationId xmlns:a16="http://schemas.microsoft.com/office/drawing/2014/main" id="{6EBB4C25-3888-529E-6504-F7107152AF3F}"/>
              </a:ext>
            </a:extLst>
          </p:cNvPr>
          <p:cNvPicPr>
            <a:picLocks noChangeAspect="1"/>
          </p:cNvPicPr>
          <p:nvPr/>
        </p:nvPicPr>
        <p:blipFill>
          <a:blip r:embed="rId7"/>
          <a:stretch>
            <a:fillRect/>
          </a:stretch>
        </p:blipFill>
        <p:spPr>
          <a:xfrm>
            <a:off x="8092931" y="5532538"/>
            <a:ext cx="1325461" cy="1325461"/>
          </a:xfrm>
          <a:prstGeom prst="rect">
            <a:avLst/>
          </a:prstGeom>
        </p:spPr>
      </p:pic>
      <p:sp>
        <p:nvSpPr>
          <p:cNvPr id="11" name="Slide Number Placeholder 10">
            <a:extLst>
              <a:ext uri="{FF2B5EF4-FFF2-40B4-BE49-F238E27FC236}">
                <a16:creationId xmlns:a16="http://schemas.microsoft.com/office/drawing/2014/main" id="{49F34197-928E-98BF-9737-8462721A12A0}"/>
              </a:ext>
            </a:extLst>
          </p:cNvPr>
          <p:cNvSpPr>
            <a:spLocks noGrp="1"/>
          </p:cNvSpPr>
          <p:nvPr>
            <p:ph type="sldNum" sz="quarter" idx="12"/>
          </p:nvPr>
        </p:nvSpPr>
        <p:spPr>
          <a:xfrm>
            <a:off x="9386581" y="6412314"/>
            <a:ext cx="2743200" cy="365125"/>
          </a:xfrm>
        </p:spPr>
        <p:txBody>
          <a:bodyPr/>
          <a:lstStyle/>
          <a:p>
            <a:fld id="{DA9AF7B9-8BBF-4957-8393-213600C515C9}" type="slidenum">
              <a:rPr lang="en-US" smtClean="0"/>
              <a:t>1</a:t>
            </a:fld>
            <a:endParaRPr lang="en-US" dirty="0"/>
          </a:p>
        </p:txBody>
      </p:sp>
    </p:spTree>
    <p:extLst>
      <p:ext uri="{BB962C8B-B14F-4D97-AF65-F5344CB8AC3E}">
        <p14:creationId xmlns:p14="http://schemas.microsoft.com/office/powerpoint/2010/main" val="60740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00EAF2-56E4-2608-D158-642B79F1FF41}"/>
              </a:ext>
            </a:extLst>
          </p:cNvPr>
          <p:cNvSpPr>
            <a:spLocks noGrp="1"/>
          </p:cNvSpPr>
          <p:nvPr>
            <p:ph type="title"/>
          </p:nvPr>
        </p:nvSpPr>
        <p:spPr>
          <a:xfrm>
            <a:off x="838200" y="72517"/>
            <a:ext cx="10515600" cy="796163"/>
          </a:xfrm>
        </p:spPr>
        <p:txBody>
          <a:bodyPr/>
          <a:lstStyle/>
          <a:p>
            <a:pPr algn="ctr"/>
            <a:r>
              <a:rPr lang="en-US" dirty="0">
                <a:solidFill>
                  <a:srgbClr val="0000CC"/>
                </a:solidFill>
              </a:rPr>
              <a:t>Background/Motivation</a:t>
            </a:r>
          </a:p>
        </p:txBody>
      </p:sp>
      <p:sp>
        <p:nvSpPr>
          <p:cNvPr id="5" name="Content Placeholder 4">
            <a:extLst>
              <a:ext uri="{FF2B5EF4-FFF2-40B4-BE49-F238E27FC236}">
                <a16:creationId xmlns:a16="http://schemas.microsoft.com/office/drawing/2014/main" id="{7E822491-EB9F-1CA7-A2B1-A120E2773148}"/>
              </a:ext>
            </a:extLst>
          </p:cNvPr>
          <p:cNvSpPr>
            <a:spLocks noGrp="1"/>
          </p:cNvSpPr>
          <p:nvPr>
            <p:ph sz="half" idx="1"/>
          </p:nvPr>
        </p:nvSpPr>
        <p:spPr>
          <a:xfrm>
            <a:off x="249382" y="763398"/>
            <a:ext cx="5092061" cy="6094602"/>
          </a:xfrm>
        </p:spPr>
        <p:txBody>
          <a:bodyPr>
            <a:normAutofit/>
          </a:bodyPr>
          <a:lstStyle/>
          <a:p>
            <a:r>
              <a:rPr lang="en-US" dirty="0"/>
              <a:t>UV-C radiation is effective for inactivation airborne (aerosolized) respiratory pathogens</a:t>
            </a:r>
          </a:p>
          <a:p>
            <a:pPr lvl="1"/>
            <a:r>
              <a:rPr lang="en-US" dirty="0"/>
              <a:t>Influenza virus</a:t>
            </a:r>
          </a:p>
          <a:p>
            <a:pPr lvl="1"/>
            <a:r>
              <a:rPr lang="en-US" dirty="0"/>
              <a:t>Rhinovirus</a:t>
            </a:r>
          </a:p>
          <a:p>
            <a:pPr lvl="1"/>
            <a:r>
              <a:rPr lang="en-US" dirty="0"/>
              <a:t>Measles virus</a:t>
            </a:r>
          </a:p>
          <a:p>
            <a:pPr lvl="1"/>
            <a:r>
              <a:rPr lang="en-US" dirty="0"/>
              <a:t>SARS-CoV-2</a:t>
            </a:r>
          </a:p>
          <a:p>
            <a:pPr lvl="1"/>
            <a:r>
              <a:rPr lang="en-US" i="1" dirty="0"/>
              <a:t>M. tuberculosis</a:t>
            </a:r>
          </a:p>
          <a:p>
            <a:pPr lvl="1"/>
            <a:r>
              <a:rPr lang="en-US" dirty="0"/>
              <a:t>RSV</a:t>
            </a:r>
          </a:p>
          <a:p>
            <a:pPr lvl="1"/>
            <a:r>
              <a:rPr lang="en-US" dirty="0"/>
              <a:t>HMPV</a:t>
            </a:r>
          </a:p>
          <a:p>
            <a:pPr lvl="1"/>
            <a:r>
              <a:rPr lang="en-US" dirty="0"/>
              <a:t>Others</a:t>
            </a:r>
          </a:p>
          <a:p>
            <a:r>
              <a:rPr lang="en-US" dirty="0"/>
              <a:t>GUV systems can reduce the risk of respiratory illness transmission</a:t>
            </a:r>
          </a:p>
        </p:txBody>
      </p:sp>
      <p:pic>
        <p:nvPicPr>
          <p:cNvPr id="7" name="Content Placeholder 6" descr="About Influenza | Influenza (Flu) | CDC">
            <a:extLst>
              <a:ext uri="{FF2B5EF4-FFF2-40B4-BE49-F238E27FC236}">
                <a16:creationId xmlns:a16="http://schemas.microsoft.com/office/drawing/2014/main" id="{3F2A2FDC-3918-57F5-51A0-02E7D99A048B}"/>
              </a:ext>
            </a:extLst>
          </p:cNvPr>
          <p:cNvPicPr>
            <a:picLocks noGrp="1" noChangeAspect="1"/>
          </p:cNvPicPr>
          <p:nvPr>
            <p:ph sz="half" idx="2"/>
          </p:nvPr>
        </p:nvPicPr>
        <p:blipFill>
          <a:blip r:embed="rId3"/>
          <a:srcRect l="22941" t="4647" r="25353" b="5015"/>
          <a:stretch>
            <a:fillRect/>
          </a:stretch>
        </p:blipFill>
        <p:spPr>
          <a:xfrm>
            <a:off x="6770744" y="1019971"/>
            <a:ext cx="1761602" cy="1731541"/>
          </a:xfrm>
          <a:prstGeom prst="rect">
            <a:avLst/>
          </a:prstGeom>
        </p:spPr>
      </p:pic>
      <p:sp>
        <p:nvSpPr>
          <p:cNvPr id="8" name="TextBox 7">
            <a:extLst>
              <a:ext uri="{FF2B5EF4-FFF2-40B4-BE49-F238E27FC236}">
                <a16:creationId xmlns:a16="http://schemas.microsoft.com/office/drawing/2014/main" id="{A4045BC6-B3F8-AAF0-F611-4C53D3F22FDB}"/>
              </a:ext>
            </a:extLst>
          </p:cNvPr>
          <p:cNvSpPr txBox="1"/>
          <p:nvPr/>
        </p:nvSpPr>
        <p:spPr>
          <a:xfrm>
            <a:off x="7102131" y="2751512"/>
            <a:ext cx="1098827" cy="646331"/>
          </a:xfrm>
          <a:prstGeom prst="rect">
            <a:avLst/>
          </a:prstGeom>
          <a:noFill/>
        </p:spPr>
        <p:txBody>
          <a:bodyPr wrap="none" rtlCol="0">
            <a:spAutoFit/>
          </a:bodyPr>
          <a:lstStyle/>
          <a:p>
            <a:pPr algn="ctr"/>
            <a:r>
              <a:rPr lang="en-US" dirty="0"/>
              <a:t>Influenza</a:t>
            </a:r>
          </a:p>
          <a:p>
            <a:pPr algn="ctr"/>
            <a:r>
              <a:rPr lang="en-US" dirty="0"/>
              <a:t>Virus</a:t>
            </a:r>
          </a:p>
        </p:txBody>
      </p:sp>
      <p:grpSp>
        <p:nvGrpSpPr>
          <p:cNvPr id="27" name="Group 26">
            <a:extLst>
              <a:ext uri="{FF2B5EF4-FFF2-40B4-BE49-F238E27FC236}">
                <a16:creationId xmlns:a16="http://schemas.microsoft.com/office/drawing/2014/main" id="{4A1360EB-040D-F1D5-72D5-D74A093A044B}"/>
              </a:ext>
            </a:extLst>
          </p:cNvPr>
          <p:cNvGrpSpPr/>
          <p:nvPr/>
        </p:nvGrpSpPr>
        <p:grpSpPr>
          <a:xfrm>
            <a:off x="8608658" y="1032856"/>
            <a:ext cx="1776448" cy="2298388"/>
            <a:chOff x="8331828" y="1032856"/>
            <a:chExt cx="1776448" cy="2298388"/>
          </a:xfrm>
        </p:grpSpPr>
        <p:pic>
          <p:nvPicPr>
            <p:cNvPr id="9" name="Picture 8" descr="Understanding a Common Cold Virus | National Institutes of Health (NIH)">
              <a:extLst>
                <a:ext uri="{FF2B5EF4-FFF2-40B4-BE49-F238E27FC236}">
                  <a16:creationId xmlns:a16="http://schemas.microsoft.com/office/drawing/2014/main" id="{30D23909-7FD3-AFC6-FA31-F6B923A3B4A8}"/>
                </a:ext>
              </a:extLst>
            </p:cNvPr>
            <p:cNvPicPr>
              <a:picLocks noChangeAspect="1"/>
            </p:cNvPicPr>
            <p:nvPr/>
          </p:nvPicPr>
          <p:blipFill>
            <a:blip r:embed="rId4"/>
            <a:srcRect l="26184" t="16155" r="26743" b="19221"/>
            <a:stretch>
              <a:fillRect/>
            </a:stretch>
          </p:blipFill>
          <p:spPr>
            <a:xfrm>
              <a:off x="8360521" y="1032856"/>
              <a:ext cx="1747755" cy="1654953"/>
            </a:xfrm>
            <a:prstGeom prst="rect">
              <a:avLst/>
            </a:prstGeom>
          </p:spPr>
        </p:pic>
        <p:sp>
          <p:nvSpPr>
            <p:cNvPr id="10" name="TextBox 9">
              <a:extLst>
                <a:ext uri="{FF2B5EF4-FFF2-40B4-BE49-F238E27FC236}">
                  <a16:creationId xmlns:a16="http://schemas.microsoft.com/office/drawing/2014/main" id="{665B14EB-FB09-2C86-414D-F93DDBD8FB2A}"/>
                </a:ext>
              </a:extLst>
            </p:cNvPr>
            <p:cNvSpPr txBox="1"/>
            <p:nvPr/>
          </p:nvSpPr>
          <p:spPr>
            <a:xfrm>
              <a:off x="8331828" y="2684913"/>
              <a:ext cx="1776448" cy="646331"/>
            </a:xfrm>
            <a:prstGeom prst="rect">
              <a:avLst/>
            </a:prstGeom>
            <a:noFill/>
          </p:spPr>
          <p:txBody>
            <a:bodyPr wrap="none" rtlCol="0">
              <a:spAutoFit/>
            </a:bodyPr>
            <a:lstStyle/>
            <a:p>
              <a:pPr algn="ctr"/>
              <a:r>
                <a:rPr lang="en-US" dirty="0"/>
                <a:t>Rhinovirus</a:t>
              </a:r>
            </a:p>
            <a:p>
              <a:pPr algn="ctr"/>
              <a:r>
                <a:rPr lang="en-US" dirty="0"/>
                <a:t>(Common Cold)</a:t>
              </a:r>
            </a:p>
          </p:txBody>
        </p:sp>
      </p:grpSp>
      <p:grpSp>
        <p:nvGrpSpPr>
          <p:cNvPr id="26" name="Group 25">
            <a:extLst>
              <a:ext uri="{FF2B5EF4-FFF2-40B4-BE49-F238E27FC236}">
                <a16:creationId xmlns:a16="http://schemas.microsoft.com/office/drawing/2014/main" id="{4A22C85A-10E1-C949-74DF-F817886AEEBA}"/>
              </a:ext>
            </a:extLst>
          </p:cNvPr>
          <p:cNvGrpSpPr/>
          <p:nvPr/>
        </p:nvGrpSpPr>
        <p:grpSpPr>
          <a:xfrm>
            <a:off x="10478444" y="1032856"/>
            <a:ext cx="1649197" cy="2301284"/>
            <a:chOff x="10394558" y="1032856"/>
            <a:chExt cx="1649197" cy="2301284"/>
          </a:xfrm>
        </p:grpSpPr>
        <p:pic>
          <p:nvPicPr>
            <p:cNvPr id="11" name="Picture 10">
              <a:extLst>
                <a:ext uri="{FF2B5EF4-FFF2-40B4-BE49-F238E27FC236}">
                  <a16:creationId xmlns:a16="http://schemas.microsoft.com/office/drawing/2014/main" id="{75BA1D34-7606-2657-271A-DCCC2C5B76C9}"/>
                </a:ext>
              </a:extLst>
            </p:cNvPr>
            <p:cNvPicPr>
              <a:picLocks noChangeAspect="1"/>
            </p:cNvPicPr>
            <p:nvPr/>
          </p:nvPicPr>
          <p:blipFill>
            <a:blip r:embed="rId5"/>
            <a:srcRect l="13900" t="3957" r="14647" b="4117"/>
            <a:stretch>
              <a:fillRect/>
            </a:stretch>
          </p:blipFill>
          <p:spPr>
            <a:xfrm>
              <a:off x="10394558" y="1032856"/>
              <a:ext cx="1649197" cy="1654953"/>
            </a:xfrm>
            <a:prstGeom prst="rect">
              <a:avLst/>
            </a:prstGeom>
          </p:spPr>
        </p:pic>
        <p:sp>
          <p:nvSpPr>
            <p:cNvPr id="13" name="TextBox 12">
              <a:extLst>
                <a:ext uri="{FF2B5EF4-FFF2-40B4-BE49-F238E27FC236}">
                  <a16:creationId xmlns:a16="http://schemas.microsoft.com/office/drawing/2014/main" id="{2D50EBF4-C8D1-1921-B33E-52EC159D1A9F}"/>
                </a:ext>
              </a:extLst>
            </p:cNvPr>
            <p:cNvSpPr txBox="1"/>
            <p:nvPr/>
          </p:nvSpPr>
          <p:spPr>
            <a:xfrm>
              <a:off x="10700530" y="2687809"/>
              <a:ext cx="1018227" cy="646331"/>
            </a:xfrm>
            <a:prstGeom prst="rect">
              <a:avLst/>
            </a:prstGeom>
            <a:noFill/>
          </p:spPr>
          <p:txBody>
            <a:bodyPr wrap="none" rtlCol="0">
              <a:spAutoFit/>
            </a:bodyPr>
            <a:lstStyle/>
            <a:p>
              <a:pPr algn="ctr"/>
              <a:r>
                <a:rPr lang="en-US" dirty="0"/>
                <a:t>Measles</a:t>
              </a:r>
            </a:p>
            <a:p>
              <a:pPr algn="ctr"/>
              <a:r>
                <a:rPr lang="en-US" dirty="0"/>
                <a:t>Virus</a:t>
              </a:r>
            </a:p>
          </p:txBody>
        </p:sp>
      </p:grpSp>
      <p:grpSp>
        <p:nvGrpSpPr>
          <p:cNvPr id="24" name="Group 23">
            <a:extLst>
              <a:ext uri="{FF2B5EF4-FFF2-40B4-BE49-F238E27FC236}">
                <a16:creationId xmlns:a16="http://schemas.microsoft.com/office/drawing/2014/main" id="{86A38BC4-EFFB-A18D-1996-77DE13116067}"/>
              </a:ext>
            </a:extLst>
          </p:cNvPr>
          <p:cNvGrpSpPr/>
          <p:nvPr/>
        </p:nvGrpSpPr>
        <p:grpSpPr>
          <a:xfrm>
            <a:off x="8034696" y="3709970"/>
            <a:ext cx="1825810" cy="2198132"/>
            <a:chOff x="7158057" y="3709970"/>
            <a:chExt cx="1825810" cy="2198132"/>
          </a:xfrm>
        </p:grpSpPr>
        <p:pic>
          <p:nvPicPr>
            <p:cNvPr id="16" name="Picture 15" descr="C.D.C. Confirms First Possible Community Transmission of Coronavirus in  U.S. - The New York Times">
              <a:extLst>
                <a:ext uri="{FF2B5EF4-FFF2-40B4-BE49-F238E27FC236}">
                  <a16:creationId xmlns:a16="http://schemas.microsoft.com/office/drawing/2014/main" id="{5F000BF9-DBDF-5961-9A75-2481700A740F}"/>
                </a:ext>
              </a:extLst>
            </p:cNvPr>
            <p:cNvPicPr>
              <a:picLocks noChangeAspect="1"/>
            </p:cNvPicPr>
            <p:nvPr/>
          </p:nvPicPr>
          <p:blipFill>
            <a:blip r:embed="rId6"/>
            <a:srcRect l="20933" t="3477" r="19343" b="6835"/>
            <a:stretch>
              <a:fillRect/>
            </a:stretch>
          </p:blipFill>
          <p:spPr>
            <a:xfrm>
              <a:off x="7158057" y="3709970"/>
              <a:ext cx="1825810" cy="1828800"/>
            </a:xfrm>
            <a:prstGeom prst="rect">
              <a:avLst/>
            </a:prstGeom>
          </p:spPr>
        </p:pic>
        <p:sp>
          <p:nvSpPr>
            <p:cNvPr id="18" name="TextBox 17">
              <a:extLst>
                <a:ext uri="{FF2B5EF4-FFF2-40B4-BE49-F238E27FC236}">
                  <a16:creationId xmlns:a16="http://schemas.microsoft.com/office/drawing/2014/main" id="{6113B70C-E4E0-C8DD-3111-C5318EA87A2C}"/>
                </a:ext>
              </a:extLst>
            </p:cNvPr>
            <p:cNvSpPr txBox="1"/>
            <p:nvPr/>
          </p:nvSpPr>
          <p:spPr>
            <a:xfrm>
              <a:off x="7370483" y="5538770"/>
              <a:ext cx="1400961" cy="369332"/>
            </a:xfrm>
            <a:prstGeom prst="rect">
              <a:avLst/>
            </a:prstGeom>
            <a:noFill/>
          </p:spPr>
          <p:txBody>
            <a:bodyPr wrap="none" rtlCol="0">
              <a:spAutoFit/>
            </a:bodyPr>
            <a:lstStyle/>
            <a:p>
              <a:pPr algn="ctr"/>
              <a:r>
                <a:rPr lang="en-US" dirty="0"/>
                <a:t>SARS-CoV-2</a:t>
              </a:r>
            </a:p>
          </p:txBody>
        </p:sp>
      </p:grpSp>
      <p:grpSp>
        <p:nvGrpSpPr>
          <p:cNvPr id="25" name="Group 24">
            <a:extLst>
              <a:ext uri="{FF2B5EF4-FFF2-40B4-BE49-F238E27FC236}">
                <a16:creationId xmlns:a16="http://schemas.microsoft.com/office/drawing/2014/main" id="{B1C61DB7-944C-F0A1-DAFB-FCEC537684FA}"/>
              </a:ext>
            </a:extLst>
          </p:cNvPr>
          <p:cNvGrpSpPr/>
          <p:nvPr/>
        </p:nvGrpSpPr>
        <p:grpSpPr>
          <a:xfrm>
            <a:off x="10064395" y="3768426"/>
            <a:ext cx="2066951" cy="2416675"/>
            <a:chOff x="9607201" y="3768426"/>
            <a:chExt cx="2066951" cy="2416675"/>
          </a:xfrm>
        </p:grpSpPr>
        <p:pic>
          <p:nvPicPr>
            <p:cNvPr id="19" name="Picture 18" descr="Tuberculosis | CDC Yellow Book™">
              <a:extLst>
                <a:ext uri="{FF2B5EF4-FFF2-40B4-BE49-F238E27FC236}">
                  <a16:creationId xmlns:a16="http://schemas.microsoft.com/office/drawing/2014/main" id="{CD3E82D8-FDEC-263A-F08A-3486D769C945}"/>
                </a:ext>
              </a:extLst>
            </p:cNvPr>
            <p:cNvPicPr>
              <a:picLocks noChangeAspect="1"/>
            </p:cNvPicPr>
            <p:nvPr/>
          </p:nvPicPr>
          <p:blipFill>
            <a:blip r:embed="rId7"/>
            <a:stretch>
              <a:fillRect/>
            </a:stretch>
          </p:blipFill>
          <p:spPr>
            <a:xfrm>
              <a:off x="9607201" y="3768426"/>
              <a:ext cx="2066951" cy="1770344"/>
            </a:xfrm>
            <a:prstGeom prst="rect">
              <a:avLst/>
            </a:prstGeom>
          </p:spPr>
        </p:pic>
        <p:sp>
          <p:nvSpPr>
            <p:cNvPr id="21" name="TextBox 20">
              <a:extLst>
                <a:ext uri="{FF2B5EF4-FFF2-40B4-BE49-F238E27FC236}">
                  <a16:creationId xmlns:a16="http://schemas.microsoft.com/office/drawing/2014/main" id="{B55F60C4-46F0-DF92-32B6-435A54081C4D}"/>
                </a:ext>
              </a:extLst>
            </p:cNvPr>
            <p:cNvSpPr txBox="1"/>
            <p:nvPr/>
          </p:nvSpPr>
          <p:spPr>
            <a:xfrm>
              <a:off x="9769575" y="5538770"/>
              <a:ext cx="1742207" cy="646331"/>
            </a:xfrm>
            <a:prstGeom prst="rect">
              <a:avLst/>
            </a:prstGeom>
            <a:noFill/>
          </p:spPr>
          <p:txBody>
            <a:bodyPr wrap="none" rtlCol="0">
              <a:spAutoFit/>
            </a:bodyPr>
            <a:lstStyle/>
            <a:p>
              <a:pPr algn="ctr"/>
              <a:r>
                <a:rPr lang="en-US" i="1" dirty="0"/>
                <a:t>Mycobacterium</a:t>
              </a:r>
            </a:p>
            <a:p>
              <a:pPr algn="ctr"/>
              <a:r>
                <a:rPr lang="en-US" i="1" dirty="0"/>
                <a:t>tuberculosis</a:t>
              </a:r>
            </a:p>
          </p:txBody>
        </p:sp>
      </p:grpSp>
      <p:sp>
        <p:nvSpPr>
          <p:cNvPr id="22" name="TextBox 21">
            <a:extLst>
              <a:ext uri="{FF2B5EF4-FFF2-40B4-BE49-F238E27FC236}">
                <a16:creationId xmlns:a16="http://schemas.microsoft.com/office/drawing/2014/main" id="{219589C1-5C6A-FE3E-B8BF-4E68877BCF92}"/>
              </a:ext>
            </a:extLst>
          </p:cNvPr>
          <p:cNvSpPr txBox="1"/>
          <p:nvPr/>
        </p:nvSpPr>
        <p:spPr>
          <a:xfrm>
            <a:off x="6662500" y="6296221"/>
            <a:ext cx="4967707" cy="646331"/>
          </a:xfrm>
          <a:prstGeom prst="rect">
            <a:avLst/>
          </a:prstGeom>
          <a:noFill/>
        </p:spPr>
        <p:txBody>
          <a:bodyPr wrap="none" rtlCol="0">
            <a:spAutoFit/>
          </a:bodyPr>
          <a:lstStyle/>
          <a:p>
            <a:pPr algn="ctr"/>
            <a:r>
              <a:rPr lang="en-US" dirty="0">
                <a:solidFill>
                  <a:srgbClr val="FF0000"/>
                </a:solidFill>
              </a:rPr>
              <a:t>Images from: CDC, NIH, University of Michigan, </a:t>
            </a:r>
          </a:p>
          <a:p>
            <a:pPr algn="ctr"/>
            <a:r>
              <a:rPr lang="en-US" i="1" dirty="0">
                <a:solidFill>
                  <a:srgbClr val="FF0000"/>
                </a:solidFill>
              </a:rPr>
              <a:t>The Week</a:t>
            </a:r>
            <a:r>
              <a:rPr lang="en-US" dirty="0">
                <a:solidFill>
                  <a:srgbClr val="FF0000"/>
                </a:solidFill>
              </a:rPr>
              <a:t>.  Not to Scale!</a:t>
            </a:r>
          </a:p>
        </p:txBody>
      </p:sp>
      <p:grpSp>
        <p:nvGrpSpPr>
          <p:cNvPr id="23" name="Group 22">
            <a:extLst>
              <a:ext uri="{FF2B5EF4-FFF2-40B4-BE49-F238E27FC236}">
                <a16:creationId xmlns:a16="http://schemas.microsoft.com/office/drawing/2014/main" id="{0565C29C-B6E2-42C0-FC37-8233906374F3}"/>
              </a:ext>
            </a:extLst>
          </p:cNvPr>
          <p:cNvGrpSpPr/>
          <p:nvPr/>
        </p:nvGrpSpPr>
        <p:grpSpPr>
          <a:xfrm>
            <a:off x="4616641" y="1174484"/>
            <a:ext cx="2311658" cy="2205997"/>
            <a:chOff x="4121697" y="1174484"/>
            <a:chExt cx="2311658" cy="2205997"/>
          </a:xfrm>
        </p:grpSpPr>
        <p:pic>
          <p:nvPicPr>
            <p:cNvPr id="2" name="Picture 1" descr="  ">
              <a:extLst>
                <a:ext uri="{FF2B5EF4-FFF2-40B4-BE49-F238E27FC236}">
                  <a16:creationId xmlns:a16="http://schemas.microsoft.com/office/drawing/2014/main" id="{495BA9FB-5546-6606-808A-57C2573E5B0F}"/>
                </a:ext>
              </a:extLst>
            </p:cNvPr>
            <p:cNvPicPr>
              <a:picLocks noChangeAspect="1"/>
            </p:cNvPicPr>
            <p:nvPr/>
          </p:nvPicPr>
          <p:blipFill>
            <a:blip r:embed="rId8"/>
            <a:stretch>
              <a:fillRect/>
            </a:stretch>
          </p:blipFill>
          <p:spPr>
            <a:xfrm>
              <a:off x="4425384" y="1174484"/>
              <a:ext cx="1704284" cy="1581877"/>
            </a:xfrm>
            <a:prstGeom prst="rect">
              <a:avLst/>
            </a:prstGeom>
          </p:spPr>
        </p:pic>
        <p:sp>
          <p:nvSpPr>
            <p:cNvPr id="6" name="TextBox 5">
              <a:extLst>
                <a:ext uri="{FF2B5EF4-FFF2-40B4-BE49-F238E27FC236}">
                  <a16:creationId xmlns:a16="http://schemas.microsoft.com/office/drawing/2014/main" id="{C36717E4-291F-42B3-3226-CDC12606E86B}"/>
                </a:ext>
              </a:extLst>
            </p:cNvPr>
            <p:cNvSpPr txBox="1"/>
            <p:nvPr/>
          </p:nvSpPr>
          <p:spPr>
            <a:xfrm>
              <a:off x="4121697" y="2734150"/>
              <a:ext cx="2311658" cy="646331"/>
            </a:xfrm>
            <a:prstGeom prst="rect">
              <a:avLst/>
            </a:prstGeom>
            <a:noFill/>
          </p:spPr>
          <p:txBody>
            <a:bodyPr wrap="none" rtlCol="0">
              <a:spAutoFit/>
            </a:bodyPr>
            <a:lstStyle/>
            <a:p>
              <a:pPr algn="ctr"/>
              <a:r>
                <a:rPr lang="en-US" dirty="0"/>
                <a:t>Respiratory Syncytial </a:t>
              </a:r>
            </a:p>
            <a:p>
              <a:pPr algn="ctr"/>
              <a:r>
                <a:rPr lang="en-US" dirty="0"/>
                <a:t>Virus (RSV)</a:t>
              </a:r>
            </a:p>
          </p:txBody>
        </p:sp>
      </p:grpSp>
      <p:grpSp>
        <p:nvGrpSpPr>
          <p:cNvPr id="20" name="Group 19">
            <a:extLst>
              <a:ext uri="{FF2B5EF4-FFF2-40B4-BE49-F238E27FC236}">
                <a16:creationId xmlns:a16="http://schemas.microsoft.com/office/drawing/2014/main" id="{344C32DB-C5A7-256E-0CBB-29B95E4A55E1}"/>
              </a:ext>
            </a:extLst>
          </p:cNvPr>
          <p:cNvGrpSpPr/>
          <p:nvPr/>
        </p:nvGrpSpPr>
        <p:grpSpPr>
          <a:xfrm>
            <a:off x="5881969" y="3810699"/>
            <a:ext cx="1991314" cy="2503059"/>
            <a:chOff x="4892075" y="3810699"/>
            <a:chExt cx="1991314" cy="2503059"/>
          </a:xfrm>
        </p:grpSpPr>
        <p:pic>
          <p:nvPicPr>
            <p:cNvPr id="14" name="Picture 13">
              <a:extLst>
                <a:ext uri="{FF2B5EF4-FFF2-40B4-BE49-F238E27FC236}">
                  <a16:creationId xmlns:a16="http://schemas.microsoft.com/office/drawing/2014/main" id="{FAF1A61F-9977-E043-A2CC-C7FEB2ABD66E}"/>
                </a:ext>
              </a:extLst>
            </p:cNvPr>
            <p:cNvPicPr>
              <a:picLocks noChangeAspect="1"/>
            </p:cNvPicPr>
            <p:nvPr/>
          </p:nvPicPr>
          <p:blipFill>
            <a:blip r:embed="rId9"/>
            <a:srcRect l="9558" t="10440" r="10825" b="4999"/>
            <a:stretch>
              <a:fillRect/>
            </a:stretch>
          </p:blipFill>
          <p:spPr>
            <a:xfrm>
              <a:off x="5033944" y="3810699"/>
              <a:ext cx="1707576" cy="1640173"/>
            </a:xfrm>
            <a:prstGeom prst="rect">
              <a:avLst/>
            </a:prstGeom>
          </p:spPr>
        </p:pic>
        <p:sp>
          <p:nvSpPr>
            <p:cNvPr id="17" name="TextBox 16">
              <a:extLst>
                <a:ext uri="{FF2B5EF4-FFF2-40B4-BE49-F238E27FC236}">
                  <a16:creationId xmlns:a16="http://schemas.microsoft.com/office/drawing/2014/main" id="{3077F9AB-9048-090A-8FD6-0048C42AE167}"/>
                </a:ext>
              </a:extLst>
            </p:cNvPr>
            <p:cNvSpPr txBox="1"/>
            <p:nvPr/>
          </p:nvSpPr>
          <p:spPr>
            <a:xfrm>
              <a:off x="4892075" y="5390428"/>
              <a:ext cx="1991314" cy="923330"/>
            </a:xfrm>
            <a:prstGeom prst="rect">
              <a:avLst/>
            </a:prstGeom>
            <a:noFill/>
          </p:spPr>
          <p:txBody>
            <a:bodyPr wrap="none" rtlCol="0">
              <a:spAutoFit/>
            </a:bodyPr>
            <a:lstStyle/>
            <a:p>
              <a:pPr algn="ctr"/>
              <a:r>
                <a:rPr lang="en-US" dirty="0"/>
                <a:t>Human</a:t>
              </a:r>
            </a:p>
            <a:p>
              <a:pPr algn="ctr"/>
              <a:r>
                <a:rPr lang="en-US" dirty="0"/>
                <a:t>Metapneumovirus</a:t>
              </a:r>
            </a:p>
            <a:p>
              <a:pPr algn="ctr"/>
              <a:r>
                <a:rPr lang="en-US" dirty="0"/>
                <a:t>Virus (HMPV)</a:t>
              </a:r>
            </a:p>
          </p:txBody>
        </p:sp>
      </p:grpSp>
      <p:sp>
        <p:nvSpPr>
          <p:cNvPr id="28" name="Slide Number Placeholder 27">
            <a:extLst>
              <a:ext uri="{FF2B5EF4-FFF2-40B4-BE49-F238E27FC236}">
                <a16:creationId xmlns:a16="http://schemas.microsoft.com/office/drawing/2014/main" id="{A12E002C-2A7D-5731-DD7B-8FA21CD376D8}"/>
              </a:ext>
            </a:extLst>
          </p:cNvPr>
          <p:cNvSpPr>
            <a:spLocks noGrp="1"/>
          </p:cNvSpPr>
          <p:nvPr>
            <p:ph type="sldNum" sz="quarter" idx="12"/>
          </p:nvPr>
        </p:nvSpPr>
        <p:spPr/>
        <p:txBody>
          <a:bodyPr/>
          <a:lstStyle/>
          <a:p>
            <a:fld id="{DA9AF7B9-8BBF-4957-8393-213600C515C9}" type="slidenum">
              <a:rPr lang="en-US" smtClean="0"/>
              <a:t>2</a:t>
            </a:fld>
            <a:endParaRPr lang="en-US"/>
          </a:p>
        </p:txBody>
      </p:sp>
    </p:spTree>
    <p:extLst>
      <p:ext uri="{BB962C8B-B14F-4D97-AF65-F5344CB8AC3E}">
        <p14:creationId xmlns:p14="http://schemas.microsoft.com/office/powerpoint/2010/main" val="4254911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DFB08-6CB8-5AA0-E9D5-4D725F2CF913}"/>
              </a:ext>
            </a:extLst>
          </p:cNvPr>
          <p:cNvSpPr>
            <a:spLocks noGrp="1"/>
          </p:cNvSpPr>
          <p:nvPr>
            <p:ph type="title"/>
          </p:nvPr>
        </p:nvSpPr>
        <p:spPr>
          <a:xfrm>
            <a:off x="838200" y="61335"/>
            <a:ext cx="10515600" cy="939973"/>
          </a:xfrm>
        </p:spPr>
        <p:txBody>
          <a:bodyPr/>
          <a:lstStyle/>
          <a:p>
            <a:pPr algn="ctr"/>
            <a:r>
              <a:rPr lang="en-US" dirty="0">
                <a:solidFill>
                  <a:srgbClr val="0000CC"/>
                </a:solidFill>
              </a:rPr>
              <a:t>Room as a Reactor</a:t>
            </a:r>
          </a:p>
        </p:txBody>
      </p:sp>
      <p:sp>
        <p:nvSpPr>
          <p:cNvPr id="3" name="Content Placeholder 2">
            <a:extLst>
              <a:ext uri="{FF2B5EF4-FFF2-40B4-BE49-F238E27FC236}">
                <a16:creationId xmlns:a16="http://schemas.microsoft.com/office/drawing/2014/main" id="{D29365B7-CDA6-F3E7-5366-08CBA51951C8}"/>
              </a:ext>
            </a:extLst>
          </p:cNvPr>
          <p:cNvSpPr>
            <a:spLocks noGrp="1"/>
          </p:cNvSpPr>
          <p:nvPr>
            <p:ph sz="half" idx="1"/>
          </p:nvPr>
        </p:nvSpPr>
        <p:spPr>
          <a:xfrm>
            <a:off x="304801" y="1001308"/>
            <a:ext cx="5715000" cy="5490931"/>
          </a:xfrm>
        </p:spPr>
        <p:txBody>
          <a:bodyPr/>
          <a:lstStyle/>
          <a:p>
            <a:r>
              <a:rPr lang="en-US" dirty="0"/>
              <a:t>Process performance dictated by:</a:t>
            </a:r>
          </a:p>
          <a:p>
            <a:pPr lvl="1"/>
            <a:r>
              <a:rPr lang="en-US" dirty="0"/>
              <a:t>Dose (fluence) distribution</a:t>
            </a:r>
          </a:p>
          <a:p>
            <a:pPr lvl="2"/>
            <a:r>
              <a:rPr lang="en-US" dirty="0"/>
              <a:t>Fluence rate field</a:t>
            </a:r>
          </a:p>
          <a:p>
            <a:pPr lvl="2"/>
            <a:r>
              <a:rPr lang="en-US" dirty="0"/>
              <a:t>Fluid mechanics</a:t>
            </a:r>
          </a:p>
          <a:p>
            <a:pPr lvl="1"/>
            <a:r>
              <a:rPr lang="en-US" dirty="0"/>
              <a:t>Kinetics of inactivation</a:t>
            </a:r>
            <a:r>
              <a:rPr lang="en-US" dirty="0">
                <a:solidFill>
                  <a:srgbClr val="FF0000"/>
                </a:solidFill>
              </a:rPr>
              <a:t>(***)</a:t>
            </a:r>
            <a:r>
              <a:rPr lang="en-US" dirty="0"/>
              <a:t> (fluence/response behavior)</a:t>
            </a:r>
          </a:p>
          <a:p>
            <a:r>
              <a:rPr lang="en-US" dirty="0"/>
              <a:t>These attributes are not well-defined for most germicidal UV (GUV) applications</a:t>
            </a:r>
          </a:p>
          <a:p>
            <a:r>
              <a:rPr lang="en-US" dirty="0"/>
              <a:t>Knowledge of these attributes will be key to development of risk-based design approaches</a:t>
            </a:r>
          </a:p>
          <a:p>
            <a:endParaRPr lang="en-US" dirty="0"/>
          </a:p>
        </p:txBody>
      </p:sp>
      <p:grpSp>
        <p:nvGrpSpPr>
          <p:cNvPr id="5" name="Group 4">
            <a:extLst>
              <a:ext uri="{FF2B5EF4-FFF2-40B4-BE49-F238E27FC236}">
                <a16:creationId xmlns:a16="http://schemas.microsoft.com/office/drawing/2014/main" id="{DA0D8EC5-78C0-81B1-F316-E754D0E4B8DA}"/>
              </a:ext>
            </a:extLst>
          </p:cNvPr>
          <p:cNvGrpSpPr/>
          <p:nvPr/>
        </p:nvGrpSpPr>
        <p:grpSpPr>
          <a:xfrm>
            <a:off x="6627708" y="988957"/>
            <a:ext cx="4861560" cy="4880086"/>
            <a:chOff x="1444255" y="1500963"/>
            <a:chExt cx="3784969" cy="3886200"/>
          </a:xfrm>
        </p:grpSpPr>
        <p:sp>
          <p:nvSpPr>
            <p:cNvPr id="6" name="Up Arrow 3">
              <a:extLst>
                <a:ext uri="{FF2B5EF4-FFF2-40B4-BE49-F238E27FC236}">
                  <a16:creationId xmlns:a16="http://schemas.microsoft.com/office/drawing/2014/main" id="{D44356BF-383F-36E5-2E77-17B1EA79C63D}"/>
                </a:ext>
              </a:extLst>
            </p:cNvPr>
            <p:cNvSpPr/>
            <p:nvPr/>
          </p:nvSpPr>
          <p:spPr>
            <a:xfrm>
              <a:off x="2053856" y="20343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p Arrow 4">
              <a:extLst>
                <a:ext uri="{FF2B5EF4-FFF2-40B4-BE49-F238E27FC236}">
                  <a16:creationId xmlns:a16="http://schemas.microsoft.com/office/drawing/2014/main" id="{BAE56D2F-F932-4F67-83B9-6B6D34C74B4A}"/>
                </a:ext>
              </a:extLst>
            </p:cNvPr>
            <p:cNvSpPr/>
            <p:nvPr/>
          </p:nvSpPr>
          <p:spPr>
            <a:xfrm>
              <a:off x="4092206" y="20343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Up Arrow 5">
              <a:extLst>
                <a:ext uri="{FF2B5EF4-FFF2-40B4-BE49-F238E27FC236}">
                  <a16:creationId xmlns:a16="http://schemas.microsoft.com/office/drawing/2014/main" id="{83EBF2C7-CF98-2D0E-F015-1F0745B61506}"/>
                </a:ext>
              </a:extLst>
            </p:cNvPr>
            <p:cNvSpPr/>
            <p:nvPr/>
          </p:nvSpPr>
          <p:spPr>
            <a:xfrm>
              <a:off x="2882531" y="2034363"/>
              <a:ext cx="161925" cy="11430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 Arrow 6">
              <a:extLst>
                <a:ext uri="{FF2B5EF4-FFF2-40B4-BE49-F238E27FC236}">
                  <a16:creationId xmlns:a16="http://schemas.microsoft.com/office/drawing/2014/main" id="{CB08451F-9F24-1779-C826-B6F239450D6C}"/>
                </a:ext>
              </a:extLst>
            </p:cNvPr>
            <p:cNvSpPr/>
            <p:nvPr/>
          </p:nvSpPr>
          <p:spPr>
            <a:xfrm>
              <a:off x="4644656" y="28725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Up Arrow 7">
              <a:extLst>
                <a:ext uri="{FF2B5EF4-FFF2-40B4-BE49-F238E27FC236}">
                  <a16:creationId xmlns:a16="http://schemas.microsoft.com/office/drawing/2014/main" id="{6561E3B3-236D-026A-D4CE-9687C65D67BC}"/>
                </a:ext>
              </a:extLst>
            </p:cNvPr>
            <p:cNvSpPr/>
            <p:nvPr/>
          </p:nvSpPr>
          <p:spPr>
            <a:xfrm>
              <a:off x="3596906" y="28725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Up Arrow 8">
              <a:extLst>
                <a:ext uri="{FF2B5EF4-FFF2-40B4-BE49-F238E27FC236}">
                  <a16:creationId xmlns:a16="http://schemas.microsoft.com/office/drawing/2014/main" id="{9B730CE9-BBC5-4373-4B0F-589D757AD580}"/>
                </a:ext>
              </a:extLst>
            </p:cNvPr>
            <p:cNvSpPr/>
            <p:nvPr/>
          </p:nvSpPr>
          <p:spPr>
            <a:xfrm>
              <a:off x="3596906" y="37107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Up Arrow 9">
              <a:extLst>
                <a:ext uri="{FF2B5EF4-FFF2-40B4-BE49-F238E27FC236}">
                  <a16:creationId xmlns:a16="http://schemas.microsoft.com/office/drawing/2014/main" id="{8A86FEE1-BF14-172B-4D73-F9EBB2936F2B}"/>
                </a:ext>
              </a:extLst>
            </p:cNvPr>
            <p:cNvSpPr/>
            <p:nvPr/>
          </p:nvSpPr>
          <p:spPr>
            <a:xfrm>
              <a:off x="4644656" y="37107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Up Arrow 10">
              <a:extLst>
                <a:ext uri="{FF2B5EF4-FFF2-40B4-BE49-F238E27FC236}">
                  <a16:creationId xmlns:a16="http://schemas.microsoft.com/office/drawing/2014/main" id="{70F3C7E5-DF76-9C79-715E-96A821276F00}"/>
                </a:ext>
              </a:extLst>
            </p:cNvPr>
            <p:cNvSpPr/>
            <p:nvPr/>
          </p:nvSpPr>
          <p:spPr>
            <a:xfrm>
              <a:off x="3044456" y="45489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Up Arrow 11">
              <a:extLst>
                <a:ext uri="{FF2B5EF4-FFF2-40B4-BE49-F238E27FC236}">
                  <a16:creationId xmlns:a16="http://schemas.microsoft.com/office/drawing/2014/main" id="{A8D23BA2-E4D0-A7DA-1051-96BFD977E1D3}"/>
                </a:ext>
              </a:extLst>
            </p:cNvPr>
            <p:cNvSpPr/>
            <p:nvPr/>
          </p:nvSpPr>
          <p:spPr>
            <a:xfrm>
              <a:off x="3787406" y="45489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2">
              <a:extLst>
                <a:ext uri="{FF2B5EF4-FFF2-40B4-BE49-F238E27FC236}">
                  <a16:creationId xmlns:a16="http://schemas.microsoft.com/office/drawing/2014/main" id="{EB1467F1-9A13-42C1-508E-C32F1AA61E02}"/>
                </a:ext>
              </a:extLst>
            </p:cNvPr>
            <p:cNvSpPr/>
            <p:nvPr/>
          </p:nvSpPr>
          <p:spPr>
            <a:xfrm>
              <a:off x="4625606" y="4548963"/>
              <a:ext cx="171450" cy="304800"/>
            </a:xfrm>
            <a:prstGeom prst="up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3">
              <a:extLst>
                <a:ext uri="{FF2B5EF4-FFF2-40B4-BE49-F238E27FC236}">
                  <a16:creationId xmlns:a16="http://schemas.microsoft.com/office/drawing/2014/main" id="{FA25415E-D326-6762-C0B1-9D7826D74F86}"/>
                </a:ext>
              </a:extLst>
            </p:cNvPr>
            <p:cNvSpPr/>
            <p:nvPr/>
          </p:nvSpPr>
          <p:spPr>
            <a:xfrm>
              <a:off x="1444255" y="1500963"/>
              <a:ext cx="3784969" cy="533400"/>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Reactor Performance:</a:t>
              </a:r>
            </a:p>
            <a:p>
              <a:pPr algn="ctr"/>
              <a:r>
                <a:rPr lang="en-US" sz="1400" dirty="0">
                  <a:latin typeface="Times New Roman" panose="02020603050405020304" pitchFamily="18" charset="0"/>
                  <a:cs typeface="Times New Roman" panose="02020603050405020304" pitchFamily="18" charset="0"/>
                </a:rPr>
                <a:t>Target Concentration in Treated Medium, C</a:t>
              </a:r>
            </a:p>
          </p:txBody>
        </p:sp>
        <p:sp>
          <p:nvSpPr>
            <p:cNvPr id="17" name="Rounded Rectangle 14">
              <a:extLst>
                <a:ext uri="{FF2B5EF4-FFF2-40B4-BE49-F238E27FC236}">
                  <a16:creationId xmlns:a16="http://schemas.microsoft.com/office/drawing/2014/main" id="{5CFF2FC5-EB6E-E8BB-AF88-8579B456BB37}"/>
                </a:ext>
              </a:extLst>
            </p:cNvPr>
            <p:cNvSpPr/>
            <p:nvPr/>
          </p:nvSpPr>
          <p:spPr>
            <a:xfrm>
              <a:off x="1444256" y="2339163"/>
              <a:ext cx="1371600" cy="552893"/>
            </a:xfrm>
            <a:prstGeom prst="roundRect">
              <a:avLst/>
            </a:prstGeom>
            <a:solidFill>
              <a:srgbClr val="00CC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Intrinsic Kinetics</a:t>
              </a:r>
            </a:p>
          </p:txBody>
        </p:sp>
        <p:sp>
          <p:nvSpPr>
            <p:cNvPr id="18" name="Rounded Rectangle 15">
              <a:extLst>
                <a:ext uri="{FF2B5EF4-FFF2-40B4-BE49-F238E27FC236}">
                  <a16:creationId xmlns:a16="http://schemas.microsoft.com/office/drawing/2014/main" id="{243166A4-2F61-6920-0CE2-A26B9373FAF0}"/>
                </a:ext>
              </a:extLst>
            </p:cNvPr>
            <p:cNvSpPr/>
            <p:nvPr/>
          </p:nvSpPr>
          <p:spPr>
            <a:xfrm>
              <a:off x="1444256" y="3177363"/>
              <a:ext cx="1714500" cy="533400"/>
            </a:xfrm>
            <a:prstGeom prst="roundRect">
              <a:avLst/>
            </a:prstGeom>
            <a:solidFill>
              <a:srgbClr val="00CC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Influent Target</a:t>
              </a:r>
            </a:p>
            <a:p>
              <a:pPr algn="ctr"/>
              <a:r>
                <a:rPr lang="en-US" sz="1400" dirty="0">
                  <a:solidFill>
                    <a:schemeClr val="tx1"/>
                  </a:solidFill>
                  <a:latin typeface="Times New Roman" panose="02020603050405020304" pitchFamily="18" charset="0"/>
                  <a:cs typeface="Times New Roman" panose="02020603050405020304" pitchFamily="18" charset="0"/>
                </a:rPr>
                <a:t>Concentration, C</a:t>
              </a:r>
              <a:r>
                <a:rPr lang="en-US" sz="1400" baseline="-25000" dirty="0">
                  <a:solidFill>
                    <a:schemeClr val="tx1"/>
                  </a:solidFill>
                  <a:latin typeface="Times New Roman" panose="02020603050405020304" pitchFamily="18" charset="0"/>
                  <a:cs typeface="Times New Roman" panose="02020603050405020304" pitchFamily="18" charset="0"/>
                </a:rPr>
                <a:t>0</a:t>
              </a:r>
            </a:p>
          </p:txBody>
        </p:sp>
        <p:sp>
          <p:nvSpPr>
            <p:cNvPr id="19" name="Rounded Rectangle 16">
              <a:extLst>
                <a:ext uri="{FF2B5EF4-FFF2-40B4-BE49-F238E27FC236}">
                  <a16:creationId xmlns:a16="http://schemas.microsoft.com/office/drawing/2014/main" id="{4546779C-D77A-4CD8-8B96-824F5F54074D}"/>
                </a:ext>
              </a:extLst>
            </p:cNvPr>
            <p:cNvSpPr/>
            <p:nvPr/>
          </p:nvSpPr>
          <p:spPr>
            <a:xfrm>
              <a:off x="3196856" y="2353340"/>
              <a:ext cx="2032368" cy="538716"/>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UV Dose (Fluence)</a:t>
              </a:r>
            </a:p>
            <a:p>
              <a:pPr algn="ctr"/>
              <a:r>
                <a:rPr lang="en-US" sz="1400" dirty="0">
                  <a:latin typeface="Times New Roman" panose="02020603050405020304" pitchFamily="18" charset="0"/>
                  <a:cs typeface="Times New Roman" panose="02020603050405020304" pitchFamily="18" charset="0"/>
                </a:rPr>
                <a:t>Distribution</a:t>
              </a:r>
            </a:p>
          </p:txBody>
        </p:sp>
        <p:sp>
          <p:nvSpPr>
            <p:cNvPr id="20" name="Rounded Rectangle 17">
              <a:extLst>
                <a:ext uri="{FF2B5EF4-FFF2-40B4-BE49-F238E27FC236}">
                  <a16:creationId xmlns:a16="http://schemas.microsoft.com/office/drawing/2014/main" id="{8CB849E1-77E1-0FFA-ADB1-7015BC4B5D43}"/>
                </a:ext>
              </a:extLst>
            </p:cNvPr>
            <p:cNvSpPr/>
            <p:nvPr/>
          </p:nvSpPr>
          <p:spPr>
            <a:xfrm>
              <a:off x="3196856" y="3172047"/>
              <a:ext cx="895350" cy="538716"/>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Flow</a:t>
              </a:r>
            </a:p>
            <a:p>
              <a:pPr algn="ctr"/>
              <a:r>
                <a:rPr lang="en-US" sz="1400" dirty="0">
                  <a:latin typeface="Times New Roman" panose="02020603050405020304" pitchFamily="18" charset="0"/>
                  <a:cs typeface="Times New Roman" panose="02020603050405020304" pitchFamily="18" charset="0"/>
                </a:rPr>
                <a:t>Field</a:t>
              </a:r>
            </a:p>
          </p:txBody>
        </p:sp>
        <p:sp>
          <p:nvSpPr>
            <p:cNvPr id="21" name="Rounded Rectangle 18">
              <a:extLst>
                <a:ext uri="{FF2B5EF4-FFF2-40B4-BE49-F238E27FC236}">
                  <a16:creationId xmlns:a16="http://schemas.microsoft.com/office/drawing/2014/main" id="{89FBDAF5-5F2D-F28A-F3C6-0677708BD640}"/>
                </a:ext>
              </a:extLst>
            </p:cNvPr>
            <p:cNvSpPr/>
            <p:nvPr/>
          </p:nvSpPr>
          <p:spPr>
            <a:xfrm>
              <a:off x="4206506" y="3172047"/>
              <a:ext cx="1022718" cy="538716"/>
            </a:xfrm>
            <a:prstGeom prst="roundRect">
              <a:avLst/>
            </a:prstGeom>
            <a:solidFill>
              <a:srgbClr val="FFFF00"/>
            </a:solidFill>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Fluence Rate Field</a:t>
              </a:r>
            </a:p>
          </p:txBody>
        </p:sp>
        <p:sp>
          <p:nvSpPr>
            <p:cNvPr id="22" name="Rounded Rectangle 19">
              <a:extLst>
                <a:ext uri="{FF2B5EF4-FFF2-40B4-BE49-F238E27FC236}">
                  <a16:creationId xmlns:a16="http://schemas.microsoft.com/office/drawing/2014/main" id="{A5F090E0-5499-D12E-AABC-A7C0A7EA700C}"/>
                </a:ext>
              </a:extLst>
            </p:cNvPr>
            <p:cNvSpPr/>
            <p:nvPr/>
          </p:nvSpPr>
          <p:spPr>
            <a:xfrm>
              <a:off x="2968256" y="4015563"/>
              <a:ext cx="2133600" cy="533400"/>
            </a:xfrm>
            <a:prstGeom prst="roundRect">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Reactor Geometry/</a:t>
              </a:r>
            </a:p>
            <a:p>
              <a:pPr algn="ctr"/>
              <a:r>
                <a:rPr lang="en-US" sz="1400" dirty="0">
                  <a:solidFill>
                    <a:schemeClr val="tx1"/>
                  </a:solidFill>
                  <a:latin typeface="Times New Roman" panose="02020603050405020304" pitchFamily="18" charset="0"/>
                  <a:cs typeface="Times New Roman" panose="02020603050405020304" pitchFamily="18" charset="0"/>
                </a:rPr>
                <a:t>Configuration</a:t>
              </a:r>
            </a:p>
          </p:txBody>
        </p:sp>
        <p:sp>
          <p:nvSpPr>
            <p:cNvPr id="23" name="Rounded Rectangle 20">
              <a:extLst>
                <a:ext uri="{FF2B5EF4-FFF2-40B4-BE49-F238E27FC236}">
                  <a16:creationId xmlns:a16="http://schemas.microsoft.com/office/drawing/2014/main" id="{F9FDEEFC-4F12-03E8-FC54-00CC1833075C}"/>
                </a:ext>
              </a:extLst>
            </p:cNvPr>
            <p:cNvSpPr/>
            <p:nvPr/>
          </p:nvSpPr>
          <p:spPr>
            <a:xfrm>
              <a:off x="2663456" y="4834270"/>
              <a:ext cx="762000" cy="552893"/>
            </a:xfrm>
            <a:prstGeom prst="roundRect">
              <a:avLst/>
            </a:prstGeom>
            <a:solidFill>
              <a:srgbClr val="00CC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Flow</a:t>
              </a:r>
            </a:p>
            <a:p>
              <a:pPr algn="ctr"/>
              <a:r>
                <a:rPr lang="en-US" sz="1400" dirty="0">
                  <a:solidFill>
                    <a:schemeClr val="tx1"/>
                  </a:solidFill>
                  <a:latin typeface="Times New Roman" panose="02020603050405020304" pitchFamily="18" charset="0"/>
                  <a:cs typeface="Times New Roman" panose="02020603050405020304" pitchFamily="18" charset="0"/>
                </a:rPr>
                <a:t>Rate</a:t>
              </a:r>
            </a:p>
          </p:txBody>
        </p:sp>
        <p:sp>
          <p:nvSpPr>
            <p:cNvPr id="24" name="Rounded Rectangle 21">
              <a:extLst>
                <a:ext uri="{FF2B5EF4-FFF2-40B4-BE49-F238E27FC236}">
                  <a16:creationId xmlns:a16="http://schemas.microsoft.com/office/drawing/2014/main" id="{A4266035-188C-8E8C-3BD0-688DAA0A664D}"/>
                </a:ext>
              </a:extLst>
            </p:cNvPr>
            <p:cNvSpPr/>
            <p:nvPr/>
          </p:nvSpPr>
          <p:spPr>
            <a:xfrm>
              <a:off x="3482606" y="4834270"/>
              <a:ext cx="781050" cy="552893"/>
            </a:xfrm>
            <a:prstGeom prst="roundRect">
              <a:avLst/>
            </a:prstGeom>
            <a:solidFill>
              <a:srgbClr val="00CC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Lamp Power</a:t>
              </a:r>
            </a:p>
          </p:txBody>
        </p:sp>
        <p:sp>
          <p:nvSpPr>
            <p:cNvPr id="25" name="Rounded Rectangle 22">
              <a:extLst>
                <a:ext uri="{FF2B5EF4-FFF2-40B4-BE49-F238E27FC236}">
                  <a16:creationId xmlns:a16="http://schemas.microsoft.com/office/drawing/2014/main" id="{D792D178-F85F-4EC9-7077-42D5B5D6D591}"/>
                </a:ext>
              </a:extLst>
            </p:cNvPr>
            <p:cNvSpPr/>
            <p:nvPr/>
          </p:nvSpPr>
          <p:spPr>
            <a:xfrm>
              <a:off x="4320806" y="4834270"/>
              <a:ext cx="781050" cy="552893"/>
            </a:xfrm>
            <a:prstGeom prst="roundRect">
              <a:avLst/>
            </a:prstGeom>
            <a:solidFill>
              <a:srgbClr val="00CC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UVT</a:t>
              </a:r>
            </a:p>
          </p:txBody>
        </p:sp>
      </p:grpSp>
      <p:sp>
        <p:nvSpPr>
          <p:cNvPr id="26" name="TextBox 25">
            <a:extLst>
              <a:ext uri="{FF2B5EF4-FFF2-40B4-BE49-F238E27FC236}">
                <a16:creationId xmlns:a16="http://schemas.microsoft.com/office/drawing/2014/main" id="{F656F873-4C55-188A-8D6E-D8248BDCC35B}"/>
              </a:ext>
            </a:extLst>
          </p:cNvPr>
          <p:cNvSpPr txBox="1"/>
          <p:nvPr/>
        </p:nvSpPr>
        <p:spPr>
          <a:xfrm>
            <a:off x="6434065" y="5934670"/>
            <a:ext cx="5623559" cy="923330"/>
          </a:xfrm>
          <a:prstGeom prst="rect">
            <a:avLst/>
          </a:prstGeom>
          <a:noFill/>
        </p:spPr>
        <p:txBody>
          <a:bodyPr wrap="square" rtlCol="0">
            <a:spAutoFit/>
          </a:bodyPr>
          <a:lstStyle/>
          <a:p>
            <a:pPr algn="ctr"/>
            <a:r>
              <a:rPr lang="en-US" dirty="0"/>
              <a:t>Image from: Blatchley (2023) </a:t>
            </a:r>
            <a:r>
              <a:rPr lang="en-US" i="1" dirty="0"/>
              <a:t>Photochemical Reactors: Theory, Methods, and Applications of Ultraviolet Radiation</a:t>
            </a:r>
            <a:r>
              <a:rPr lang="en-US" dirty="0"/>
              <a:t>, Wiley, New York.</a:t>
            </a:r>
          </a:p>
        </p:txBody>
      </p:sp>
      <p:sp>
        <p:nvSpPr>
          <p:cNvPr id="4" name="Slide Number Placeholder 3">
            <a:extLst>
              <a:ext uri="{FF2B5EF4-FFF2-40B4-BE49-F238E27FC236}">
                <a16:creationId xmlns:a16="http://schemas.microsoft.com/office/drawing/2014/main" id="{E40C7340-72C7-1C3C-91B9-E58FF6B2CEA6}"/>
              </a:ext>
            </a:extLst>
          </p:cNvPr>
          <p:cNvSpPr>
            <a:spLocks noGrp="1"/>
          </p:cNvSpPr>
          <p:nvPr>
            <p:ph type="sldNum" sz="quarter" idx="12"/>
          </p:nvPr>
        </p:nvSpPr>
        <p:spPr/>
        <p:txBody>
          <a:bodyPr/>
          <a:lstStyle/>
          <a:p>
            <a:fld id="{DA9AF7B9-8BBF-4957-8393-213600C515C9}" type="slidenum">
              <a:rPr lang="en-US" smtClean="0"/>
              <a:t>3</a:t>
            </a:fld>
            <a:endParaRPr lang="en-US"/>
          </a:p>
        </p:txBody>
      </p:sp>
    </p:spTree>
    <p:extLst>
      <p:ext uri="{BB962C8B-B14F-4D97-AF65-F5344CB8AC3E}">
        <p14:creationId xmlns:p14="http://schemas.microsoft.com/office/powerpoint/2010/main" val="280756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734A-B7D6-DA81-3EEA-7CEF2A3F6271}"/>
              </a:ext>
            </a:extLst>
          </p:cNvPr>
          <p:cNvSpPr>
            <a:spLocks noGrp="1"/>
          </p:cNvSpPr>
          <p:nvPr>
            <p:ph type="title"/>
          </p:nvPr>
        </p:nvSpPr>
        <p:spPr>
          <a:xfrm>
            <a:off x="838200" y="60325"/>
            <a:ext cx="10515600" cy="854075"/>
          </a:xfrm>
        </p:spPr>
        <p:txBody>
          <a:bodyPr/>
          <a:lstStyle/>
          <a:p>
            <a:pPr algn="ctr"/>
            <a:r>
              <a:rPr lang="en-US" dirty="0">
                <a:solidFill>
                  <a:srgbClr val="0000CC"/>
                </a:solidFill>
              </a:rPr>
              <a:t>Need for a Standard Method</a:t>
            </a:r>
          </a:p>
        </p:txBody>
      </p:sp>
      <p:sp>
        <p:nvSpPr>
          <p:cNvPr id="3" name="Content Placeholder 2">
            <a:extLst>
              <a:ext uri="{FF2B5EF4-FFF2-40B4-BE49-F238E27FC236}">
                <a16:creationId xmlns:a16="http://schemas.microsoft.com/office/drawing/2014/main" id="{498335AE-BBDE-F08F-E4E9-597B8290F186}"/>
              </a:ext>
            </a:extLst>
          </p:cNvPr>
          <p:cNvSpPr>
            <a:spLocks noGrp="1"/>
          </p:cNvSpPr>
          <p:nvPr>
            <p:ph sz="half" idx="1"/>
          </p:nvPr>
        </p:nvSpPr>
        <p:spPr>
          <a:xfrm>
            <a:off x="84667" y="702733"/>
            <a:ext cx="5935133" cy="6316133"/>
          </a:xfrm>
        </p:spPr>
        <p:txBody>
          <a:bodyPr>
            <a:normAutofit lnSpcReduction="10000"/>
          </a:bodyPr>
          <a:lstStyle/>
          <a:p>
            <a:r>
              <a:rPr lang="en-US" dirty="0"/>
              <a:t>Well-defined device (collimated beam) and method for aqueous liquid suspensions (Bolton and Linden, 2003)</a:t>
            </a:r>
          </a:p>
          <a:p>
            <a:r>
              <a:rPr lang="en-US" dirty="0"/>
              <a:t>Standard for quantification of UV dose/response behavior (kinetics) with aqueous liquid suspensions</a:t>
            </a:r>
          </a:p>
          <a:p>
            <a:r>
              <a:rPr lang="en-US" dirty="0"/>
              <a:t>Database of reliable dose-response behavior (</a:t>
            </a:r>
            <a:r>
              <a:rPr lang="en-US" dirty="0" err="1"/>
              <a:t>Malayeri</a:t>
            </a:r>
            <a:r>
              <a:rPr lang="en-US" dirty="0"/>
              <a:t> </a:t>
            </a:r>
            <a:r>
              <a:rPr lang="en-US" i="1" dirty="0"/>
              <a:t>et al.</a:t>
            </a:r>
            <a:r>
              <a:rPr lang="en-US" dirty="0"/>
              <a:t>, 2016)</a:t>
            </a:r>
          </a:p>
          <a:p>
            <a:r>
              <a:rPr lang="en-US" dirty="0"/>
              <a:t>Analogous apparatus/method does not exist for aerosols</a:t>
            </a:r>
          </a:p>
          <a:p>
            <a:pPr lvl="1"/>
            <a:r>
              <a:rPr lang="en-US" dirty="0"/>
              <a:t>Dose (distribution) quantification</a:t>
            </a:r>
          </a:p>
          <a:p>
            <a:pPr lvl="1"/>
            <a:r>
              <a:rPr lang="en-US" dirty="0"/>
              <a:t>No standard</a:t>
            </a:r>
          </a:p>
          <a:p>
            <a:r>
              <a:rPr lang="en-US" dirty="0"/>
              <a:t>Reports of aerosol-phase inactivation kinetics are highly variable</a:t>
            </a:r>
          </a:p>
        </p:txBody>
      </p:sp>
      <p:pic>
        <p:nvPicPr>
          <p:cNvPr id="6" name="Picture 5">
            <a:extLst>
              <a:ext uri="{FF2B5EF4-FFF2-40B4-BE49-F238E27FC236}">
                <a16:creationId xmlns:a16="http://schemas.microsoft.com/office/drawing/2014/main" id="{57923ED9-9B41-A6CE-AB69-4F507D1036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0259" y="914400"/>
            <a:ext cx="2369608" cy="3159478"/>
          </a:xfrm>
          <a:prstGeom prst="rect">
            <a:avLst/>
          </a:prstGeom>
        </p:spPr>
      </p:pic>
      <p:pic>
        <p:nvPicPr>
          <p:cNvPr id="7" name="Picture 6" descr="PearlLab Beam | UV-C LED Dose Response Tool | AquiSense Inc.">
            <a:extLst>
              <a:ext uri="{FF2B5EF4-FFF2-40B4-BE49-F238E27FC236}">
                <a16:creationId xmlns:a16="http://schemas.microsoft.com/office/drawing/2014/main" id="{ECEC5133-5AAA-8C73-C4A8-232205482A8C}"/>
              </a:ext>
            </a:extLst>
          </p:cNvPr>
          <p:cNvPicPr>
            <a:picLocks noChangeAspect="1"/>
          </p:cNvPicPr>
          <p:nvPr/>
        </p:nvPicPr>
        <p:blipFill>
          <a:blip r:embed="rId3"/>
          <a:stretch>
            <a:fillRect/>
          </a:stretch>
        </p:blipFill>
        <p:spPr>
          <a:xfrm>
            <a:off x="8801101" y="558799"/>
            <a:ext cx="3026833" cy="3026833"/>
          </a:xfrm>
          <a:prstGeom prst="rect">
            <a:avLst/>
          </a:prstGeom>
        </p:spPr>
      </p:pic>
      <p:pic>
        <p:nvPicPr>
          <p:cNvPr id="8" name="Picture 7" descr="Collimated beam apparatus. | Download Scientific Diagram">
            <a:extLst>
              <a:ext uri="{FF2B5EF4-FFF2-40B4-BE49-F238E27FC236}">
                <a16:creationId xmlns:a16="http://schemas.microsoft.com/office/drawing/2014/main" id="{7693E485-88CE-46A2-A537-AD851BA07F09}"/>
              </a:ext>
            </a:extLst>
          </p:cNvPr>
          <p:cNvPicPr>
            <a:picLocks noChangeAspect="1"/>
          </p:cNvPicPr>
          <p:nvPr/>
        </p:nvPicPr>
        <p:blipFill>
          <a:blip r:embed="rId4"/>
          <a:srcRect l="16695" t="7020" r="20763" b="18278"/>
          <a:stretch>
            <a:fillRect/>
          </a:stretch>
        </p:blipFill>
        <p:spPr>
          <a:xfrm>
            <a:off x="9427635" y="3675564"/>
            <a:ext cx="1972733" cy="3122111"/>
          </a:xfrm>
          <a:prstGeom prst="rect">
            <a:avLst/>
          </a:prstGeom>
        </p:spPr>
      </p:pic>
      <p:pic>
        <p:nvPicPr>
          <p:cNvPr id="10" name="Picture 9">
            <a:extLst>
              <a:ext uri="{FF2B5EF4-FFF2-40B4-BE49-F238E27FC236}">
                <a16:creationId xmlns:a16="http://schemas.microsoft.com/office/drawing/2014/main" id="{6F0914C0-771B-B03C-76A4-79B0C14566A4}"/>
              </a:ext>
            </a:extLst>
          </p:cNvPr>
          <p:cNvPicPr>
            <a:picLocks noChangeAspect="1"/>
          </p:cNvPicPr>
          <p:nvPr/>
        </p:nvPicPr>
        <p:blipFill>
          <a:blip r:embed="rId5">
            <a:extLst>
              <a:ext uri="{28A0092B-C50C-407E-A947-70E740481C1C}">
                <a14:useLocalDpi xmlns:a14="http://schemas.microsoft.com/office/drawing/2010/main" val="0"/>
              </a:ext>
            </a:extLst>
          </a:blip>
          <a:srcRect l="1574" t="3894" r="10278" b="22716"/>
          <a:stretch>
            <a:fillRect/>
          </a:stretch>
        </p:blipFill>
        <p:spPr>
          <a:xfrm>
            <a:off x="5795832" y="4572001"/>
            <a:ext cx="3564294" cy="2225674"/>
          </a:xfrm>
          <a:prstGeom prst="rect">
            <a:avLst/>
          </a:prstGeom>
        </p:spPr>
      </p:pic>
      <p:sp>
        <p:nvSpPr>
          <p:cNvPr id="4" name="Slide Number Placeholder 3">
            <a:extLst>
              <a:ext uri="{FF2B5EF4-FFF2-40B4-BE49-F238E27FC236}">
                <a16:creationId xmlns:a16="http://schemas.microsoft.com/office/drawing/2014/main" id="{DFB7C0C1-C183-61F7-630D-4621B7DDA390}"/>
              </a:ext>
            </a:extLst>
          </p:cNvPr>
          <p:cNvSpPr>
            <a:spLocks noGrp="1"/>
          </p:cNvSpPr>
          <p:nvPr>
            <p:ph type="sldNum" sz="quarter" idx="12"/>
          </p:nvPr>
        </p:nvSpPr>
        <p:spPr/>
        <p:txBody>
          <a:bodyPr/>
          <a:lstStyle/>
          <a:p>
            <a:fld id="{DA9AF7B9-8BBF-4957-8393-213600C515C9}" type="slidenum">
              <a:rPr lang="en-US" smtClean="0"/>
              <a:t>4</a:t>
            </a:fld>
            <a:endParaRPr lang="en-US"/>
          </a:p>
        </p:txBody>
      </p:sp>
    </p:spTree>
    <p:extLst>
      <p:ext uri="{BB962C8B-B14F-4D97-AF65-F5344CB8AC3E}">
        <p14:creationId xmlns:p14="http://schemas.microsoft.com/office/powerpoint/2010/main" val="3094160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53B743-8DDB-A9E5-F842-B728B40F70F9}"/>
              </a:ext>
            </a:extLst>
          </p:cNvPr>
          <p:cNvSpPr>
            <a:spLocks noGrp="1"/>
          </p:cNvSpPr>
          <p:nvPr>
            <p:ph type="title"/>
          </p:nvPr>
        </p:nvSpPr>
        <p:spPr/>
        <p:txBody>
          <a:bodyPr/>
          <a:lstStyle/>
          <a:p>
            <a:pPr algn="ctr"/>
            <a:r>
              <a:rPr lang="en-US" dirty="0">
                <a:solidFill>
                  <a:srgbClr val="0000CC"/>
                </a:solidFill>
              </a:rPr>
              <a:t>Project Goals</a:t>
            </a:r>
          </a:p>
        </p:txBody>
      </p:sp>
      <p:sp>
        <p:nvSpPr>
          <p:cNvPr id="6" name="Content Placeholder 5">
            <a:extLst>
              <a:ext uri="{FF2B5EF4-FFF2-40B4-BE49-F238E27FC236}">
                <a16:creationId xmlns:a16="http://schemas.microsoft.com/office/drawing/2014/main" id="{EF16FE15-9A64-813B-F41E-FEE3FF075D3A}"/>
              </a:ext>
            </a:extLst>
          </p:cNvPr>
          <p:cNvSpPr>
            <a:spLocks noGrp="1"/>
          </p:cNvSpPr>
          <p:nvPr>
            <p:ph idx="1"/>
          </p:nvPr>
        </p:nvSpPr>
        <p:spPr/>
        <p:txBody>
          <a:bodyPr/>
          <a:lstStyle/>
          <a:p>
            <a:r>
              <a:rPr lang="en-US" dirty="0"/>
              <a:t>Develop and demonstrate device(s) to deliver accurately quantifiable fluence distribution</a:t>
            </a:r>
          </a:p>
          <a:p>
            <a:r>
              <a:rPr lang="en-US" dirty="0"/>
              <a:t>Develop and demonstrate method(s) to accurately quantify fluence-response behavior (UV inactivation kinetics) of aerosolized challenge agents</a:t>
            </a:r>
          </a:p>
          <a:p>
            <a:pPr lvl="1"/>
            <a:r>
              <a:rPr lang="en-US" dirty="0"/>
              <a:t>Experimental methods</a:t>
            </a:r>
          </a:p>
          <a:p>
            <a:pPr lvl="1"/>
            <a:r>
              <a:rPr lang="en-US" dirty="0"/>
              <a:t>Numerical methods</a:t>
            </a:r>
          </a:p>
          <a:p>
            <a:r>
              <a:rPr lang="en-US" dirty="0"/>
              <a:t>Make reactor(s) and method(s) widely available to be used as a standard</a:t>
            </a:r>
          </a:p>
        </p:txBody>
      </p:sp>
      <p:sp>
        <p:nvSpPr>
          <p:cNvPr id="2" name="Slide Number Placeholder 1">
            <a:extLst>
              <a:ext uri="{FF2B5EF4-FFF2-40B4-BE49-F238E27FC236}">
                <a16:creationId xmlns:a16="http://schemas.microsoft.com/office/drawing/2014/main" id="{3D110736-9529-8B6E-AC49-F95407E0354C}"/>
              </a:ext>
            </a:extLst>
          </p:cNvPr>
          <p:cNvSpPr>
            <a:spLocks noGrp="1"/>
          </p:cNvSpPr>
          <p:nvPr>
            <p:ph type="sldNum" sz="quarter" idx="12"/>
          </p:nvPr>
        </p:nvSpPr>
        <p:spPr/>
        <p:txBody>
          <a:bodyPr/>
          <a:lstStyle/>
          <a:p>
            <a:fld id="{DA9AF7B9-8BBF-4957-8393-213600C515C9}" type="slidenum">
              <a:rPr lang="en-US" smtClean="0"/>
              <a:t>5</a:t>
            </a:fld>
            <a:endParaRPr lang="en-US"/>
          </a:p>
        </p:txBody>
      </p:sp>
    </p:spTree>
    <p:extLst>
      <p:ext uri="{BB962C8B-B14F-4D97-AF65-F5344CB8AC3E}">
        <p14:creationId xmlns:p14="http://schemas.microsoft.com/office/powerpoint/2010/main" val="1744369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1E04F-9B51-1F1E-E713-7F9EC510B68C}"/>
              </a:ext>
            </a:extLst>
          </p:cNvPr>
          <p:cNvSpPr>
            <a:spLocks noGrp="1"/>
          </p:cNvSpPr>
          <p:nvPr>
            <p:ph type="title"/>
          </p:nvPr>
        </p:nvSpPr>
        <p:spPr>
          <a:xfrm>
            <a:off x="0" y="0"/>
            <a:ext cx="12192000" cy="1048624"/>
          </a:xfrm>
        </p:spPr>
        <p:txBody>
          <a:bodyPr>
            <a:normAutofit fontScale="90000"/>
          </a:bodyPr>
          <a:lstStyle/>
          <a:p>
            <a:pPr algn="ctr"/>
            <a:r>
              <a:rPr lang="en-US" dirty="0">
                <a:solidFill>
                  <a:srgbClr val="0000CC"/>
                </a:solidFill>
              </a:rPr>
              <a:t>Original Design Concept: </a:t>
            </a:r>
            <a:br>
              <a:rPr lang="en-US" dirty="0">
                <a:solidFill>
                  <a:srgbClr val="0000CC"/>
                </a:solidFill>
              </a:rPr>
            </a:br>
            <a:r>
              <a:rPr lang="en-US" dirty="0">
                <a:solidFill>
                  <a:srgbClr val="0000CC"/>
                </a:solidFill>
              </a:rPr>
              <a:t>Numerical Simulations (Ray Tracing)</a:t>
            </a:r>
          </a:p>
        </p:txBody>
      </p:sp>
      <p:sp>
        <p:nvSpPr>
          <p:cNvPr id="8" name="Content Placeholder 7">
            <a:extLst>
              <a:ext uri="{FF2B5EF4-FFF2-40B4-BE49-F238E27FC236}">
                <a16:creationId xmlns:a16="http://schemas.microsoft.com/office/drawing/2014/main" id="{CAF1EEC2-3867-B0C2-0B30-46CA1004F906}"/>
              </a:ext>
            </a:extLst>
          </p:cNvPr>
          <p:cNvSpPr>
            <a:spLocks noGrp="1"/>
          </p:cNvSpPr>
          <p:nvPr>
            <p:ph sz="half" idx="1"/>
          </p:nvPr>
        </p:nvSpPr>
        <p:spPr>
          <a:xfrm>
            <a:off x="332508" y="985706"/>
            <a:ext cx="6556905" cy="5872293"/>
          </a:xfrm>
        </p:spPr>
        <p:txBody>
          <a:bodyPr>
            <a:normAutofit lnSpcReduction="10000"/>
          </a:bodyPr>
          <a:lstStyle/>
          <a:p>
            <a:r>
              <a:rPr lang="en-US" dirty="0"/>
              <a:t>Continuous flow</a:t>
            </a:r>
          </a:p>
          <a:p>
            <a:pPr lvl="1"/>
            <a:r>
              <a:rPr lang="en-US" dirty="0"/>
              <a:t>Low challenge agent concentration in aerosol phase</a:t>
            </a:r>
          </a:p>
          <a:p>
            <a:pPr lvl="1"/>
            <a:r>
              <a:rPr lang="en-US" dirty="0"/>
              <a:t>Require large sample volume</a:t>
            </a:r>
          </a:p>
          <a:p>
            <a:pPr lvl="1"/>
            <a:r>
              <a:rPr lang="en-US" dirty="0"/>
              <a:t>Fluid flow in laminar regime</a:t>
            </a:r>
          </a:p>
          <a:p>
            <a:pPr lvl="1"/>
            <a:r>
              <a:rPr lang="en-US" dirty="0"/>
              <a:t>Quantifiable fluence distribution</a:t>
            </a:r>
          </a:p>
          <a:p>
            <a:r>
              <a:rPr lang="en-US" dirty="0"/>
              <a:t>Integrating sphere</a:t>
            </a:r>
          </a:p>
          <a:p>
            <a:pPr lvl="1"/>
            <a:r>
              <a:rPr lang="en-US" dirty="0"/>
              <a:t>Highly reflective interior surfaces</a:t>
            </a:r>
          </a:p>
          <a:p>
            <a:pPr lvl="1"/>
            <a:r>
              <a:rPr lang="en-US" dirty="0"/>
              <a:t>Lamps positioned radially</a:t>
            </a:r>
          </a:p>
          <a:p>
            <a:pPr lvl="1"/>
            <a:r>
              <a:rPr lang="en-US" dirty="0"/>
              <a:t>Cylindrical quartz transmission tube</a:t>
            </a:r>
          </a:p>
          <a:p>
            <a:pPr lvl="1"/>
            <a:r>
              <a:rPr lang="en-US" dirty="0"/>
              <a:t>Exclusively interreflected radiation delivered to targets</a:t>
            </a:r>
          </a:p>
          <a:p>
            <a:pPr lvl="1"/>
            <a:r>
              <a:rPr lang="en-US" dirty="0"/>
              <a:t>Highly uniform fluence rate field</a:t>
            </a:r>
          </a:p>
          <a:p>
            <a:r>
              <a:rPr lang="en-US" dirty="0"/>
              <a:t>Reactor attributes</a:t>
            </a:r>
          </a:p>
          <a:p>
            <a:pPr lvl="1"/>
            <a:r>
              <a:rPr lang="en-US" dirty="0"/>
              <a:t>High fluence rate; spatially uniform</a:t>
            </a:r>
          </a:p>
          <a:p>
            <a:pPr lvl="1"/>
            <a:r>
              <a:rPr lang="en-US" dirty="0"/>
              <a:t>Difficult to apply reflective material</a:t>
            </a:r>
          </a:p>
          <a:p>
            <a:endParaRPr lang="en-US" dirty="0"/>
          </a:p>
        </p:txBody>
      </p:sp>
      <p:pic>
        <p:nvPicPr>
          <p:cNvPr id="11" name="Picture 10">
            <a:extLst>
              <a:ext uri="{FF2B5EF4-FFF2-40B4-BE49-F238E27FC236}">
                <a16:creationId xmlns:a16="http://schemas.microsoft.com/office/drawing/2014/main" id="{CF318B94-4D42-ECAE-2A80-1AE843B7E5BC}"/>
              </a:ext>
            </a:extLst>
          </p:cNvPr>
          <p:cNvPicPr>
            <a:picLocks noChangeAspect="1"/>
          </p:cNvPicPr>
          <p:nvPr/>
        </p:nvPicPr>
        <p:blipFill>
          <a:blip r:embed="rId2"/>
          <a:stretch>
            <a:fillRect/>
          </a:stretch>
        </p:blipFill>
        <p:spPr>
          <a:xfrm>
            <a:off x="7391855" y="1141362"/>
            <a:ext cx="3220220" cy="2897109"/>
          </a:xfrm>
          <a:prstGeom prst="rect">
            <a:avLst/>
          </a:prstGeom>
        </p:spPr>
      </p:pic>
      <p:pic>
        <p:nvPicPr>
          <p:cNvPr id="13" name="Picture 12">
            <a:extLst>
              <a:ext uri="{FF2B5EF4-FFF2-40B4-BE49-F238E27FC236}">
                <a16:creationId xmlns:a16="http://schemas.microsoft.com/office/drawing/2014/main" id="{9AB6FC98-6710-1053-6B21-112E13F191FB}"/>
              </a:ext>
            </a:extLst>
          </p:cNvPr>
          <p:cNvPicPr>
            <a:picLocks noChangeAspect="1"/>
          </p:cNvPicPr>
          <p:nvPr/>
        </p:nvPicPr>
        <p:blipFill>
          <a:blip r:embed="rId3"/>
          <a:stretch>
            <a:fillRect/>
          </a:stretch>
        </p:blipFill>
        <p:spPr>
          <a:xfrm>
            <a:off x="7391854" y="4076096"/>
            <a:ext cx="3220220" cy="2781903"/>
          </a:xfrm>
          <a:prstGeom prst="rect">
            <a:avLst/>
          </a:prstGeom>
        </p:spPr>
      </p:pic>
      <p:sp>
        <p:nvSpPr>
          <p:cNvPr id="3" name="Slide Number Placeholder 2">
            <a:extLst>
              <a:ext uri="{FF2B5EF4-FFF2-40B4-BE49-F238E27FC236}">
                <a16:creationId xmlns:a16="http://schemas.microsoft.com/office/drawing/2014/main" id="{6219D0EC-DBAE-E86B-1514-3DED97A495C1}"/>
              </a:ext>
            </a:extLst>
          </p:cNvPr>
          <p:cNvSpPr>
            <a:spLocks noGrp="1"/>
          </p:cNvSpPr>
          <p:nvPr>
            <p:ph type="sldNum" sz="quarter" idx="12"/>
          </p:nvPr>
        </p:nvSpPr>
        <p:spPr/>
        <p:txBody>
          <a:bodyPr/>
          <a:lstStyle/>
          <a:p>
            <a:fld id="{DA9AF7B9-8BBF-4957-8393-213600C515C9}" type="slidenum">
              <a:rPr lang="en-US" smtClean="0"/>
              <a:t>6</a:t>
            </a:fld>
            <a:endParaRPr lang="en-US"/>
          </a:p>
        </p:txBody>
      </p:sp>
    </p:spTree>
    <p:extLst>
      <p:ext uri="{BB962C8B-B14F-4D97-AF65-F5344CB8AC3E}">
        <p14:creationId xmlns:p14="http://schemas.microsoft.com/office/powerpoint/2010/main" val="1061982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E77E-2B7E-FD23-2B86-D37E37A6A9F9}"/>
              </a:ext>
            </a:extLst>
          </p:cNvPr>
          <p:cNvSpPr>
            <a:spLocks noGrp="1"/>
          </p:cNvSpPr>
          <p:nvPr>
            <p:ph type="title"/>
          </p:nvPr>
        </p:nvSpPr>
        <p:spPr>
          <a:xfrm>
            <a:off x="838200" y="65867"/>
            <a:ext cx="10515600" cy="939973"/>
          </a:xfrm>
        </p:spPr>
        <p:txBody>
          <a:bodyPr/>
          <a:lstStyle/>
          <a:p>
            <a:pPr algn="ctr"/>
            <a:r>
              <a:rPr lang="en-US" dirty="0">
                <a:solidFill>
                  <a:srgbClr val="0000CC"/>
                </a:solidFill>
              </a:rPr>
              <a:t>Alternative Designs</a:t>
            </a:r>
          </a:p>
        </p:txBody>
      </p:sp>
      <p:sp>
        <p:nvSpPr>
          <p:cNvPr id="3" name="Content Placeholder 2">
            <a:extLst>
              <a:ext uri="{FF2B5EF4-FFF2-40B4-BE49-F238E27FC236}">
                <a16:creationId xmlns:a16="http://schemas.microsoft.com/office/drawing/2014/main" id="{186747A3-E2B9-ACD2-B9DE-2B6BB177D718}"/>
              </a:ext>
            </a:extLst>
          </p:cNvPr>
          <p:cNvSpPr>
            <a:spLocks noGrp="1"/>
          </p:cNvSpPr>
          <p:nvPr>
            <p:ph sz="half" idx="1"/>
          </p:nvPr>
        </p:nvSpPr>
        <p:spPr>
          <a:xfrm>
            <a:off x="191193" y="889462"/>
            <a:ext cx="5828607" cy="2047339"/>
          </a:xfrm>
        </p:spPr>
        <p:txBody>
          <a:bodyPr/>
          <a:lstStyle/>
          <a:p>
            <a:r>
              <a:rPr lang="en-US" dirty="0"/>
              <a:t>"Integrating Cylinder" </a:t>
            </a:r>
            <a:r>
              <a:rPr lang="en-US" dirty="0">
                <a:solidFill>
                  <a:srgbClr val="FF0000"/>
                </a:solidFill>
              </a:rPr>
              <a:t>(***)</a:t>
            </a:r>
          </a:p>
          <a:p>
            <a:r>
              <a:rPr lang="en-US" dirty="0"/>
              <a:t>Highly uniform fluence rate field</a:t>
            </a:r>
          </a:p>
          <a:p>
            <a:r>
              <a:rPr lang="en-US" dirty="0"/>
              <a:t>Simple fabrication</a:t>
            </a:r>
          </a:p>
          <a:p>
            <a:r>
              <a:rPr lang="en-US" dirty="0"/>
              <a:t>Reflective lining simplified</a:t>
            </a:r>
          </a:p>
          <a:p>
            <a:endParaRPr lang="en-US" dirty="0"/>
          </a:p>
          <a:p>
            <a:endParaRPr lang="en-US" dirty="0"/>
          </a:p>
        </p:txBody>
      </p:sp>
      <p:sp>
        <p:nvSpPr>
          <p:cNvPr id="4" name="Content Placeholder 3">
            <a:extLst>
              <a:ext uri="{FF2B5EF4-FFF2-40B4-BE49-F238E27FC236}">
                <a16:creationId xmlns:a16="http://schemas.microsoft.com/office/drawing/2014/main" id="{6400D274-059B-B148-7823-7018EC5E72D5}"/>
              </a:ext>
            </a:extLst>
          </p:cNvPr>
          <p:cNvSpPr>
            <a:spLocks noGrp="1"/>
          </p:cNvSpPr>
          <p:nvPr>
            <p:ph sz="half" idx="2"/>
          </p:nvPr>
        </p:nvSpPr>
        <p:spPr>
          <a:xfrm>
            <a:off x="6172199" y="889462"/>
            <a:ext cx="5828607" cy="2047339"/>
          </a:xfrm>
        </p:spPr>
        <p:txBody>
          <a:bodyPr/>
          <a:lstStyle/>
          <a:p>
            <a:r>
              <a:rPr lang="en-US" dirty="0"/>
              <a:t>"Integrating Cube"</a:t>
            </a:r>
          </a:p>
          <a:p>
            <a:r>
              <a:rPr lang="en-US" dirty="0"/>
              <a:t>Highly uniform fluence rate field</a:t>
            </a:r>
          </a:p>
          <a:p>
            <a:r>
              <a:rPr lang="en-US" dirty="0"/>
              <a:t>Simple fabrication</a:t>
            </a:r>
          </a:p>
          <a:p>
            <a:r>
              <a:rPr lang="en-US" dirty="0"/>
              <a:t>Reflective lining simplified</a:t>
            </a:r>
          </a:p>
          <a:p>
            <a:pPr marL="0" indent="0">
              <a:buNone/>
            </a:pPr>
            <a:endParaRPr lang="en-US" dirty="0"/>
          </a:p>
        </p:txBody>
      </p:sp>
      <p:pic>
        <p:nvPicPr>
          <p:cNvPr id="6" name="Picture 5">
            <a:extLst>
              <a:ext uri="{FF2B5EF4-FFF2-40B4-BE49-F238E27FC236}">
                <a16:creationId xmlns:a16="http://schemas.microsoft.com/office/drawing/2014/main" id="{B6DB099F-8747-41A7-082B-87B5694C7FF4}"/>
              </a:ext>
            </a:extLst>
          </p:cNvPr>
          <p:cNvPicPr>
            <a:picLocks noChangeAspect="1"/>
          </p:cNvPicPr>
          <p:nvPr/>
        </p:nvPicPr>
        <p:blipFill>
          <a:blip r:embed="rId2"/>
          <a:stretch>
            <a:fillRect/>
          </a:stretch>
        </p:blipFill>
        <p:spPr>
          <a:xfrm>
            <a:off x="766027" y="2936801"/>
            <a:ext cx="4357030" cy="3721630"/>
          </a:xfrm>
          <a:prstGeom prst="rect">
            <a:avLst/>
          </a:prstGeom>
        </p:spPr>
      </p:pic>
      <p:pic>
        <p:nvPicPr>
          <p:cNvPr id="8" name="Picture 7">
            <a:extLst>
              <a:ext uri="{FF2B5EF4-FFF2-40B4-BE49-F238E27FC236}">
                <a16:creationId xmlns:a16="http://schemas.microsoft.com/office/drawing/2014/main" id="{2F77AE02-72EE-09A2-2EA1-376CFCF7DD61}"/>
              </a:ext>
            </a:extLst>
          </p:cNvPr>
          <p:cNvPicPr>
            <a:picLocks noChangeAspect="1"/>
          </p:cNvPicPr>
          <p:nvPr/>
        </p:nvPicPr>
        <p:blipFill>
          <a:blip r:embed="rId3"/>
          <a:stretch>
            <a:fillRect/>
          </a:stretch>
        </p:blipFill>
        <p:spPr>
          <a:xfrm>
            <a:off x="6845118" y="2936801"/>
            <a:ext cx="4224927" cy="3721630"/>
          </a:xfrm>
          <a:prstGeom prst="rect">
            <a:avLst/>
          </a:prstGeom>
        </p:spPr>
      </p:pic>
      <p:sp>
        <p:nvSpPr>
          <p:cNvPr id="5" name="Slide Number Placeholder 4">
            <a:extLst>
              <a:ext uri="{FF2B5EF4-FFF2-40B4-BE49-F238E27FC236}">
                <a16:creationId xmlns:a16="http://schemas.microsoft.com/office/drawing/2014/main" id="{A6AAFECD-229B-9C50-D7DF-4E95BA777CF0}"/>
              </a:ext>
            </a:extLst>
          </p:cNvPr>
          <p:cNvSpPr>
            <a:spLocks noGrp="1"/>
          </p:cNvSpPr>
          <p:nvPr>
            <p:ph type="sldNum" sz="quarter" idx="12"/>
          </p:nvPr>
        </p:nvSpPr>
        <p:spPr/>
        <p:txBody>
          <a:bodyPr/>
          <a:lstStyle/>
          <a:p>
            <a:fld id="{DA9AF7B9-8BBF-4957-8393-213600C515C9}" type="slidenum">
              <a:rPr lang="en-US" smtClean="0"/>
              <a:t>7</a:t>
            </a:fld>
            <a:endParaRPr lang="en-US"/>
          </a:p>
        </p:txBody>
      </p:sp>
    </p:spTree>
    <p:extLst>
      <p:ext uri="{BB962C8B-B14F-4D97-AF65-F5344CB8AC3E}">
        <p14:creationId xmlns:p14="http://schemas.microsoft.com/office/powerpoint/2010/main" val="1778567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061DE-774F-A749-9270-D6B862D79B17}"/>
              </a:ext>
            </a:extLst>
          </p:cNvPr>
          <p:cNvSpPr>
            <a:spLocks noGrp="1"/>
          </p:cNvSpPr>
          <p:nvPr>
            <p:ph type="title"/>
          </p:nvPr>
        </p:nvSpPr>
        <p:spPr/>
        <p:txBody>
          <a:bodyPr>
            <a:normAutofit fontScale="90000"/>
          </a:bodyPr>
          <a:lstStyle/>
          <a:p>
            <a:pPr algn="ctr"/>
            <a:r>
              <a:rPr lang="en-US" dirty="0">
                <a:solidFill>
                  <a:srgbClr val="FF0000"/>
                </a:solidFill>
              </a:rPr>
              <a:t>Mark: add more images here to illustrate results of updated fluence rate field simulations</a:t>
            </a:r>
          </a:p>
        </p:txBody>
      </p:sp>
      <p:sp>
        <p:nvSpPr>
          <p:cNvPr id="3" name="Content Placeholder 2">
            <a:extLst>
              <a:ext uri="{FF2B5EF4-FFF2-40B4-BE49-F238E27FC236}">
                <a16:creationId xmlns:a16="http://schemas.microsoft.com/office/drawing/2014/main" id="{B26ADFA2-5F6A-25B2-EA48-B63455B76224}"/>
              </a:ext>
            </a:extLst>
          </p:cNvPr>
          <p:cNvSpPr>
            <a:spLocks noGrp="1"/>
          </p:cNvSpPr>
          <p:nvPr>
            <p:ph sz="half" idx="1"/>
          </p:nvPr>
        </p:nvSpPr>
        <p:spPr/>
        <p:txBody>
          <a:bodyPr/>
          <a:lstStyle/>
          <a:p>
            <a:endParaRPr lang="en-US" dirty="0"/>
          </a:p>
        </p:txBody>
      </p:sp>
      <p:sp>
        <p:nvSpPr>
          <p:cNvPr id="4" name="Content Placeholder 3">
            <a:extLst>
              <a:ext uri="{FF2B5EF4-FFF2-40B4-BE49-F238E27FC236}">
                <a16:creationId xmlns:a16="http://schemas.microsoft.com/office/drawing/2014/main" id="{2E1C3CA2-7EBB-7FAC-AC8D-39C36503F7F0}"/>
              </a:ext>
            </a:extLst>
          </p:cNvPr>
          <p:cNvSpPr>
            <a:spLocks noGrp="1"/>
          </p:cNvSpPr>
          <p:nvPr>
            <p:ph sz="half" idx="2"/>
          </p:nvPr>
        </p:nvSpPr>
        <p:spPr/>
        <p:txBody>
          <a:bodyPr/>
          <a:lstStyle/>
          <a:p>
            <a:endParaRPr lang="en-US"/>
          </a:p>
        </p:txBody>
      </p:sp>
      <p:sp>
        <p:nvSpPr>
          <p:cNvPr id="5" name="Slide Number Placeholder 4">
            <a:extLst>
              <a:ext uri="{FF2B5EF4-FFF2-40B4-BE49-F238E27FC236}">
                <a16:creationId xmlns:a16="http://schemas.microsoft.com/office/drawing/2014/main" id="{77421FF2-4A85-799E-322C-C1B755C6F9F3}"/>
              </a:ext>
            </a:extLst>
          </p:cNvPr>
          <p:cNvSpPr>
            <a:spLocks noGrp="1"/>
          </p:cNvSpPr>
          <p:nvPr>
            <p:ph type="sldNum" sz="quarter" idx="12"/>
          </p:nvPr>
        </p:nvSpPr>
        <p:spPr/>
        <p:txBody>
          <a:bodyPr/>
          <a:lstStyle/>
          <a:p>
            <a:fld id="{DA9AF7B9-8BBF-4957-8393-213600C515C9}" type="slidenum">
              <a:rPr lang="en-US" smtClean="0"/>
              <a:t>8</a:t>
            </a:fld>
            <a:endParaRPr lang="en-US"/>
          </a:p>
        </p:txBody>
      </p:sp>
    </p:spTree>
    <p:extLst>
      <p:ext uri="{BB962C8B-B14F-4D97-AF65-F5344CB8AC3E}">
        <p14:creationId xmlns:p14="http://schemas.microsoft.com/office/powerpoint/2010/main" val="55128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B428-497E-9FEB-8B6E-BEC09C2560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6F3EA6-55DA-FF24-3AF7-F2E4FE778B1D}"/>
              </a:ext>
            </a:extLst>
          </p:cNvPr>
          <p:cNvSpPr>
            <a:spLocks noGrp="1"/>
          </p:cNvSpPr>
          <p:nvPr>
            <p:ph type="title"/>
          </p:nvPr>
        </p:nvSpPr>
        <p:spPr>
          <a:xfrm>
            <a:off x="21064" y="231997"/>
            <a:ext cx="12165786" cy="1200386"/>
          </a:xfrm>
        </p:spPr>
        <p:txBody>
          <a:bodyPr>
            <a:normAutofit fontScale="90000"/>
          </a:bodyPr>
          <a:lstStyle/>
          <a:p>
            <a:pPr algn="ctr"/>
            <a:r>
              <a:rPr lang="en-US" dirty="0">
                <a:solidFill>
                  <a:srgbClr val="0000CC"/>
                </a:solidFill>
              </a:rPr>
              <a:t>Definition Sketch: Transport Behavior for Laminar Flow in a Circular Tube (Taylor, 1953)</a:t>
            </a:r>
          </a:p>
        </p:txBody>
      </p:sp>
      <p:sp>
        <p:nvSpPr>
          <p:cNvPr id="5" name="Rectangle 4">
            <a:extLst>
              <a:ext uri="{FF2B5EF4-FFF2-40B4-BE49-F238E27FC236}">
                <a16:creationId xmlns:a16="http://schemas.microsoft.com/office/drawing/2014/main" id="{10E3D943-4E47-A429-7860-2BF614FDEF91}"/>
              </a:ext>
            </a:extLst>
          </p:cNvPr>
          <p:cNvSpPr/>
          <p:nvPr/>
        </p:nvSpPr>
        <p:spPr>
          <a:xfrm>
            <a:off x="2238163" y="1681720"/>
            <a:ext cx="8924821" cy="8229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FB10A3C-BFC1-3A4E-2D26-D4EE23969817}"/>
              </a:ext>
            </a:extLst>
          </p:cNvPr>
          <p:cNvCxnSpPr/>
          <p:nvPr/>
        </p:nvCxnSpPr>
        <p:spPr>
          <a:xfrm>
            <a:off x="2238163" y="2631681"/>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B982691F-0245-B707-8E59-BD92F30A9E26}"/>
              </a:ext>
            </a:extLst>
          </p:cNvPr>
          <p:cNvSpPr txBox="1"/>
          <p:nvPr/>
        </p:nvSpPr>
        <p:spPr>
          <a:xfrm>
            <a:off x="6394761" y="2631681"/>
            <a:ext cx="300082" cy="369332"/>
          </a:xfrm>
          <a:prstGeom prst="rect">
            <a:avLst/>
          </a:prstGeom>
          <a:noFill/>
        </p:spPr>
        <p:txBody>
          <a:bodyPr wrap="none" rtlCol="0">
            <a:spAutoFit/>
          </a:bodyPr>
          <a:lstStyle/>
          <a:p>
            <a:r>
              <a:rPr lang="en-US" dirty="0">
                <a:solidFill>
                  <a:srgbClr val="FF0000"/>
                </a:solidFill>
              </a:rPr>
              <a:t>L</a:t>
            </a:r>
          </a:p>
        </p:txBody>
      </p:sp>
      <p:cxnSp>
        <p:nvCxnSpPr>
          <p:cNvPr id="17" name="Straight Connector 16">
            <a:extLst>
              <a:ext uri="{FF2B5EF4-FFF2-40B4-BE49-F238E27FC236}">
                <a16:creationId xmlns:a16="http://schemas.microsoft.com/office/drawing/2014/main" id="{66839C58-4BF7-4A93-CB94-D15E18BD160A}"/>
              </a:ext>
            </a:extLst>
          </p:cNvPr>
          <p:cNvCxnSpPr>
            <a:cxnSpLocks/>
            <a:stCxn id="5" idx="1"/>
            <a:endCxn id="5" idx="3"/>
          </p:cNvCxnSpPr>
          <p:nvPr/>
        </p:nvCxnSpPr>
        <p:spPr>
          <a:xfrm>
            <a:off x="2238163" y="2093200"/>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22" name="Arc 21">
            <a:extLst>
              <a:ext uri="{FF2B5EF4-FFF2-40B4-BE49-F238E27FC236}">
                <a16:creationId xmlns:a16="http://schemas.microsoft.com/office/drawing/2014/main" id="{41404B75-B873-C722-64F2-FCD89AE74BE9}"/>
              </a:ext>
            </a:extLst>
          </p:cNvPr>
          <p:cNvSpPr/>
          <p:nvPr/>
        </p:nvSpPr>
        <p:spPr>
          <a:xfrm>
            <a:off x="3736947" y="1683397"/>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1FCDD190-F879-F86E-B3DA-D282ECC961ED}"/>
              </a:ext>
            </a:extLst>
          </p:cNvPr>
          <p:cNvSpPr/>
          <p:nvPr/>
        </p:nvSpPr>
        <p:spPr>
          <a:xfrm flipV="1">
            <a:off x="3736946" y="1674162"/>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6EA20BC8-C393-0C2E-DEB7-F68E7973AA0F}"/>
              </a:ext>
            </a:extLst>
          </p:cNvPr>
          <p:cNvCxnSpPr>
            <a:stCxn id="22" idx="0"/>
          </p:cNvCxnSpPr>
          <p:nvPr/>
        </p:nvCxnSpPr>
        <p:spPr>
          <a:xfrm>
            <a:off x="4896109" y="1683397"/>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57DFE58-F4DA-05BE-8A47-C18375DEB68D}"/>
              </a:ext>
            </a:extLst>
          </p:cNvPr>
          <p:cNvCxnSpPr/>
          <p:nvPr/>
        </p:nvCxnSpPr>
        <p:spPr>
          <a:xfrm>
            <a:off x="4896109" y="1818880"/>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B3B7E28-87BD-E804-026A-FEC73AB87A6E}"/>
              </a:ext>
            </a:extLst>
          </p:cNvPr>
          <p:cNvCxnSpPr/>
          <p:nvPr/>
        </p:nvCxnSpPr>
        <p:spPr>
          <a:xfrm>
            <a:off x="4896109" y="2363703"/>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C5016258-00CF-5204-DE3A-70C8838A5233}"/>
              </a:ext>
            </a:extLst>
          </p:cNvPr>
          <p:cNvCxnSpPr>
            <a:cxnSpLocks/>
          </p:cNvCxnSpPr>
          <p:nvPr/>
        </p:nvCxnSpPr>
        <p:spPr>
          <a:xfrm>
            <a:off x="4909966" y="2239012"/>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23343594-DC9E-6FCF-2AF1-E227D086712E}"/>
              </a:ext>
            </a:extLst>
          </p:cNvPr>
          <p:cNvCxnSpPr>
            <a:cxnSpLocks/>
          </p:cNvCxnSpPr>
          <p:nvPr/>
        </p:nvCxnSpPr>
        <p:spPr>
          <a:xfrm>
            <a:off x="4896109" y="1948068"/>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D486FF0E-7120-8F70-D2F1-13BB0B9B44D3}"/>
              </a:ext>
            </a:extLst>
          </p:cNvPr>
          <p:cNvCxnSpPr>
            <a:cxnSpLocks/>
          </p:cNvCxnSpPr>
          <p:nvPr/>
        </p:nvCxnSpPr>
        <p:spPr>
          <a:xfrm>
            <a:off x="4896109" y="2094039"/>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88C3F48F-E75D-A7DA-5181-5C0B28C6D158}"/>
                  </a:ext>
                </a:extLst>
              </p:cNvPr>
              <p:cNvSpPr txBox="1"/>
              <p:nvPr/>
            </p:nvSpPr>
            <p:spPr>
              <a:xfrm>
                <a:off x="21064" y="3292950"/>
                <a:ext cx="3348674" cy="3157275"/>
              </a:xfrm>
              <a:prstGeom prst="rect">
                <a:avLst/>
              </a:prstGeom>
              <a:noFill/>
            </p:spPr>
            <p:txBody>
              <a:bodyPr wrap="none" rtlCol="0">
                <a:spAutoFit/>
              </a:bodyPr>
              <a:lstStyle/>
              <a:p>
                <a:r>
                  <a:rPr lang="en-US" dirty="0">
                    <a:solidFill>
                      <a:srgbClr val="0000CC"/>
                    </a:solidFill>
                  </a:rPr>
                  <a:t>Velocity Profile</a:t>
                </a:r>
              </a:p>
              <a:p>
                <a:pPr/>
                <a14:m>
                  <m:oMathPara xmlns:m="http://schemas.openxmlformats.org/officeDocument/2006/math">
                    <m:oMath>
                      <m:r>
                        <a:rPr lang="en-US" b="0" i="1" smtClean="0">
                          <a:solidFill>
                            <a:srgbClr val="0000CC"/>
                          </a:solidFill>
                          <a:latin typeface="Cambria Math" panose="02040503050406030204" pitchFamily="18" charset="0"/>
                        </a:rPr>
                        <m:t>𝑈</m:t>
                      </m:r>
                      <m:d>
                        <m:dPr>
                          <m:ctrlPr>
                            <a:rPr lang="en-US" b="0" i="1" smtClean="0">
                              <a:solidFill>
                                <a:srgbClr val="0000CC"/>
                              </a:solidFill>
                              <a:latin typeface="Cambria Math" panose="02040503050406030204" pitchFamily="18" charset="0"/>
                            </a:rPr>
                          </m:ctrlPr>
                        </m:dPr>
                        <m:e>
                          <m:r>
                            <a:rPr lang="en-US" b="0" i="1" smtClean="0">
                              <a:solidFill>
                                <a:srgbClr val="0000CC"/>
                              </a:solidFill>
                              <a:latin typeface="Cambria Math" panose="02040503050406030204" pitchFamily="18" charset="0"/>
                            </a:rPr>
                            <m:t>𝑟</m:t>
                          </m:r>
                        </m:e>
                      </m:d>
                      <m:r>
                        <a:rPr lang="en-US" b="0" i="1" smtClean="0">
                          <a:solidFill>
                            <a:srgbClr val="0000CC"/>
                          </a:solidFill>
                          <a:latin typeface="Cambria Math" panose="02040503050406030204" pitchFamily="18" charset="0"/>
                        </a:rPr>
                        <m:t>=</m:t>
                      </m:r>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d>
                        <m:dPr>
                          <m:ctrlPr>
                            <a:rPr lang="en-US" b="0" i="1" smtClean="0">
                              <a:solidFill>
                                <a:srgbClr val="0000CC"/>
                              </a:solidFill>
                              <a:latin typeface="Cambria Math" panose="02040503050406030204" pitchFamily="18" charset="0"/>
                            </a:rPr>
                          </m:ctrlPr>
                        </m:dPr>
                        <m:e>
                          <m:r>
                            <a:rPr lang="en-US" b="0" i="1" smtClean="0">
                              <a:solidFill>
                                <a:srgbClr val="0000CC"/>
                              </a:solidFill>
                              <a:latin typeface="Cambria Math" panose="02040503050406030204" pitchFamily="18" charset="0"/>
                            </a:rPr>
                            <m:t>1−</m:t>
                          </m:r>
                          <m:f>
                            <m:fPr>
                              <m:ctrlPr>
                                <a:rPr lang="en-US" b="0" i="1" smtClean="0">
                                  <a:solidFill>
                                    <a:srgbClr val="0000CC"/>
                                  </a:solidFill>
                                  <a:latin typeface="Cambria Math" panose="02040503050406030204" pitchFamily="18" charset="0"/>
                                </a:rPr>
                              </m:ctrlPr>
                            </m:fPr>
                            <m:num>
                              <m:sSup>
                                <m:sSupPr>
                                  <m:ctrlPr>
                                    <a:rPr lang="en-US" b="0" i="1" smtClean="0">
                                      <a:solidFill>
                                        <a:srgbClr val="0000CC"/>
                                      </a:solidFill>
                                      <a:latin typeface="Cambria Math" panose="02040503050406030204" pitchFamily="18" charset="0"/>
                                    </a:rPr>
                                  </m:ctrlPr>
                                </m:sSupPr>
                                <m:e>
                                  <m:r>
                                    <a:rPr lang="en-US" b="0" i="1" smtClean="0">
                                      <a:solidFill>
                                        <a:srgbClr val="0000CC"/>
                                      </a:solidFill>
                                      <a:latin typeface="Cambria Math" panose="02040503050406030204" pitchFamily="18" charset="0"/>
                                    </a:rPr>
                                    <m:t>𝑟</m:t>
                                  </m:r>
                                </m:e>
                                <m:sup>
                                  <m:r>
                                    <a:rPr lang="en-US" b="0" i="1" smtClean="0">
                                      <a:solidFill>
                                        <a:srgbClr val="0000CC"/>
                                      </a:solidFill>
                                      <a:latin typeface="Cambria Math" panose="02040503050406030204" pitchFamily="18" charset="0"/>
                                    </a:rPr>
                                    <m:t>2</m:t>
                                  </m:r>
                                </m:sup>
                              </m:sSup>
                            </m:num>
                            <m:den>
                              <m:sSup>
                                <m:sSupPr>
                                  <m:ctrlPr>
                                    <a:rPr lang="en-US" b="0" i="1" smtClean="0">
                                      <a:solidFill>
                                        <a:srgbClr val="0000CC"/>
                                      </a:solidFill>
                                      <a:latin typeface="Cambria Math" panose="02040503050406030204" pitchFamily="18" charset="0"/>
                                    </a:rPr>
                                  </m:ctrlPr>
                                </m:sSupPr>
                                <m:e>
                                  <m:r>
                                    <a:rPr lang="en-US" b="0" i="1" smtClean="0">
                                      <a:solidFill>
                                        <a:srgbClr val="0000CC"/>
                                      </a:solidFill>
                                      <a:latin typeface="Cambria Math" panose="02040503050406030204" pitchFamily="18" charset="0"/>
                                    </a:rPr>
                                    <m:t>𝑎</m:t>
                                  </m:r>
                                </m:e>
                                <m:sup>
                                  <m:r>
                                    <a:rPr lang="en-US" b="0" i="1" smtClean="0">
                                      <a:solidFill>
                                        <a:srgbClr val="0000CC"/>
                                      </a:solidFill>
                                      <a:latin typeface="Cambria Math" panose="02040503050406030204" pitchFamily="18" charset="0"/>
                                    </a:rPr>
                                    <m:t>2</m:t>
                                  </m:r>
                                </m:sup>
                              </m:sSup>
                            </m:den>
                          </m:f>
                        </m:e>
                      </m:d>
                    </m:oMath>
                  </m:oMathPara>
                </a14:m>
                <a:endParaRPr lang="en-US" dirty="0">
                  <a:solidFill>
                    <a:srgbClr val="0000CC"/>
                  </a:solidFill>
                </a:endParaRPr>
              </a:p>
              <a:p>
                <a14:m>
                  <m:oMath xmlns:m="http://schemas.openxmlformats.org/officeDocument/2006/math">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r>
                      <a:rPr lang="en-US" b="0" i="1" smtClean="0">
                        <a:solidFill>
                          <a:srgbClr val="0000CC"/>
                        </a:solidFill>
                        <a:latin typeface="Cambria Math" panose="02040503050406030204" pitchFamily="18" charset="0"/>
                      </a:rPr>
                      <m:t>=</m:t>
                    </m:r>
                    <m:r>
                      <a:rPr lang="en-US" b="0" i="1" smtClean="0">
                        <a:solidFill>
                          <a:srgbClr val="0000CC"/>
                        </a:solidFill>
                        <a:latin typeface="Cambria Math" panose="02040503050406030204" pitchFamily="18" charset="0"/>
                      </a:rPr>
                      <m:t>𝐶𝑒𝑛𝑡𝑒𝑟𝑙𝑖𝑛𝑒</m:t>
                    </m:r>
                    <m:r>
                      <a:rPr lang="en-US" b="0" i="1" smtClean="0">
                        <a:solidFill>
                          <a:srgbClr val="0000CC"/>
                        </a:solidFill>
                        <a:latin typeface="Cambria Math" panose="02040503050406030204" pitchFamily="18" charset="0"/>
                      </a:rPr>
                      <m:t> </m:t>
                    </m:r>
                    <m:r>
                      <a:rPr lang="en-US" b="0" i="1" smtClean="0">
                        <a:solidFill>
                          <a:srgbClr val="0000CC"/>
                        </a:solidFill>
                        <a:latin typeface="Cambria Math" panose="02040503050406030204" pitchFamily="18" charset="0"/>
                      </a:rPr>
                      <m:t>𝑉𝑒𝑙𝑜𝑐𝑖𝑡𝑦</m:t>
                    </m:r>
                  </m:oMath>
                </a14:m>
                <a:r>
                  <a:rPr lang="en-US" dirty="0">
                    <a:solidFill>
                      <a:srgbClr val="0000CC"/>
                    </a:solidFill>
                  </a:rPr>
                  <a:t> (max)</a:t>
                </a:r>
              </a:p>
              <a:p>
                <a:pPr/>
                <a14:m>
                  <m:oMathPara xmlns:m="http://schemas.openxmlformats.org/officeDocument/2006/math">
                    <m:oMath>
                      <m:r>
                        <a:rPr lang="en-US" b="0" i="1" smtClean="0">
                          <a:solidFill>
                            <a:srgbClr val="0000CC"/>
                          </a:solidFill>
                          <a:latin typeface="Cambria Math" panose="02040503050406030204" pitchFamily="18" charset="0"/>
                        </a:rPr>
                        <m:t>𝑈</m:t>
                      </m:r>
                      <m:r>
                        <a:rPr lang="en-US" b="0" i="1" smtClean="0">
                          <a:solidFill>
                            <a:srgbClr val="0000CC"/>
                          </a:solidFill>
                          <a:latin typeface="Cambria Math" panose="02040503050406030204" pitchFamily="18" charset="0"/>
                        </a:rPr>
                        <m:t>=</m:t>
                      </m:r>
                      <m:f>
                        <m:fPr>
                          <m:ctrlPr>
                            <a:rPr lang="en-US" b="0" i="1" smtClean="0">
                              <a:solidFill>
                                <a:srgbClr val="0000CC"/>
                              </a:solidFill>
                              <a:latin typeface="Cambria Math" panose="02040503050406030204" pitchFamily="18" charset="0"/>
                            </a:rPr>
                          </m:ctrlPr>
                        </m:fPr>
                        <m:num>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num>
                        <m:den>
                          <m:r>
                            <a:rPr lang="en-US" b="0" i="1" smtClean="0">
                              <a:solidFill>
                                <a:srgbClr val="0000CC"/>
                              </a:solidFill>
                              <a:latin typeface="Cambria Math" panose="02040503050406030204" pitchFamily="18" charset="0"/>
                            </a:rPr>
                            <m:t>2</m:t>
                          </m:r>
                        </m:den>
                      </m:f>
                      <m:r>
                        <a:rPr lang="en-US" b="0" i="1" smtClean="0">
                          <a:solidFill>
                            <a:srgbClr val="0000CC"/>
                          </a:solidFill>
                          <a:latin typeface="Cambria Math" panose="02040503050406030204" pitchFamily="18" charset="0"/>
                        </a:rPr>
                        <m:t>=</m:t>
                      </m:r>
                      <m:r>
                        <a:rPr lang="en-US" b="0" i="1" smtClean="0">
                          <a:solidFill>
                            <a:srgbClr val="0000CC"/>
                          </a:solidFill>
                          <a:latin typeface="Cambria Math" panose="02040503050406030204" pitchFamily="18" charset="0"/>
                        </a:rPr>
                        <m:t>𝑚𝑒𝑎𝑛</m:t>
                      </m:r>
                      <m:r>
                        <a:rPr lang="en-US" b="0" i="1" smtClean="0">
                          <a:solidFill>
                            <a:srgbClr val="0000CC"/>
                          </a:solidFill>
                          <a:latin typeface="Cambria Math" panose="02040503050406030204" pitchFamily="18" charset="0"/>
                        </a:rPr>
                        <m:t> </m:t>
                      </m:r>
                      <m:r>
                        <a:rPr lang="en-US" b="0" i="1" smtClean="0">
                          <a:solidFill>
                            <a:srgbClr val="0000CC"/>
                          </a:solidFill>
                          <a:latin typeface="Cambria Math" panose="02040503050406030204" pitchFamily="18" charset="0"/>
                        </a:rPr>
                        <m:t>𝑣𝑒𝑙𝑜𝑐𝑖𝑡𝑦</m:t>
                      </m:r>
                    </m:oMath>
                  </m:oMathPara>
                </a14:m>
                <a:endParaRPr lang="en-US" dirty="0">
                  <a:solidFill>
                    <a:srgbClr val="0000CC"/>
                  </a:solidFill>
                </a:endParaRPr>
              </a:p>
              <a:p>
                <a:endParaRPr lang="en-US" dirty="0">
                  <a:solidFill>
                    <a:srgbClr val="0000CC"/>
                  </a:solidFill>
                </a:endParaRPr>
              </a:p>
              <a:p>
                <a:r>
                  <a:rPr lang="en-US" dirty="0">
                    <a:solidFill>
                      <a:srgbClr val="0000CC"/>
                    </a:solidFill>
                  </a:rPr>
                  <a:t>Concentration Profile</a:t>
                </a:r>
              </a:p>
              <a:p>
                <a:pPr/>
                <a14:m>
                  <m:oMathPara xmlns:m="http://schemas.openxmlformats.org/officeDocument/2006/math">
                    <m:oMath>
                      <m:r>
                        <a:rPr lang="en-US" i="1" smtClean="0">
                          <a:solidFill>
                            <a:srgbClr val="0000CC"/>
                          </a:solidFill>
                          <a:latin typeface="Cambria Math" panose="02040503050406030204" pitchFamily="18" charset="0"/>
                        </a:rPr>
                        <m:t>𝐶</m:t>
                      </m:r>
                      <m:d>
                        <m:dPr>
                          <m:ctrlPr>
                            <a:rPr lang="en-US" i="1">
                              <a:solidFill>
                                <a:srgbClr val="0000CC"/>
                              </a:solidFill>
                              <a:latin typeface="Cambria Math" panose="02040503050406030204" pitchFamily="18" charset="0"/>
                            </a:rPr>
                          </m:ctrlPr>
                        </m:dPr>
                        <m:e>
                          <m:r>
                            <a:rPr lang="en-US" i="1">
                              <a:solidFill>
                                <a:srgbClr val="0000CC"/>
                              </a:solidFill>
                              <a:latin typeface="Cambria Math" panose="02040503050406030204" pitchFamily="18" charset="0"/>
                            </a:rPr>
                            <m:t>𝑥</m:t>
                          </m:r>
                          <m:r>
                            <a:rPr lang="en-US" i="1">
                              <a:solidFill>
                                <a:srgbClr val="0000CC"/>
                              </a:solidFill>
                              <a:latin typeface="Cambria Math" panose="02040503050406030204" pitchFamily="18" charset="0"/>
                            </a:rPr>
                            <m:t>,</m:t>
                          </m:r>
                          <m:r>
                            <a:rPr lang="en-US" i="1">
                              <a:solidFill>
                                <a:srgbClr val="0000CC"/>
                              </a:solidFill>
                              <a:latin typeface="Cambria Math" panose="02040503050406030204" pitchFamily="18" charset="0"/>
                            </a:rPr>
                            <m:t>𝑡</m:t>
                          </m:r>
                        </m:e>
                      </m:d>
                      <m:r>
                        <a:rPr lang="en-US" i="1">
                          <a:solidFill>
                            <a:srgbClr val="0000CC"/>
                          </a:solidFill>
                          <a:latin typeface="Cambria Math" panose="02040503050406030204" pitchFamily="18" charset="0"/>
                        </a:rPr>
                        <m:t>=</m:t>
                      </m:r>
                      <m:f>
                        <m:fPr>
                          <m:ctrlPr>
                            <a:rPr lang="en-US" i="1">
                              <a:solidFill>
                                <a:srgbClr val="0000CC"/>
                              </a:solidFill>
                              <a:latin typeface="Cambria Math" panose="02040503050406030204" pitchFamily="18" charset="0"/>
                            </a:rPr>
                          </m:ctrlPr>
                        </m:fPr>
                        <m:num>
                          <m:r>
                            <a:rPr lang="en-US" i="1">
                              <a:solidFill>
                                <a:srgbClr val="0000CC"/>
                              </a:solidFill>
                              <a:latin typeface="Cambria Math" panose="02040503050406030204" pitchFamily="18" charset="0"/>
                            </a:rPr>
                            <m:t>2</m:t>
                          </m:r>
                        </m:num>
                        <m:den>
                          <m:sSup>
                            <m:sSupPr>
                              <m:ctrlPr>
                                <a:rPr lang="en-US" i="1">
                                  <a:solidFill>
                                    <a:srgbClr val="0000CC"/>
                                  </a:solidFill>
                                  <a:latin typeface="Cambria Math" panose="02040503050406030204" pitchFamily="18" charset="0"/>
                                </a:rPr>
                              </m:ctrlPr>
                            </m:sSupPr>
                            <m:e>
                              <m:r>
                                <a:rPr lang="en-US" i="1">
                                  <a:solidFill>
                                    <a:srgbClr val="0000CC"/>
                                  </a:solidFill>
                                  <a:latin typeface="Cambria Math" panose="02040503050406030204" pitchFamily="18" charset="0"/>
                                </a:rPr>
                                <m:t>𝑎</m:t>
                              </m:r>
                            </m:e>
                            <m:sup>
                              <m:r>
                                <a:rPr lang="en-US" i="1">
                                  <a:solidFill>
                                    <a:srgbClr val="0000CC"/>
                                  </a:solidFill>
                                  <a:latin typeface="Cambria Math" panose="02040503050406030204" pitchFamily="18" charset="0"/>
                                </a:rPr>
                                <m:t>2</m:t>
                              </m:r>
                            </m:sup>
                          </m:sSup>
                        </m:den>
                      </m:f>
                      <m:nary>
                        <m:naryPr>
                          <m:limLoc m:val="undOvr"/>
                          <m:ctrlPr>
                            <a:rPr lang="en-US" i="1">
                              <a:solidFill>
                                <a:srgbClr val="0000CC"/>
                              </a:solidFill>
                              <a:latin typeface="Cambria Math" panose="02040503050406030204" pitchFamily="18" charset="0"/>
                            </a:rPr>
                          </m:ctrlPr>
                        </m:naryPr>
                        <m:sub>
                          <m:r>
                            <m:rPr>
                              <m:brk m:alnAt="24"/>
                            </m:rPr>
                            <a:rPr lang="en-US" i="1">
                              <a:solidFill>
                                <a:srgbClr val="0000CC"/>
                              </a:solidFill>
                              <a:latin typeface="Cambria Math" panose="02040503050406030204" pitchFamily="18" charset="0"/>
                            </a:rPr>
                            <m:t>0</m:t>
                          </m:r>
                        </m:sub>
                        <m:sup>
                          <m:r>
                            <a:rPr lang="en-US" i="1">
                              <a:solidFill>
                                <a:srgbClr val="0000CC"/>
                              </a:solidFill>
                              <a:latin typeface="Cambria Math" panose="02040503050406030204" pitchFamily="18" charset="0"/>
                            </a:rPr>
                            <m:t>𝑎</m:t>
                          </m:r>
                        </m:sup>
                        <m:e>
                          <m:r>
                            <a:rPr lang="en-US" i="1">
                              <a:solidFill>
                                <a:srgbClr val="0000CC"/>
                              </a:solidFill>
                              <a:latin typeface="Cambria Math" panose="02040503050406030204" pitchFamily="18" charset="0"/>
                            </a:rPr>
                            <m:t>𝐶</m:t>
                          </m:r>
                          <m:d>
                            <m:dPr>
                              <m:ctrlPr>
                                <a:rPr lang="en-US" i="1">
                                  <a:solidFill>
                                    <a:srgbClr val="0000CC"/>
                                  </a:solidFill>
                                  <a:latin typeface="Cambria Math" panose="02040503050406030204" pitchFamily="18" charset="0"/>
                                </a:rPr>
                              </m:ctrlPr>
                            </m:dPr>
                            <m:e>
                              <m:r>
                                <a:rPr lang="en-US" i="1">
                                  <a:solidFill>
                                    <a:srgbClr val="0000CC"/>
                                  </a:solidFill>
                                  <a:latin typeface="Cambria Math" panose="02040503050406030204" pitchFamily="18" charset="0"/>
                                </a:rPr>
                                <m:t>𝑟</m:t>
                              </m:r>
                            </m:e>
                          </m:d>
                          <m:r>
                            <a:rPr lang="en-US" i="1">
                              <a:solidFill>
                                <a:srgbClr val="0000CC"/>
                              </a:solidFill>
                              <a:latin typeface="Cambria Math" panose="02040503050406030204" pitchFamily="18" charset="0"/>
                              <a:ea typeface="Cambria Math" panose="02040503050406030204" pitchFamily="18" charset="0"/>
                            </a:rPr>
                            <m:t>∙</m:t>
                          </m:r>
                          <m:r>
                            <a:rPr lang="en-US" i="1">
                              <a:solidFill>
                                <a:srgbClr val="0000CC"/>
                              </a:solidFill>
                              <a:latin typeface="Cambria Math" panose="02040503050406030204" pitchFamily="18" charset="0"/>
                              <a:ea typeface="Cambria Math" panose="02040503050406030204" pitchFamily="18" charset="0"/>
                            </a:rPr>
                            <m:t>𝑟</m:t>
                          </m:r>
                          <m:r>
                            <a:rPr lang="en-US" i="1">
                              <a:solidFill>
                                <a:srgbClr val="0000CC"/>
                              </a:solidFill>
                              <a:latin typeface="Cambria Math" panose="02040503050406030204" pitchFamily="18" charset="0"/>
                              <a:ea typeface="Cambria Math" panose="02040503050406030204" pitchFamily="18" charset="0"/>
                            </a:rPr>
                            <m:t>∙</m:t>
                          </m:r>
                          <m:r>
                            <a:rPr lang="en-US" i="1">
                              <a:solidFill>
                                <a:srgbClr val="0000CC"/>
                              </a:solidFill>
                              <a:latin typeface="Cambria Math" panose="02040503050406030204" pitchFamily="18" charset="0"/>
                              <a:ea typeface="Cambria Math" panose="02040503050406030204" pitchFamily="18" charset="0"/>
                            </a:rPr>
                            <m:t>𝑑𝑟</m:t>
                          </m:r>
                        </m:e>
                      </m:nary>
                    </m:oMath>
                  </m:oMathPara>
                </a14:m>
                <a:endParaRPr lang="en-US" dirty="0">
                  <a:solidFill>
                    <a:srgbClr val="0000CC"/>
                  </a:solidFill>
                </a:endParaRPr>
              </a:p>
            </p:txBody>
          </p:sp>
        </mc:Choice>
        <mc:Fallback>
          <p:sp>
            <p:nvSpPr>
              <p:cNvPr id="38" name="TextBox 37">
                <a:extLst>
                  <a:ext uri="{FF2B5EF4-FFF2-40B4-BE49-F238E27FC236}">
                    <a16:creationId xmlns:a16="http://schemas.microsoft.com/office/drawing/2014/main" id="{88C3F48F-E75D-A7DA-5181-5C0B28C6D158}"/>
                  </a:ext>
                </a:extLst>
              </p:cNvPr>
              <p:cNvSpPr txBox="1">
                <a:spLocks noRot="1" noChangeAspect="1" noMove="1" noResize="1" noEditPoints="1" noAdjustHandles="1" noChangeArrowheads="1" noChangeShapeType="1" noTextEdit="1"/>
              </p:cNvSpPr>
              <p:nvPr/>
            </p:nvSpPr>
            <p:spPr>
              <a:xfrm>
                <a:off x="21064" y="3292950"/>
                <a:ext cx="3348674" cy="3157275"/>
              </a:xfrm>
              <a:prstGeom prst="rect">
                <a:avLst/>
              </a:prstGeom>
              <a:blipFill>
                <a:blip r:embed="rId3"/>
                <a:stretch>
                  <a:fillRect l="-1455" t="-772" r="-72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0E5100B6-F46C-79A1-77DF-FAFE90436111}"/>
                  </a:ext>
                </a:extLst>
              </p:cNvPr>
              <p:cNvSpPr txBox="1"/>
              <p:nvPr/>
            </p:nvSpPr>
            <p:spPr>
              <a:xfrm>
                <a:off x="3369738" y="3248483"/>
                <a:ext cx="8817112" cy="3508525"/>
              </a:xfrm>
              <a:prstGeom prst="rect">
                <a:avLst/>
              </a:prstGeom>
              <a:noFill/>
            </p:spPr>
            <p:txBody>
              <a:bodyPr wrap="square" rtlCol="0">
                <a:spAutoFit/>
              </a:bodyPr>
              <a:lstStyle/>
              <a:p>
                <a:pPr marL="285750" indent="-285750">
                  <a:buFont typeface="Arial" panose="020B0604020202020204" pitchFamily="34" charset="0"/>
                  <a:buChar char="•"/>
                </a:pPr>
                <a:r>
                  <a:rPr lang="en-US" dirty="0"/>
                  <a:t>Tracer plume will stretch downstream with centerline constituents moving the fastest</a:t>
                </a:r>
              </a:p>
              <a:p>
                <a:pPr marL="285750" indent="-285750">
                  <a:buFont typeface="Arial" panose="020B0604020202020204" pitchFamily="34" charset="0"/>
                  <a:buChar char="•"/>
                </a:pPr>
                <a:r>
                  <a:rPr lang="en-US" dirty="0"/>
                  <a:t>(Radial) diffusion allows dissolved, suspended constituents to change streamlines</a:t>
                </a:r>
              </a:p>
              <a:p>
                <a:pPr marL="285750" indent="-285750">
                  <a:buFont typeface="Arial" panose="020B0604020202020204" pitchFamily="34" charset="0"/>
                  <a:buChar char="•"/>
                </a:pPr>
                <a:r>
                  <a:rPr lang="en-US" dirty="0"/>
                  <a:t>Relative contributions of advection and diffusion are described by Peclet number (Pe)</a:t>
                </a:r>
              </a:p>
              <a:p>
                <a:pPr/>
                <a14:m>
                  <m:oMathPara xmlns:m="http://schemas.openxmlformats.org/officeDocument/2006/math">
                    <m:oMath>
                      <m:r>
                        <a:rPr lang="en-US" b="0" i="1" smtClean="0">
                          <a:latin typeface="Cambria Math" panose="02040503050406030204" pitchFamily="18" charset="0"/>
                        </a:rPr>
                        <m:t>𝑃𝑒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𝑈𝐿</m:t>
                          </m:r>
                        </m:num>
                        <m:den>
                          <m:r>
                            <a:rPr lang="en-US" b="0" i="1" smtClean="0">
                              <a:latin typeface="Cambria Math" panose="02040503050406030204" pitchFamily="18" charset="0"/>
                              <a:ea typeface="Cambria Math" panose="02040503050406030204" pitchFamily="18" charset="0"/>
                            </a:rPr>
                            <m:t>𝒟</m:t>
                          </m:r>
                        </m:den>
                      </m:f>
                    </m:oMath>
                  </m:oMathPara>
                </a14:m>
                <a:endParaRPr lang="en-US" dirty="0"/>
              </a:p>
              <a:p>
                <a:pPr marL="285750" indent="-285750">
                  <a:buFont typeface="Arial" panose="020B0604020202020204" pitchFamily="34" charset="0"/>
                  <a:buChar char="•"/>
                </a:pPr>
                <a:r>
                  <a:rPr lang="en-US" dirty="0"/>
                  <a:t>For </a:t>
                </a:r>
                <a14:m>
                  <m:oMath xmlns:m="http://schemas.openxmlformats.org/officeDocument/2006/math">
                    <m:r>
                      <a:rPr lang="en-US" b="0" i="1" smtClean="0">
                        <a:latin typeface="Cambria Math" panose="02040503050406030204" pitchFamily="18" charset="0"/>
                      </a:rPr>
                      <m:t>𝑃𝑒</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oMath>
                </a14:m>
                <a:r>
                  <a:rPr lang="en-US" dirty="0"/>
                  <a:t>, advection dominates (diffusion is ignored) (Bowers and Miller, 2025)</a:t>
                </a:r>
              </a:p>
              <a:p>
                <a:pPr marL="285750" indent="-285750">
                  <a:buFont typeface="Arial" panose="020B0604020202020204" pitchFamily="34" charset="0"/>
                  <a:buChar char="•"/>
                </a:pPr>
                <a:r>
                  <a:rPr lang="en-US" dirty="0"/>
                  <a:t>For our reactor: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=1.2</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r>
                          <a:rPr lang="en-US" b="0" i="1" smtClean="0">
                            <a:latin typeface="Cambria Math" panose="02040503050406030204" pitchFamily="18" charset="0"/>
                          </a:rPr>
                          <m:t>𝑚𝑖𝑛</m:t>
                        </m:r>
                      </m:den>
                    </m:f>
                  </m:oMath>
                </a14:m>
                <a:r>
                  <a:rPr lang="en-US" dirty="0"/>
                  <a:t>;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=1.10 </m:t>
                    </m:r>
                    <m:r>
                      <a:rPr lang="en-US" b="0" i="1" smtClean="0">
                        <a:latin typeface="Cambria Math" panose="02040503050406030204" pitchFamily="18" charset="0"/>
                      </a:rPr>
                      <m:t>𝑐𝑚</m:t>
                    </m:r>
                  </m:oMath>
                </a14:m>
                <a:r>
                  <a:rPr lang="en-US" dirty="0"/>
                  <a:t>; </a:t>
                </a:r>
                <a14:m>
                  <m:oMath xmlns:m="http://schemas.openxmlformats.org/officeDocument/2006/math">
                    <m:r>
                      <a:rPr lang="en-US" i="1">
                        <a:latin typeface="Cambria Math" panose="02040503050406030204" pitchFamily="18" charset="0"/>
                      </a:rPr>
                      <m:t>𝑈</m:t>
                    </m:r>
                    <m:r>
                      <a:rPr lang="en-US" i="1">
                        <a:latin typeface="Cambria Math" panose="02040503050406030204" pitchFamily="18" charset="0"/>
                      </a:rPr>
                      <m:t>=5.26</m:t>
                    </m:r>
                    <m:f>
                      <m:fPr>
                        <m:ctrlPr>
                          <a:rPr lang="en-US" i="1">
                            <a:latin typeface="Cambria Math" panose="02040503050406030204" pitchFamily="18" charset="0"/>
                          </a:rPr>
                        </m:ctrlPr>
                      </m:fPr>
                      <m:num>
                        <m:r>
                          <a:rPr lang="en-US" i="1">
                            <a:latin typeface="Cambria Math" panose="02040503050406030204" pitchFamily="18" charset="0"/>
                          </a:rPr>
                          <m:t>𝑐𝑚</m:t>
                        </m:r>
                      </m:num>
                      <m:den>
                        <m:r>
                          <a:rPr lang="en-US" i="1">
                            <a:latin typeface="Cambria Math" panose="02040503050406030204" pitchFamily="18" charset="0"/>
                          </a:rPr>
                          <m:t>𝑠</m:t>
                        </m:r>
                      </m:den>
                    </m:f>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=19.7 </m:t>
                    </m:r>
                    <m:r>
                      <a:rPr lang="en-US" b="0" i="1" smtClean="0">
                        <a:latin typeface="Cambria Math" panose="02040503050406030204" pitchFamily="18" charset="0"/>
                      </a:rPr>
                      <m:t>𝑐𝑚</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𝑝</m:t>
                        </m:r>
                      </m:sub>
                    </m:sSub>
                    <m:r>
                      <a:rPr lang="en-US" b="0" i="1" smtClean="0">
                        <a:latin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𝑚</m:t>
                    </m:r>
                  </m:oMath>
                </a14:m>
                <a:r>
                  <a:rPr lang="en-US" dirty="0"/>
                  <a:t>;     room T, P; aerosol  diameter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𝑚</m:t>
                    </m:r>
                  </m:oMath>
                </a14:m>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𝒟</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2.7</m:t>
                    </m:r>
                    <m:r>
                      <a:rPr lang="en-US" b="0" i="1" smtClean="0">
                        <a:latin typeface="Cambria Math" panose="02040503050406030204" pitchFamily="18" charset="0"/>
                      </a:rPr>
                      <m:t>7</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m:t>
                        </m:r>
                        <m:r>
                          <a:rPr lang="en-US" b="0" i="1" smtClean="0">
                            <a:latin typeface="Cambria Math" panose="02040503050406030204" pitchFamily="18" charset="0"/>
                          </a:rPr>
                          <m:t>7</m:t>
                        </m:r>
                      </m:sup>
                    </m:s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𝑐𝑚</m:t>
                            </m:r>
                          </m:e>
                          <m:sup>
                            <m:r>
                              <a:rPr lang="en-US" i="1">
                                <a:latin typeface="Cambria Math" panose="02040503050406030204" pitchFamily="18" charset="0"/>
                              </a:rPr>
                              <m:t>2</m:t>
                            </m:r>
                          </m:sup>
                        </m:sSup>
                      </m:num>
                      <m:den>
                        <m:r>
                          <a:rPr lang="en-US" i="1">
                            <a:latin typeface="Cambria Math" panose="02040503050406030204" pitchFamily="18" charset="0"/>
                          </a:rPr>
                          <m:t>𝑠</m:t>
                        </m:r>
                      </m:den>
                    </m:f>
                  </m:oMath>
                </a14:m>
                <a:endParaRPr lang="en-US" dirty="0"/>
              </a:p>
              <a:p>
                <a14:m>
                  <m:oMathPara xmlns:m="http://schemas.openxmlformats.org/officeDocument/2006/math">
                    <m:oMath>
                      <m:r>
                        <a:rPr lang="en-US" i="1">
                          <a:latin typeface="Cambria Math" panose="02040503050406030204" pitchFamily="18" charset="0"/>
                        </a:rPr>
                        <m:t>𝑃𝑒</m:t>
                      </m:r>
                      <m:r>
                        <a:rPr lang="en-US" i="1">
                          <a:latin typeface="Cambria Math" panose="02040503050406030204" pitchFamily="18" charset="0"/>
                        </a:rPr>
                        <m:t>=</m:t>
                      </m:r>
                      <m:f>
                        <m:fPr>
                          <m:ctrlPr>
                            <a:rPr lang="en-US"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5.26</m:t>
                              </m:r>
                              <m:f>
                                <m:fPr>
                                  <m:ctrlPr>
                                    <a:rPr lang="en-US" b="0" i="1" smtClean="0">
                                      <a:latin typeface="Cambria Math" panose="02040503050406030204" pitchFamily="18" charset="0"/>
                                    </a:rPr>
                                  </m:ctrlPr>
                                </m:fPr>
                                <m:num>
                                  <m:r>
                                    <a:rPr lang="en-US" b="0" i="1" smtClean="0">
                                      <a:latin typeface="Cambria Math" panose="02040503050406030204" pitchFamily="18" charset="0"/>
                                    </a:rPr>
                                    <m:t>𝑐𝑚</m:t>
                                  </m:r>
                                </m:num>
                                <m:den>
                                  <m:r>
                                    <a:rPr lang="en-US" b="0" i="1" smtClean="0">
                                      <a:latin typeface="Cambria Math" panose="02040503050406030204" pitchFamily="18" charset="0"/>
                                    </a:rPr>
                                    <m:t>𝑠</m:t>
                                  </m:r>
                                </m:den>
                              </m:f>
                            </m:e>
                          </m:d>
                          <m:d>
                            <m:dPr>
                              <m:ctrlPr>
                                <a:rPr lang="en-US" b="0" i="1" smtClean="0">
                                  <a:latin typeface="Cambria Math" panose="02040503050406030204" pitchFamily="18" charset="0"/>
                                </a:rPr>
                              </m:ctrlPr>
                            </m:dPr>
                            <m:e>
                              <m:r>
                                <a:rPr lang="en-US" b="0" i="1" smtClean="0">
                                  <a:latin typeface="Cambria Math" panose="02040503050406030204" pitchFamily="18" charset="0"/>
                                </a:rPr>
                                <m:t>19.7 </m:t>
                              </m:r>
                              <m:r>
                                <a:rPr lang="en-US" b="0" i="1" smtClean="0">
                                  <a:latin typeface="Cambria Math" panose="02040503050406030204" pitchFamily="18" charset="0"/>
                                </a:rPr>
                                <m:t>𝑐𝑚</m:t>
                              </m:r>
                            </m:e>
                          </m:d>
                        </m:num>
                        <m:den>
                          <m:d>
                            <m:dPr>
                              <m:ctrlPr>
                                <a:rPr lang="en-US" i="1">
                                  <a:latin typeface="Cambria Math" panose="02040503050406030204" pitchFamily="18" charset="0"/>
                                </a:rPr>
                              </m:ctrlPr>
                            </m:dPr>
                            <m:e>
                              <m:r>
                                <a:rPr lang="en-US" i="1">
                                  <a:latin typeface="Cambria Math" panose="02040503050406030204" pitchFamily="18" charset="0"/>
                                </a:rPr>
                                <m:t>2.77 </m:t>
                              </m:r>
                              <m:r>
                                <a:rPr lang="en-US" i="1">
                                  <a:latin typeface="Cambria Math" panose="02040503050406030204" pitchFamily="18" charset="0"/>
                                </a:rPr>
                                <m:t>𝑥</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−7</m:t>
                                  </m:r>
                                </m:sup>
                              </m:sSup>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𝑐𝑚</m:t>
                                      </m:r>
                                    </m:e>
                                    <m:sup>
                                      <m:r>
                                        <a:rPr lang="en-US" i="1">
                                          <a:latin typeface="Cambria Math" panose="02040503050406030204" pitchFamily="18" charset="0"/>
                                        </a:rPr>
                                        <m:t>2</m:t>
                                      </m:r>
                                    </m:sup>
                                  </m:sSup>
                                </m:num>
                                <m:den>
                                  <m:r>
                                    <a:rPr lang="en-US" i="1">
                                      <a:latin typeface="Cambria Math" panose="02040503050406030204" pitchFamily="18" charset="0"/>
                                    </a:rPr>
                                    <m:t>𝑠</m:t>
                                  </m:r>
                                </m:den>
                              </m:f>
                            </m:e>
                          </m:d>
                        </m:den>
                      </m:f>
                      <m:r>
                        <a:rPr lang="en-US" b="0" i="1" smtClean="0">
                          <a:latin typeface="Cambria Math" panose="02040503050406030204" pitchFamily="18" charset="0"/>
                          <a:ea typeface="Cambria Math" panose="02040503050406030204" pitchFamily="18" charset="0"/>
                        </a:rPr>
                        <m:t>=3.74</m:t>
                      </m:r>
                      <m:r>
                        <a:rPr lang="en-US" b="0" i="1" smtClean="0">
                          <a:latin typeface="Cambria Math" panose="02040503050406030204" pitchFamily="18" charset="0"/>
                          <a:ea typeface="Cambria Math" panose="02040503050406030204" pitchFamily="18" charset="0"/>
                        </a:rPr>
                        <m:t>𝑥</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8</m:t>
                          </m:r>
                        </m:sup>
                      </m:sSup>
                    </m:oMath>
                  </m:oMathPara>
                </a14:m>
                <a:endParaRPr lang="en-US" dirty="0"/>
              </a:p>
            </p:txBody>
          </p:sp>
        </mc:Choice>
        <mc:Fallback>
          <p:sp>
            <p:nvSpPr>
              <p:cNvPr id="39" name="TextBox 38">
                <a:extLst>
                  <a:ext uri="{FF2B5EF4-FFF2-40B4-BE49-F238E27FC236}">
                    <a16:creationId xmlns:a16="http://schemas.microsoft.com/office/drawing/2014/main" id="{0E5100B6-F46C-79A1-77DF-FAFE90436111}"/>
                  </a:ext>
                </a:extLst>
              </p:cNvPr>
              <p:cNvSpPr txBox="1">
                <a:spLocks noRot="1" noChangeAspect="1" noMove="1" noResize="1" noEditPoints="1" noAdjustHandles="1" noChangeArrowheads="1" noChangeShapeType="1" noTextEdit="1"/>
              </p:cNvSpPr>
              <p:nvPr/>
            </p:nvSpPr>
            <p:spPr>
              <a:xfrm>
                <a:off x="3369738" y="3248483"/>
                <a:ext cx="8817112" cy="3508525"/>
              </a:xfrm>
              <a:prstGeom prst="rect">
                <a:avLst/>
              </a:prstGeom>
              <a:blipFill>
                <a:blip r:embed="rId4"/>
                <a:stretch>
                  <a:fillRect l="-484" t="-870" r="-415"/>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7EB144D2-4C9F-3BB6-912A-9670A5600CC1}"/>
              </a:ext>
            </a:extLst>
          </p:cNvPr>
          <p:cNvCxnSpPr/>
          <p:nvPr/>
        </p:nvCxnSpPr>
        <p:spPr>
          <a:xfrm>
            <a:off x="2196018"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sp>
        <p:nvSpPr>
          <p:cNvPr id="12" name="Freeform: Shape 11">
            <a:extLst>
              <a:ext uri="{FF2B5EF4-FFF2-40B4-BE49-F238E27FC236}">
                <a16:creationId xmlns:a16="http://schemas.microsoft.com/office/drawing/2014/main" id="{8D46DB60-257C-10C7-5B20-7223D1086A92}"/>
              </a:ext>
            </a:extLst>
          </p:cNvPr>
          <p:cNvSpPr/>
          <p:nvPr/>
        </p:nvSpPr>
        <p:spPr>
          <a:xfrm>
            <a:off x="2194964" y="1674355"/>
            <a:ext cx="394935" cy="818984"/>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686D449-96A7-0537-4BAB-1E14ACE8CD25}"/>
              </a:ext>
            </a:extLst>
          </p:cNvPr>
          <p:cNvSpPr/>
          <p:nvPr/>
        </p:nvSpPr>
        <p:spPr>
          <a:xfrm>
            <a:off x="2227583" y="1676613"/>
            <a:ext cx="623786" cy="818984"/>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115D4AA-7DF2-2616-4738-9479D3D67518}"/>
              </a:ext>
            </a:extLst>
          </p:cNvPr>
          <p:cNvSpPr/>
          <p:nvPr/>
        </p:nvSpPr>
        <p:spPr>
          <a:xfrm>
            <a:off x="2224658" y="1680937"/>
            <a:ext cx="1058563" cy="818984"/>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 name="Straight Connector 1">
            <a:extLst>
              <a:ext uri="{FF2B5EF4-FFF2-40B4-BE49-F238E27FC236}">
                <a16:creationId xmlns:a16="http://schemas.microsoft.com/office/drawing/2014/main" id="{91179C2C-2890-0C73-FF6D-24B0ECEA5BC5}"/>
              </a:ext>
            </a:extLst>
          </p:cNvPr>
          <p:cNvCxnSpPr/>
          <p:nvPr/>
        </p:nvCxnSpPr>
        <p:spPr>
          <a:xfrm>
            <a:off x="2108271"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7EADF078-B994-69E8-775B-A7232BDCF1F2}"/>
              </a:ext>
            </a:extLst>
          </p:cNvPr>
          <p:cNvCxnSpPr/>
          <p:nvPr/>
        </p:nvCxnSpPr>
        <p:spPr>
          <a:xfrm>
            <a:off x="2025144"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DC6965-0A40-1C37-F737-9D555FDF9507}"/>
              </a:ext>
            </a:extLst>
          </p:cNvPr>
          <p:cNvCxnSpPr/>
          <p:nvPr/>
        </p:nvCxnSpPr>
        <p:spPr>
          <a:xfrm>
            <a:off x="1946633"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AB4B147-96D8-E9A0-5816-F0DD3994C7E5}"/>
              </a:ext>
            </a:extLst>
          </p:cNvPr>
          <p:cNvCxnSpPr/>
          <p:nvPr/>
        </p:nvCxnSpPr>
        <p:spPr>
          <a:xfrm>
            <a:off x="1858890"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112B4CFC-CF2E-99EC-0E77-420FF84456FA}"/>
              </a:ext>
            </a:extLst>
          </p:cNvPr>
          <p:cNvCxnSpPr/>
          <p:nvPr/>
        </p:nvCxnSpPr>
        <p:spPr>
          <a:xfrm>
            <a:off x="1780379"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F42760D-2E7F-14F4-F70D-237515C26040}"/>
              </a:ext>
            </a:extLst>
          </p:cNvPr>
          <p:cNvCxnSpPr/>
          <p:nvPr/>
        </p:nvCxnSpPr>
        <p:spPr>
          <a:xfrm>
            <a:off x="1697252"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A2FF50F-0680-8885-1DC3-2ABDEF2E4B83}"/>
              </a:ext>
            </a:extLst>
          </p:cNvPr>
          <p:cNvCxnSpPr/>
          <p:nvPr/>
        </p:nvCxnSpPr>
        <p:spPr>
          <a:xfrm>
            <a:off x="1609505"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2138626-10B9-43BA-9BC9-2734D14E4459}"/>
              </a:ext>
            </a:extLst>
          </p:cNvPr>
          <p:cNvCxnSpPr/>
          <p:nvPr/>
        </p:nvCxnSpPr>
        <p:spPr>
          <a:xfrm>
            <a:off x="1532541"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59CF067-B69F-C608-FB2C-C4F16FF3C22D}"/>
              </a:ext>
            </a:extLst>
          </p:cNvPr>
          <p:cNvCxnSpPr/>
          <p:nvPr/>
        </p:nvCxnSpPr>
        <p:spPr>
          <a:xfrm>
            <a:off x="1444794"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48A7BBD-0979-6F8D-56F6-7A22D34F1467}"/>
              </a:ext>
            </a:extLst>
          </p:cNvPr>
          <p:cNvCxnSpPr/>
          <p:nvPr/>
        </p:nvCxnSpPr>
        <p:spPr>
          <a:xfrm>
            <a:off x="1361667"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0DF114B-31AC-77B1-5AC7-59F663F51A5F}"/>
              </a:ext>
            </a:extLst>
          </p:cNvPr>
          <p:cNvCxnSpPr/>
          <p:nvPr/>
        </p:nvCxnSpPr>
        <p:spPr>
          <a:xfrm>
            <a:off x="1283156"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47D2B889-22DA-C8A1-F03B-846929CD9CC0}"/>
              </a:ext>
            </a:extLst>
          </p:cNvPr>
          <p:cNvCxnSpPr/>
          <p:nvPr/>
        </p:nvCxnSpPr>
        <p:spPr>
          <a:xfrm>
            <a:off x="1204938"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E20EAC8A-FFE3-046D-8655-2506BAC91135}"/>
              </a:ext>
            </a:extLst>
          </p:cNvPr>
          <p:cNvCxnSpPr/>
          <p:nvPr/>
        </p:nvCxnSpPr>
        <p:spPr>
          <a:xfrm>
            <a:off x="1116902"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8BC6FC9-A2D2-38CB-BBA6-30861DF239B2}"/>
              </a:ext>
            </a:extLst>
          </p:cNvPr>
          <p:cNvCxnSpPr/>
          <p:nvPr/>
        </p:nvCxnSpPr>
        <p:spPr>
          <a:xfrm>
            <a:off x="1033775"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7A4CB82-B474-309D-C822-8FF3D00B186B}"/>
              </a:ext>
            </a:extLst>
          </p:cNvPr>
          <p:cNvCxnSpPr/>
          <p:nvPr/>
        </p:nvCxnSpPr>
        <p:spPr>
          <a:xfrm>
            <a:off x="946028" y="1672289"/>
            <a:ext cx="0" cy="813724"/>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sp>
        <p:nvSpPr>
          <p:cNvPr id="42" name="Freeform: Shape 41">
            <a:extLst>
              <a:ext uri="{FF2B5EF4-FFF2-40B4-BE49-F238E27FC236}">
                <a16:creationId xmlns:a16="http://schemas.microsoft.com/office/drawing/2014/main" id="{7AF51DC5-1F1A-8CCE-3466-848393808120}"/>
              </a:ext>
            </a:extLst>
          </p:cNvPr>
          <p:cNvSpPr/>
          <p:nvPr/>
        </p:nvSpPr>
        <p:spPr>
          <a:xfrm>
            <a:off x="2242203" y="1687373"/>
            <a:ext cx="1576337" cy="818984"/>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9">
            <a:extLst>
              <a:ext uri="{FF2B5EF4-FFF2-40B4-BE49-F238E27FC236}">
                <a16:creationId xmlns:a16="http://schemas.microsoft.com/office/drawing/2014/main" id="{7D1AA46A-BCFE-5B78-24AC-CD163A6562C2}"/>
              </a:ext>
            </a:extLst>
          </p:cNvPr>
          <p:cNvSpPr>
            <a:spLocks noGrp="1"/>
          </p:cNvSpPr>
          <p:nvPr>
            <p:ph type="sldNum" sz="quarter" idx="12"/>
          </p:nvPr>
        </p:nvSpPr>
        <p:spPr/>
        <p:txBody>
          <a:bodyPr/>
          <a:lstStyle/>
          <a:p>
            <a:fld id="{34765577-9A70-4B44-A463-20938F747DD0}" type="slidenum">
              <a:rPr lang="en-US" smtClean="0"/>
              <a:t>9</a:t>
            </a:fld>
            <a:endParaRPr lang="en-US"/>
          </a:p>
        </p:txBody>
      </p:sp>
    </p:spTree>
    <p:extLst>
      <p:ext uri="{BB962C8B-B14F-4D97-AF65-F5344CB8AC3E}">
        <p14:creationId xmlns:p14="http://schemas.microsoft.com/office/powerpoint/2010/main" val="191819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0-#ppt_w/2"/>
                                          </p:val>
                                        </p:tav>
                                        <p:tav tm="100000">
                                          <p:val>
                                            <p:strVal val="#ppt_x"/>
                                          </p:val>
                                        </p:tav>
                                      </p:tavLst>
                                    </p:anim>
                                    <p:anim calcmode="lin" valueType="num">
                                      <p:cBhvr additive="base">
                                        <p:cTn id="20"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additive="base">
                                        <p:cTn id="25" dur="500" fill="hold"/>
                                        <p:tgtEl>
                                          <p:spTgt spid="42"/>
                                        </p:tgtEl>
                                        <p:attrNameLst>
                                          <p:attrName>ppt_x</p:attrName>
                                        </p:attrNameLst>
                                      </p:cBhvr>
                                      <p:tavLst>
                                        <p:tav tm="0">
                                          <p:val>
                                            <p:strVal val="0-#ppt_w/2"/>
                                          </p:val>
                                        </p:tav>
                                        <p:tav tm="100000">
                                          <p:val>
                                            <p:strVal val="#ppt_x"/>
                                          </p:val>
                                        </p:tav>
                                      </p:tavLst>
                                    </p:anim>
                                    <p:anim calcmode="lin" valueType="num">
                                      <p:cBhvr additive="base">
                                        <p:cTn id="26"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xEl>
                                              <p:pRg st="0" end="0"/>
                                            </p:txEl>
                                          </p:spTgt>
                                        </p:tgtEl>
                                        <p:attrNameLst>
                                          <p:attrName>style.visibility</p:attrName>
                                        </p:attrNameLst>
                                      </p:cBhvr>
                                      <p:to>
                                        <p:strVal val="visible"/>
                                      </p:to>
                                    </p:set>
                                    <p:animEffect transition="in" filter="fade">
                                      <p:cBhvr>
                                        <p:cTn id="31" dur="500"/>
                                        <p:tgtEl>
                                          <p:spTgt spid="39">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9">
                                            <p:txEl>
                                              <p:pRg st="1" end="1"/>
                                            </p:txEl>
                                          </p:spTgt>
                                        </p:tgtEl>
                                        <p:attrNameLst>
                                          <p:attrName>style.visibility</p:attrName>
                                        </p:attrNameLst>
                                      </p:cBhvr>
                                      <p:to>
                                        <p:strVal val="visible"/>
                                      </p:to>
                                    </p:set>
                                    <p:animEffect transition="in" filter="fade">
                                      <p:cBhvr>
                                        <p:cTn id="36" dur="500"/>
                                        <p:tgtEl>
                                          <p:spTgt spid="39">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9">
                                            <p:txEl>
                                              <p:pRg st="2" end="2"/>
                                            </p:txEl>
                                          </p:spTgt>
                                        </p:tgtEl>
                                        <p:attrNameLst>
                                          <p:attrName>style.visibility</p:attrName>
                                        </p:attrNameLst>
                                      </p:cBhvr>
                                      <p:to>
                                        <p:strVal val="visible"/>
                                      </p:to>
                                    </p:set>
                                    <p:animEffect transition="in" filter="fade">
                                      <p:cBhvr>
                                        <p:cTn id="41" dur="500"/>
                                        <p:tgtEl>
                                          <p:spTgt spid="39">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9">
                                            <p:txEl>
                                              <p:pRg st="3" end="3"/>
                                            </p:txEl>
                                          </p:spTgt>
                                        </p:tgtEl>
                                        <p:attrNameLst>
                                          <p:attrName>style.visibility</p:attrName>
                                        </p:attrNameLst>
                                      </p:cBhvr>
                                      <p:to>
                                        <p:strVal val="visible"/>
                                      </p:to>
                                    </p:set>
                                    <p:animEffect transition="in" filter="fade">
                                      <p:cBhvr>
                                        <p:cTn id="46" dur="500"/>
                                        <p:tgtEl>
                                          <p:spTgt spid="39">
                                            <p:txEl>
                                              <p:pRg st="3" end="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9">
                                            <p:txEl>
                                              <p:pRg st="4" end="4"/>
                                            </p:txEl>
                                          </p:spTgt>
                                        </p:tgtEl>
                                        <p:attrNameLst>
                                          <p:attrName>style.visibility</p:attrName>
                                        </p:attrNameLst>
                                      </p:cBhvr>
                                      <p:to>
                                        <p:strVal val="visible"/>
                                      </p:to>
                                    </p:set>
                                    <p:animEffect transition="in" filter="fade">
                                      <p:cBhvr>
                                        <p:cTn id="51" dur="500"/>
                                        <p:tgtEl>
                                          <p:spTgt spid="39">
                                            <p:txEl>
                                              <p:pRg st="4" end="4"/>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9">
                                            <p:txEl>
                                              <p:pRg st="5" end="5"/>
                                            </p:txEl>
                                          </p:spTgt>
                                        </p:tgtEl>
                                        <p:attrNameLst>
                                          <p:attrName>style.visibility</p:attrName>
                                        </p:attrNameLst>
                                      </p:cBhvr>
                                      <p:to>
                                        <p:strVal val="visible"/>
                                      </p:to>
                                    </p:set>
                                    <p:animEffect transition="in" filter="fade">
                                      <p:cBhvr>
                                        <p:cTn id="56" dur="500"/>
                                        <p:tgtEl>
                                          <p:spTgt spid="39">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39">
                                            <p:txEl>
                                              <p:pRg st="6" end="6"/>
                                            </p:txEl>
                                          </p:spTgt>
                                        </p:tgtEl>
                                        <p:attrNameLst>
                                          <p:attrName>style.visibility</p:attrName>
                                        </p:attrNameLst>
                                      </p:cBhvr>
                                      <p:to>
                                        <p:strVal val="visible"/>
                                      </p:to>
                                    </p:set>
                                    <p:animEffect transition="in" filter="fade">
                                      <p:cBhvr>
                                        <p:cTn id="61" dur="500"/>
                                        <p:tgtEl>
                                          <p:spTgt spid="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6" grpId="0" animBg="1"/>
      <p:bldP spid="4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556EA3-6AE2-AD97-F13B-1537BC9DB4D4}"/>
              </a:ext>
            </a:extLst>
          </p:cNvPr>
          <p:cNvSpPr>
            <a:spLocks noGrp="1"/>
          </p:cNvSpPr>
          <p:nvPr>
            <p:ph type="title"/>
          </p:nvPr>
        </p:nvSpPr>
        <p:spPr/>
        <p:txBody>
          <a:bodyPr/>
          <a:lstStyle/>
          <a:p>
            <a:pPr algn="ctr"/>
            <a:r>
              <a:rPr lang="en-US" dirty="0">
                <a:solidFill>
                  <a:srgbClr val="0000CC"/>
                </a:solidFill>
              </a:rPr>
              <a:t>Properties of Challenge Agents</a:t>
            </a:r>
          </a:p>
        </p:txBody>
      </p:sp>
      <p:sp>
        <p:nvSpPr>
          <p:cNvPr id="2" name="Slide Number Placeholder 1">
            <a:extLst>
              <a:ext uri="{FF2B5EF4-FFF2-40B4-BE49-F238E27FC236}">
                <a16:creationId xmlns:a16="http://schemas.microsoft.com/office/drawing/2014/main" id="{602CCA07-2D4D-B277-E781-94EF77663CD2}"/>
              </a:ext>
            </a:extLst>
          </p:cNvPr>
          <p:cNvSpPr>
            <a:spLocks noGrp="1"/>
          </p:cNvSpPr>
          <p:nvPr>
            <p:ph type="sldNum" sz="quarter" idx="12"/>
          </p:nvPr>
        </p:nvSpPr>
        <p:spPr/>
        <p:txBody>
          <a:bodyPr/>
          <a:lstStyle/>
          <a:p>
            <a:fld id="{34765577-9A70-4B44-A463-20938F747DD0}" type="slidenum">
              <a:rPr lang="en-US" smtClean="0"/>
              <a:t>10</a:t>
            </a:fld>
            <a:endParaRPr lang="en-US"/>
          </a:p>
        </p:txBody>
      </p:sp>
      <p:graphicFrame>
        <p:nvGraphicFramePr>
          <p:cNvPr id="6" name="Object 5">
            <a:extLst>
              <a:ext uri="{FF2B5EF4-FFF2-40B4-BE49-F238E27FC236}">
                <a16:creationId xmlns:a16="http://schemas.microsoft.com/office/drawing/2014/main" id="{8C5F9095-3B0C-A536-DCB0-94B0786D839C}"/>
              </a:ext>
            </a:extLst>
          </p:cNvPr>
          <p:cNvGraphicFramePr>
            <a:graphicFrameLocks noChangeAspect="1"/>
          </p:cNvGraphicFramePr>
          <p:nvPr>
            <p:extLst>
              <p:ext uri="{D42A27DB-BD31-4B8C-83A1-F6EECF244321}">
                <p14:modId xmlns:p14="http://schemas.microsoft.com/office/powerpoint/2010/main" val="1067734463"/>
              </p:ext>
            </p:extLst>
          </p:nvPr>
        </p:nvGraphicFramePr>
        <p:xfrm>
          <a:off x="1982788" y="1487045"/>
          <a:ext cx="8228012" cy="4660900"/>
        </p:xfrm>
        <a:graphic>
          <a:graphicData uri="http://schemas.openxmlformats.org/presentationml/2006/ole">
            <mc:AlternateContent xmlns:mc="http://schemas.openxmlformats.org/markup-compatibility/2006">
              <mc:Choice xmlns:v="urn:schemas-microsoft-com:vml" Requires="v">
                <p:oleObj name="Document" r:id="rId2" imgW="8241399" imgH="4668118" progId="Word.Document.12">
                  <p:embed/>
                </p:oleObj>
              </mc:Choice>
              <mc:Fallback>
                <p:oleObj name="Document" r:id="rId2" imgW="8241399" imgH="4668118" progId="Word.Document.12">
                  <p:embed/>
                  <p:pic>
                    <p:nvPicPr>
                      <p:cNvPr id="6" name="Object 5">
                        <a:extLst>
                          <a:ext uri="{FF2B5EF4-FFF2-40B4-BE49-F238E27FC236}">
                            <a16:creationId xmlns:a16="http://schemas.microsoft.com/office/drawing/2014/main" id="{8C5F9095-3B0C-A536-DCB0-94B0786D839C}"/>
                          </a:ext>
                        </a:extLst>
                      </p:cNvPr>
                      <p:cNvPicPr/>
                      <p:nvPr/>
                    </p:nvPicPr>
                    <p:blipFill>
                      <a:blip r:embed="rId3"/>
                      <a:stretch>
                        <a:fillRect/>
                      </a:stretch>
                    </p:blipFill>
                    <p:spPr>
                      <a:xfrm>
                        <a:off x="1982788" y="1487045"/>
                        <a:ext cx="8228012" cy="46609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F8A27E0F-F9B2-942B-8FAB-26F144DD9D79}"/>
              </a:ext>
            </a:extLst>
          </p:cNvPr>
          <p:cNvSpPr txBox="1"/>
          <p:nvPr/>
        </p:nvSpPr>
        <p:spPr>
          <a:xfrm>
            <a:off x="6396606" y="5931017"/>
            <a:ext cx="769763" cy="523220"/>
          </a:xfrm>
          <a:prstGeom prst="rect">
            <a:avLst/>
          </a:prstGeom>
          <a:noFill/>
        </p:spPr>
        <p:txBody>
          <a:bodyPr wrap="none" rtlCol="0">
            <a:spAutoFit/>
          </a:bodyPr>
          <a:lstStyle/>
          <a:p>
            <a:pPr algn="ctr"/>
            <a:r>
              <a:rPr lang="en-US" sz="1400" dirty="0">
                <a:solidFill>
                  <a:srgbClr val="FF0000"/>
                </a:solidFill>
              </a:rPr>
              <a:t>Room T</a:t>
            </a:r>
          </a:p>
          <a:p>
            <a:pPr algn="ctr"/>
            <a:r>
              <a:rPr lang="en-US" sz="1400" dirty="0">
                <a:solidFill>
                  <a:srgbClr val="FF0000"/>
                </a:solidFill>
              </a:rPr>
              <a:t>In Air</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F7B7CD-2AF8-78ED-AD4B-2E7A7150EC7B}"/>
                  </a:ext>
                </a:extLst>
              </p:cNvPr>
              <p:cNvSpPr txBox="1"/>
              <p:nvPr/>
            </p:nvSpPr>
            <p:spPr>
              <a:xfrm>
                <a:off x="7279617" y="5976510"/>
                <a:ext cx="684866" cy="432234"/>
              </a:xfrm>
              <a:prstGeom prst="rect">
                <a:avLst/>
              </a:prstGeom>
              <a:noFill/>
            </p:spPr>
            <p:txBody>
              <a:bodyPr wrap="none" lIns="0" tIns="0" rIns="0" bIns="0" rtlCol="0">
                <a:spAutoFit/>
              </a:bodyPr>
              <a:lstStyle/>
              <a:p>
                <a:pPr/>
                <a14:m>
                  <m:oMathPara xmlns:m="http://schemas.openxmlformats.org/officeDocument/2006/math">
                    <m:oMath>
                      <m:r>
                        <a:rPr lang="en-US" sz="1400" b="0" i="1" smtClean="0">
                          <a:solidFill>
                            <a:srgbClr val="FF0000"/>
                          </a:solidFill>
                          <a:latin typeface="Cambria Math" panose="02040503050406030204" pitchFamily="18" charset="0"/>
                        </a:rPr>
                        <m:t>208</m:t>
                      </m:r>
                      <m:f>
                        <m:fPr>
                          <m:ctrlPr>
                            <a:rPr lang="en-US" sz="1400" b="0" i="1" smtClean="0">
                              <a:solidFill>
                                <a:srgbClr val="FF0000"/>
                              </a:solidFill>
                              <a:latin typeface="Cambria Math" panose="02040503050406030204" pitchFamily="18" charset="0"/>
                            </a:rPr>
                          </m:ctrlPr>
                        </m:fPr>
                        <m:num>
                          <m:sSup>
                            <m:sSupPr>
                              <m:ctrlPr>
                                <a:rPr lang="en-US" sz="1400" b="0" i="1" smtClean="0">
                                  <a:solidFill>
                                    <a:srgbClr val="FF0000"/>
                                  </a:solidFill>
                                  <a:latin typeface="Cambria Math" panose="02040503050406030204" pitchFamily="18" charset="0"/>
                                </a:rPr>
                              </m:ctrlPr>
                            </m:sSupPr>
                            <m:e>
                              <m:r>
                                <a:rPr lang="en-US" sz="1400" b="0" i="1" smtClean="0">
                                  <a:solidFill>
                                    <a:srgbClr val="FF0000"/>
                                  </a:solidFill>
                                  <a:latin typeface="Cambria Math" panose="02040503050406030204" pitchFamily="18" charset="0"/>
                                </a:rPr>
                                <m:t>𝑐𝑚</m:t>
                              </m:r>
                            </m:e>
                            <m:sup>
                              <m:r>
                                <a:rPr lang="en-US" sz="1400" b="0" i="1" smtClean="0">
                                  <a:solidFill>
                                    <a:srgbClr val="FF0000"/>
                                  </a:solidFill>
                                  <a:latin typeface="Cambria Math" panose="02040503050406030204" pitchFamily="18" charset="0"/>
                                </a:rPr>
                                <m:t>3</m:t>
                              </m:r>
                            </m:sup>
                          </m:sSup>
                        </m:num>
                        <m:den>
                          <m:r>
                            <a:rPr lang="en-US" sz="1400" b="0" i="1" smtClean="0">
                              <a:solidFill>
                                <a:srgbClr val="FF0000"/>
                              </a:solidFill>
                              <a:latin typeface="Cambria Math" panose="02040503050406030204" pitchFamily="18" charset="0"/>
                            </a:rPr>
                            <m:t>𝑚𝑖𝑛</m:t>
                          </m:r>
                        </m:den>
                      </m:f>
                    </m:oMath>
                  </m:oMathPara>
                </a14:m>
                <a:endParaRPr lang="en-US" sz="1400" dirty="0"/>
              </a:p>
            </p:txBody>
          </p:sp>
        </mc:Choice>
        <mc:Fallback xmlns="">
          <p:sp>
            <p:nvSpPr>
              <p:cNvPr id="10" name="TextBox 9">
                <a:extLst>
                  <a:ext uri="{FF2B5EF4-FFF2-40B4-BE49-F238E27FC236}">
                    <a16:creationId xmlns:a16="http://schemas.microsoft.com/office/drawing/2014/main" id="{8DF7B7CD-2AF8-78ED-AD4B-2E7A7150EC7B}"/>
                  </a:ext>
                </a:extLst>
              </p:cNvPr>
              <p:cNvSpPr txBox="1">
                <a:spLocks noRot="1" noChangeAspect="1" noMove="1" noResize="1" noEditPoints="1" noAdjustHandles="1" noChangeArrowheads="1" noChangeShapeType="1" noTextEdit="1"/>
              </p:cNvSpPr>
              <p:nvPr/>
            </p:nvSpPr>
            <p:spPr>
              <a:xfrm>
                <a:off x="7279617" y="5976510"/>
                <a:ext cx="684866" cy="432234"/>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46B9C642-E07C-8279-CF3F-D2A02AA8A5CF}"/>
              </a:ext>
            </a:extLst>
          </p:cNvPr>
          <p:cNvSpPr txBox="1"/>
          <p:nvPr/>
        </p:nvSpPr>
        <p:spPr>
          <a:xfrm>
            <a:off x="9202076" y="5969655"/>
            <a:ext cx="916469" cy="307777"/>
          </a:xfrm>
          <a:prstGeom prst="rect">
            <a:avLst/>
          </a:prstGeom>
          <a:noFill/>
        </p:spPr>
        <p:txBody>
          <a:bodyPr wrap="none" rtlCol="0">
            <a:spAutoFit/>
          </a:bodyPr>
          <a:lstStyle/>
          <a:p>
            <a:pPr algn="ctr"/>
            <a:r>
              <a:rPr lang="en-US" sz="1400" dirty="0">
                <a:solidFill>
                  <a:srgbClr val="FF0000"/>
                </a:solidFill>
              </a:rPr>
              <a:t>Assumed</a:t>
            </a:r>
          </a:p>
        </p:txBody>
      </p:sp>
    </p:spTree>
    <p:extLst>
      <p:ext uri="{BB962C8B-B14F-4D97-AF65-F5344CB8AC3E}">
        <p14:creationId xmlns:p14="http://schemas.microsoft.com/office/powerpoint/2010/main" val="378385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6170-2953-76B2-DF84-987155C33CBB}"/>
              </a:ext>
            </a:extLst>
          </p:cNvPr>
          <p:cNvSpPr>
            <a:spLocks noGrp="1"/>
          </p:cNvSpPr>
          <p:nvPr>
            <p:ph type="title"/>
          </p:nvPr>
        </p:nvSpPr>
        <p:spPr>
          <a:xfrm>
            <a:off x="838200" y="136525"/>
            <a:ext cx="10515600" cy="813326"/>
          </a:xfrm>
        </p:spPr>
        <p:txBody>
          <a:bodyPr/>
          <a:lstStyle/>
          <a:p>
            <a:pPr algn="ctr"/>
            <a:r>
              <a:rPr lang="en-US" dirty="0">
                <a:solidFill>
                  <a:srgbClr val="0000CC"/>
                </a:solidFill>
              </a:rPr>
              <a:t>Transport Behavior in Circular Tube</a:t>
            </a:r>
          </a:p>
        </p:txBody>
      </p:sp>
      <p:sp>
        <p:nvSpPr>
          <p:cNvPr id="3" name="Content Placeholder 2">
            <a:extLst>
              <a:ext uri="{FF2B5EF4-FFF2-40B4-BE49-F238E27FC236}">
                <a16:creationId xmlns:a16="http://schemas.microsoft.com/office/drawing/2014/main" id="{70CA5BF7-9500-8035-C752-134DA16A097F}"/>
              </a:ext>
            </a:extLst>
          </p:cNvPr>
          <p:cNvSpPr>
            <a:spLocks noGrp="1"/>
          </p:cNvSpPr>
          <p:nvPr>
            <p:ph sz="half" idx="1"/>
          </p:nvPr>
        </p:nvSpPr>
        <p:spPr>
          <a:xfrm>
            <a:off x="275869" y="949851"/>
            <a:ext cx="5181600" cy="5771624"/>
          </a:xfrm>
        </p:spPr>
        <p:txBody>
          <a:bodyPr>
            <a:normAutofit fontScale="92500" lnSpcReduction="20000"/>
          </a:bodyPr>
          <a:lstStyle/>
          <a:p>
            <a:r>
              <a:rPr lang="en-US" dirty="0"/>
              <a:t>Diffusivity of aerosols is </a:t>
            </a:r>
            <a:r>
              <a:rPr lang="en-US" dirty="0">
                <a:sym typeface="Symbol" panose="05050102010706020507" pitchFamily="18" charset="2"/>
              </a:rPr>
              <a:t>5 orders of magnitude smaller than gas-phase actinometer molecules</a:t>
            </a:r>
          </a:p>
          <a:p>
            <a:r>
              <a:rPr lang="en-US" dirty="0">
                <a:sym typeface="Symbol" panose="05050102010706020507" pitchFamily="18" charset="2"/>
              </a:rPr>
              <a:t>Diffusion (radial) of aerosols can be neglected in analysis of transport behavior (dominated by advection); diffusion of gases must be considered</a:t>
            </a:r>
          </a:p>
          <a:p>
            <a:r>
              <a:rPr lang="en-US" dirty="0">
                <a:sym typeface="Symbol" panose="05050102010706020507" pitchFamily="18" charset="2"/>
              </a:rPr>
              <a:t>Transport behavior of challenge agents will depend on diffusivity</a:t>
            </a:r>
          </a:p>
          <a:p>
            <a:pPr lvl="1"/>
            <a:r>
              <a:rPr lang="en-US" dirty="0">
                <a:sym typeface="Symbol" panose="05050102010706020507" pitchFamily="18" charset="2"/>
              </a:rPr>
              <a:t>Aerosols are non-diffusing</a:t>
            </a:r>
          </a:p>
          <a:p>
            <a:pPr lvl="1"/>
            <a:r>
              <a:rPr lang="en-US" dirty="0">
                <a:sym typeface="Symbol" panose="05050102010706020507" pitchFamily="18" charset="2"/>
              </a:rPr>
              <a:t>Gas-phase actinometers are all very similar</a:t>
            </a:r>
          </a:p>
          <a:p>
            <a:r>
              <a:rPr lang="en-US" dirty="0">
                <a:sym typeface="Symbol" panose="05050102010706020507" pitchFamily="18" charset="2"/>
              </a:rPr>
              <a:t>Transport behavior must be accounted for in analysis of photochemical reactor behavior</a:t>
            </a:r>
            <a:endParaRPr lang="en-US" dirty="0"/>
          </a:p>
        </p:txBody>
      </p:sp>
      <p:sp>
        <p:nvSpPr>
          <p:cNvPr id="5" name="Slide Number Placeholder 4">
            <a:extLst>
              <a:ext uri="{FF2B5EF4-FFF2-40B4-BE49-F238E27FC236}">
                <a16:creationId xmlns:a16="http://schemas.microsoft.com/office/drawing/2014/main" id="{F6F5928A-70F8-9524-4129-579F9504B2BA}"/>
              </a:ext>
            </a:extLst>
          </p:cNvPr>
          <p:cNvSpPr>
            <a:spLocks noGrp="1"/>
          </p:cNvSpPr>
          <p:nvPr>
            <p:ph type="sldNum" sz="quarter" idx="12"/>
          </p:nvPr>
        </p:nvSpPr>
        <p:spPr/>
        <p:txBody>
          <a:bodyPr/>
          <a:lstStyle/>
          <a:p>
            <a:fld id="{34765577-9A70-4B44-A463-20938F747DD0}" type="slidenum">
              <a:rPr lang="en-US" smtClean="0"/>
              <a:t>11</a:t>
            </a:fld>
            <a:endParaRPr lang="en-US"/>
          </a:p>
        </p:txBody>
      </p:sp>
      <p:graphicFrame>
        <p:nvGraphicFramePr>
          <p:cNvPr id="6" name="Object 5">
            <a:extLst>
              <a:ext uri="{FF2B5EF4-FFF2-40B4-BE49-F238E27FC236}">
                <a16:creationId xmlns:a16="http://schemas.microsoft.com/office/drawing/2014/main" id="{4B68D317-4F10-22BE-282D-F6DF87854CF6}"/>
              </a:ext>
            </a:extLst>
          </p:cNvPr>
          <p:cNvGraphicFramePr>
            <a:graphicFrameLocks noChangeAspect="1"/>
          </p:cNvGraphicFramePr>
          <p:nvPr>
            <p:extLst>
              <p:ext uri="{D42A27DB-BD31-4B8C-83A1-F6EECF244321}">
                <p14:modId xmlns:p14="http://schemas.microsoft.com/office/powerpoint/2010/main" val="3504757304"/>
              </p:ext>
            </p:extLst>
          </p:nvPr>
        </p:nvGraphicFramePr>
        <p:xfrm>
          <a:off x="5774311" y="1220394"/>
          <a:ext cx="6417689" cy="4681138"/>
        </p:xfrm>
        <a:graphic>
          <a:graphicData uri="http://schemas.openxmlformats.org/presentationml/2006/ole">
            <mc:AlternateContent xmlns:mc="http://schemas.openxmlformats.org/markup-compatibility/2006">
              <mc:Choice xmlns:v="urn:schemas-microsoft-com:vml" Requires="v">
                <p:oleObj name="SPW 16.0 Graph" r:id="rId2" imgW="5532157" imgH="4035687" progId="SigmaPlotGraphicObject.16">
                  <p:embed/>
                </p:oleObj>
              </mc:Choice>
              <mc:Fallback>
                <p:oleObj name="SPW 16.0 Graph" r:id="rId2" imgW="5532157" imgH="4035687" progId="SigmaPlotGraphicObject.16">
                  <p:embed/>
                  <p:pic>
                    <p:nvPicPr>
                      <p:cNvPr id="6" name="Object 5">
                        <a:extLst>
                          <a:ext uri="{FF2B5EF4-FFF2-40B4-BE49-F238E27FC236}">
                            <a16:creationId xmlns:a16="http://schemas.microsoft.com/office/drawing/2014/main" id="{4B68D317-4F10-22BE-282D-F6DF87854CF6}"/>
                          </a:ext>
                        </a:extLst>
                      </p:cNvPr>
                      <p:cNvPicPr/>
                      <p:nvPr/>
                    </p:nvPicPr>
                    <p:blipFill>
                      <a:blip r:embed="rId3"/>
                      <a:stretch>
                        <a:fillRect/>
                      </a:stretch>
                    </p:blipFill>
                    <p:spPr>
                      <a:xfrm>
                        <a:off x="5774311" y="1220394"/>
                        <a:ext cx="6417689" cy="4681138"/>
                      </a:xfrm>
                      <a:prstGeom prst="rect">
                        <a:avLst/>
                      </a:prstGeom>
                    </p:spPr>
                  </p:pic>
                </p:oleObj>
              </mc:Fallback>
            </mc:AlternateContent>
          </a:graphicData>
        </a:graphic>
      </p:graphicFrame>
    </p:spTree>
    <p:extLst>
      <p:ext uri="{BB962C8B-B14F-4D97-AF65-F5344CB8AC3E}">
        <p14:creationId xmlns:p14="http://schemas.microsoft.com/office/powerpoint/2010/main" val="4192333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BCAB-6E3D-74C7-6931-0FDEA99E0D57}"/>
              </a:ext>
            </a:extLst>
          </p:cNvPr>
          <p:cNvSpPr>
            <a:spLocks noGrp="1"/>
          </p:cNvSpPr>
          <p:nvPr>
            <p:ph type="title"/>
          </p:nvPr>
        </p:nvSpPr>
        <p:spPr>
          <a:xfrm>
            <a:off x="838200" y="154813"/>
            <a:ext cx="10515600" cy="1325563"/>
          </a:xfrm>
        </p:spPr>
        <p:txBody>
          <a:bodyPr/>
          <a:lstStyle/>
          <a:p>
            <a:pPr algn="ctr"/>
            <a:r>
              <a:rPr lang="en-US" dirty="0">
                <a:solidFill>
                  <a:srgbClr val="0000CC"/>
                </a:solidFill>
              </a:rPr>
              <a:t>Segregated Flow Model (SFM), Time Basis: Definition Sketch</a:t>
            </a:r>
          </a:p>
        </p:txBody>
      </p:sp>
      <p:sp>
        <p:nvSpPr>
          <p:cNvPr id="4" name="Content Placeholder 3">
            <a:extLst>
              <a:ext uri="{FF2B5EF4-FFF2-40B4-BE49-F238E27FC236}">
                <a16:creationId xmlns:a16="http://schemas.microsoft.com/office/drawing/2014/main" id="{CCF096EC-3E75-EFDA-F5EC-EB2EA8CC8E5E}"/>
              </a:ext>
            </a:extLst>
          </p:cNvPr>
          <p:cNvSpPr>
            <a:spLocks noGrp="1"/>
          </p:cNvSpPr>
          <p:nvPr>
            <p:ph sz="half" idx="1"/>
          </p:nvPr>
        </p:nvSpPr>
        <p:spPr>
          <a:xfrm>
            <a:off x="265176" y="1480376"/>
            <a:ext cx="5754624" cy="5222811"/>
          </a:xfrm>
        </p:spPr>
        <p:txBody>
          <a:bodyPr>
            <a:normAutofit fontScale="92500" lnSpcReduction="20000"/>
          </a:bodyPr>
          <a:lstStyle/>
          <a:p>
            <a:r>
              <a:rPr lang="en-US" dirty="0"/>
              <a:t>Some fluid elements (batch reactors) have short residence (reaction) time</a:t>
            </a:r>
          </a:p>
          <a:p>
            <a:r>
              <a:rPr lang="en-US" dirty="0"/>
              <a:t>Some fluid elements (batch reactors) have long residence (reaction) time</a:t>
            </a:r>
          </a:p>
          <a:p>
            <a:r>
              <a:rPr lang="en-US" dirty="0"/>
              <a:t>RTD quantifies the distribution of residence (reaction) times</a:t>
            </a:r>
          </a:p>
          <a:p>
            <a:r>
              <a:rPr lang="en-US" dirty="0"/>
              <a:t>At steady-state, a sample of reactor effluent will be characterized by the RTD</a:t>
            </a:r>
          </a:p>
          <a:p>
            <a:r>
              <a:rPr lang="en-US" dirty="0"/>
              <a:t>SFM assumes no material transfer among fluid elements</a:t>
            </a:r>
          </a:p>
          <a:p>
            <a:r>
              <a:rPr lang="en-US" dirty="0">
                <a:sym typeface="Symbol" panose="05050102010706020507" pitchFamily="18" charset="2"/>
              </a:rPr>
              <a:t>Each fluid element behaves as a batch reactor</a:t>
            </a:r>
            <a:endParaRPr lang="en-US" dirty="0"/>
          </a:p>
          <a:p>
            <a:r>
              <a:rPr lang="en-US" dirty="0"/>
              <a:t>SFM accounts for effects of RTD on reactor performance</a:t>
            </a:r>
          </a:p>
        </p:txBody>
      </p:sp>
      <p:sp>
        <p:nvSpPr>
          <p:cNvPr id="6" name="Rectangle 5">
            <a:extLst>
              <a:ext uri="{FF2B5EF4-FFF2-40B4-BE49-F238E27FC236}">
                <a16:creationId xmlns:a16="http://schemas.microsoft.com/office/drawing/2014/main" id="{A1CFF76F-66DA-F5EA-CDDD-6597143846FF}"/>
              </a:ext>
            </a:extLst>
          </p:cNvPr>
          <p:cNvSpPr/>
          <p:nvPr/>
        </p:nvSpPr>
        <p:spPr>
          <a:xfrm>
            <a:off x="7150608" y="2980944"/>
            <a:ext cx="4014216" cy="1728216"/>
          </a:xfrm>
          <a:prstGeom prst="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4CA11FA-99D9-5D7C-611E-7BABBD6D7085}"/>
              </a:ext>
            </a:extLst>
          </p:cNvPr>
          <p:cNvCxnSpPr>
            <a:cxnSpLocks/>
            <a:endCxn id="6" idx="1"/>
          </p:cNvCxnSpPr>
          <p:nvPr/>
        </p:nvCxnSpPr>
        <p:spPr>
          <a:xfrm>
            <a:off x="6363855" y="3845052"/>
            <a:ext cx="786753" cy="0"/>
          </a:xfrm>
          <a:prstGeom prst="straightConnector1">
            <a:avLst/>
          </a:prstGeom>
          <a:ln>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DF4701F-AD12-10B9-7EF0-0D719E22E054}"/>
              </a:ext>
            </a:extLst>
          </p:cNvPr>
          <p:cNvCxnSpPr>
            <a:cxnSpLocks/>
          </p:cNvCxnSpPr>
          <p:nvPr/>
        </p:nvCxnSpPr>
        <p:spPr>
          <a:xfrm>
            <a:off x="11164824" y="3845052"/>
            <a:ext cx="786753" cy="0"/>
          </a:xfrm>
          <a:prstGeom prst="straightConnector1">
            <a:avLst/>
          </a:prstGeom>
          <a:ln>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6630C021-4383-6455-D271-89A3ADA745F2}"/>
              </a:ext>
            </a:extLst>
          </p:cNvPr>
          <p:cNvGrpSpPr/>
          <p:nvPr/>
        </p:nvGrpSpPr>
        <p:grpSpPr>
          <a:xfrm>
            <a:off x="7269018" y="3183596"/>
            <a:ext cx="3898884" cy="741859"/>
            <a:chOff x="7269018" y="3183596"/>
            <a:chExt cx="3898884" cy="741859"/>
          </a:xfrm>
        </p:grpSpPr>
        <p:grpSp>
          <p:nvGrpSpPr>
            <p:cNvPr id="18" name="Group 17">
              <a:extLst>
                <a:ext uri="{FF2B5EF4-FFF2-40B4-BE49-F238E27FC236}">
                  <a16:creationId xmlns:a16="http://schemas.microsoft.com/office/drawing/2014/main" id="{0B483F7D-5356-F2EE-05B1-E082A14FD397}"/>
                </a:ext>
              </a:extLst>
            </p:cNvPr>
            <p:cNvGrpSpPr/>
            <p:nvPr/>
          </p:nvGrpSpPr>
          <p:grpSpPr>
            <a:xfrm>
              <a:off x="7518400" y="3183596"/>
              <a:ext cx="480291" cy="490807"/>
              <a:chOff x="7573818" y="1956829"/>
              <a:chExt cx="480291" cy="490807"/>
            </a:xfrm>
          </p:grpSpPr>
          <p:sp>
            <p:nvSpPr>
              <p:cNvPr id="11" name="Rectangle: Rounded Corners 10">
                <a:extLst>
                  <a:ext uri="{FF2B5EF4-FFF2-40B4-BE49-F238E27FC236}">
                    <a16:creationId xmlns:a16="http://schemas.microsoft.com/office/drawing/2014/main" id="{59C65069-D176-1F68-C44C-1D703DFC3F78}"/>
                  </a:ext>
                </a:extLst>
              </p:cNvPr>
              <p:cNvSpPr/>
              <p:nvPr/>
            </p:nvSpPr>
            <p:spPr>
              <a:xfrm>
                <a:off x="7573818" y="2087418"/>
                <a:ext cx="480291" cy="360218"/>
              </a:xfrm>
              <a:prstGeom prst="roundRect">
                <a:avLst/>
              </a:prstGeom>
              <a:pattFill prst="pct25">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BE429E7-26E3-0EDD-CD58-4E6ADA94056C}"/>
                  </a:ext>
                </a:extLst>
              </p:cNvPr>
              <p:cNvGrpSpPr/>
              <p:nvPr/>
            </p:nvGrpSpPr>
            <p:grpSpPr>
              <a:xfrm>
                <a:off x="7684653" y="1956829"/>
                <a:ext cx="258620" cy="261178"/>
                <a:chOff x="8506690" y="1428949"/>
                <a:chExt cx="572654" cy="279778"/>
              </a:xfrm>
            </p:grpSpPr>
            <p:sp>
              <p:nvSpPr>
                <p:cNvPr id="12" name="Oval 11">
                  <a:extLst>
                    <a:ext uri="{FF2B5EF4-FFF2-40B4-BE49-F238E27FC236}">
                      <a16:creationId xmlns:a16="http://schemas.microsoft.com/office/drawing/2014/main" id="{3BA484D2-3785-043A-6A29-2B272CBA6F12}"/>
                    </a:ext>
                  </a:extLst>
                </p:cNvPr>
                <p:cNvSpPr/>
                <p:nvPr/>
              </p:nvSpPr>
              <p:spPr>
                <a:xfrm>
                  <a:off x="8793017"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6766A9A-81D1-EDF2-B9FF-9FB904804FBD}"/>
                    </a:ext>
                  </a:extLst>
                </p:cNvPr>
                <p:cNvSpPr/>
                <p:nvPr/>
              </p:nvSpPr>
              <p:spPr>
                <a:xfrm>
                  <a:off x="8506690"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F5E9E39D-201D-79ED-0C49-377214518D47}"/>
                    </a:ext>
                  </a:extLst>
                </p:cNvPr>
                <p:cNvCxnSpPr>
                  <a:cxnSpLocks/>
                  <a:stCxn id="12" idx="2"/>
                </p:cNvCxnSpPr>
                <p:nvPr/>
              </p:nvCxnSpPr>
              <p:spPr>
                <a:xfrm flipV="1">
                  <a:off x="8793017" y="1428949"/>
                  <a:ext cx="0" cy="247451"/>
                </a:xfrm>
                <a:prstGeom prst="line">
                  <a:avLst/>
                </a:prstGeom>
              </p:spPr>
              <p:style>
                <a:lnRef idx="2">
                  <a:schemeClr val="accent1"/>
                </a:lnRef>
                <a:fillRef idx="0">
                  <a:schemeClr val="accent1"/>
                </a:fillRef>
                <a:effectRef idx="1">
                  <a:schemeClr val="accent1"/>
                </a:effectRef>
                <a:fontRef idx="minor">
                  <a:schemeClr val="tx1"/>
                </a:fontRef>
              </p:style>
            </p:cxnSp>
          </p:grpSp>
        </p:grpSp>
        <p:sp>
          <p:nvSpPr>
            <p:cNvPr id="31" name="Freeform: Shape 30">
              <a:extLst>
                <a:ext uri="{FF2B5EF4-FFF2-40B4-BE49-F238E27FC236}">
                  <a16:creationId xmlns:a16="http://schemas.microsoft.com/office/drawing/2014/main" id="{503C6FC3-57F6-1C07-09B0-C36E80B4EC96}"/>
                </a:ext>
              </a:extLst>
            </p:cNvPr>
            <p:cNvSpPr/>
            <p:nvPr/>
          </p:nvSpPr>
          <p:spPr>
            <a:xfrm>
              <a:off x="7269018" y="3232727"/>
              <a:ext cx="3898884" cy="692728"/>
            </a:xfrm>
            <a:custGeom>
              <a:avLst/>
              <a:gdLst>
                <a:gd name="connsiteX0" fmla="*/ 0 w 3898884"/>
                <a:gd name="connsiteY0" fmla="*/ 138546 h 692728"/>
                <a:gd name="connsiteX1" fmla="*/ 101600 w 3898884"/>
                <a:gd name="connsiteY1" fmla="*/ 157018 h 692728"/>
                <a:gd name="connsiteX2" fmla="*/ 166255 w 3898884"/>
                <a:gd name="connsiteY2" fmla="*/ 184728 h 692728"/>
                <a:gd name="connsiteX3" fmla="*/ 221673 w 3898884"/>
                <a:gd name="connsiteY3" fmla="*/ 212437 h 692728"/>
                <a:gd name="connsiteX4" fmla="*/ 295564 w 3898884"/>
                <a:gd name="connsiteY4" fmla="*/ 240146 h 692728"/>
                <a:gd name="connsiteX5" fmla="*/ 350982 w 3898884"/>
                <a:gd name="connsiteY5" fmla="*/ 277091 h 692728"/>
                <a:gd name="connsiteX6" fmla="*/ 461818 w 3898884"/>
                <a:gd name="connsiteY6" fmla="*/ 314037 h 692728"/>
                <a:gd name="connsiteX7" fmla="*/ 489527 w 3898884"/>
                <a:gd name="connsiteY7" fmla="*/ 332509 h 692728"/>
                <a:gd name="connsiteX8" fmla="*/ 591127 w 3898884"/>
                <a:gd name="connsiteY8" fmla="*/ 341746 h 692728"/>
                <a:gd name="connsiteX9" fmla="*/ 812800 w 3898884"/>
                <a:gd name="connsiteY9" fmla="*/ 332509 h 692728"/>
                <a:gd name="connsiteX10" fmla="*/ 877455 w 3898884"/>
                <a:gd name="connsiteY10" fmla="*/ 304800 h 692728"/>
                <a:gd name="connsiteX11" fmla="*/ 979055 w 3898884"/>
                <a:gd name="connsiteY11" fmla="*/ 193964 h 692728"/>
                <a:gd name="connsiteX12" fmla="*/ 997527 w 3898884"/>
                <a:gd name="connsiteY12" fmla="*/ 157018 h 692728"/>
                <a:gd name="connsiteX13" fmla="*/ 951346 w 3898884"/>
                <a:gd name="connsiteY13" fmla="*/ 9237 h 692728"/>
                <a:gd name="connsiteX14" fmla="*/ 905164 w 3898884"/>
                <a:gd name="connsiteY14" fmla="*/ 0 h 692728"/>
                <a:gd name="connsiteX15" fmla="*/ 785091 w 3898884"/>
                <a:gd name="connsiteY15" fmla="*/ 55418 h 692728"/>
                <a:gd name="connsiteX16" fmla="*/ 766618 w 3898884"/>
                <a:gd name="connsiteY16" fmla="*/ 83128 h 692728"/>
                <a:gd name="connsiteX17" fmla="*/ 757382 w 3898884"/>
                <a:gd name="connsiteY17" fmla="*/ 230909 h 692728"/>
                <a:gd name="connsiteX18" fmla="*/ 785091 w 3898884"/>
                <a:gd name="connsiteY18" fmla="*/ 443346 h 692728"/>
                <a:gd name="connsiteX19" fmla="*/ 729673 w 3898884"/>
                <a:gd name="connsiteY19" fmla="*/ 674255 h 692728"/>
                <a:gd name="connsiteX20" fmla="*/ 683491 w 3898884"/>
                <a:gd name="connsiteY20" fmla="*/ 683491 h 692728"/>
                <a:gd name="connsiteX21" fmla="*/ 572655 w 3898884"/>
                <a:gd name="connsiteY21" fmla="*/ 692728 h 692728"/>
                <a:gd name="connsiteX22" fmla="*/ 508000 w 3898884"/>
                <a:gd name="connsiteY22" fmla="*/ 637309 h 692728"/>
                <a:gd name="connsiteX23" fmla="*/ 544946 w 3898884"/>
                <a:gd name="connsiteY23" fmla="*/ 544946 h 692728"/>
                <a:gd name="connsiteX24" fmla="*/ 720437 w 3898884"/>
                <a:gd name="connsiteY24" fmla="*/ 480291 h 692728"/>
                <a:gd name="connsiteX25" fmla="*/ 1265382 w 3898884"/>
                <a:gd name="connsiteY25" fmla="*/ 452582 h 692728"/>
                <a:gd name="connsiteX26" fmla="*/ 1357746 w 3898884"/>
                <a:gd name="connsiteY26" fmla="*/ 443346 h 692728"/>
                <a:gd name="connsiteX27" fmla="*/ 1422400 w 3898884"/>
                <a:gd name="connsiteY27" fmla="*/ 424873 h 692728"/>
                <a:gd name="connsiteX28" fmla="*/ 1560946 w 3898884"/>
                <a:gd name="connsiteY28" fmla="*/ 397164 h 692728"/>
                <a:gd name="connsiteX29" fmla="*/ 1607127 w 3898884"/>
                <a:gd name="connsiteY29" fmla="*/ 369455 h 692728"/>
                <a:gd name="connsiteX30" fmla="*/ 1644073 w 3898884"/>
                <a:gd name="connsiteY30" fmla="*/ 341746 h 692728"/>
                <a:gd name="connsiteX31" fmla="*/ 1671782 w 3898884"/>
                <a:gd name="connsiteY31" fmla="*/ 323273 h 692728"/>
                <a:gd name="connsiteX32" fmla="*/ 1727200 w 3898884"/>
                <a:gd name="connsiteY32" fmla="*/ 240146 h 692728"/>
                <a:gd name="connsiteX33" fmla="*/ 1754909 w 3898884"/>
                <a:gd name="connsiteY33" fmla="*/ 212437 h 692728"/>
                <a:gd name="connsiteX34" fmla="*/ 1764146 w 3898884"/>
                <a:gd name="connsiteY34" fmla="*/ 64655 h 692728"/>
                <a:gd name="connsiteX35" fmla="*/ 1653309 w 3898884"/>
                <a:gd name="connsiteY35" fmla="*/ 92364 h 692728"/>
                <a:gd name="connsiteX36" fmla="*/ 1616364 w 3898884"/>
                <a:gd name="connsiteY36" fmla="*/ 110837 h 692728"/>
                <a:gd name="connsiteX37" fmla="*/ 1533237 w 3898884"/>
                <a:gd name="connsiteY37" fmla="*/ 175491 h 692728"/>
                <a:gd name="connsiteX38" fmla="*/ 1505527 w 3898884"/>
                <a:gd name="connsiteY38" fmla="*/ 249382 h 692728"/>
                <a:gd name="connsiteX39" fmla="*/ 1496291 w 3898884"/>
                <a:gd name="connsiteY39" fmla="*/ 295564 h 692728"/>
                <a:gd name="connsiteX40" fmla="*/ 1551709 w 3898884"/>
                <a:gd name="connsiteY40" fmla="*/ 360218 h 692728"/>
                <a:gd name="connsiteX41" fmla="*/ 1644073 w 3898884"/>
                <a:gd name="connsiteY41" fmla="*/ 369455 h 692728"/>
                <a:gd name="connsiteX42" fmla="*/ 2216727 w 3898884"/>
                <a:gd name="connsiteY42" fmla="*/ 415637 h 692728"/>
                <a:gd name="connsiteX43" fmla="*/ 2290618 w 3898884"/>
                <a:gd name="connsiteY43" fmla="*/ 406400 h 692728"/>
                <a:gd name="connsiteX44" fmla="*/ 2327564 w 3898884"/>
                <a:gd name="connsiteY44" fmla="*/ 341746 h 692728"/>
                <a:gd name="connsiteX45" fmla="*/ 2355273 w 3898884"/>
                <a:gd name="connsiteY45" fmla="*/ 267855 h 692728"/>
                <a:gd name="connsiteX46" fmla="*/ 2373746 w 3898884"/>
                <a:gd name="connsiteY46" fmla="*/ 230909 h 692728"/>
                <a:gd name="connsiteX47" fmla="*/ 2142837 w 3898884"/>
                <a:gd name="connsiteY47" fmla="*/ 83128 h 692728"/>
                <a:gd name="connsiteX48" fmla="*/ 2124364 w 3898884"/>
                <a:gd name="connsiteY48" fmla="*/ 110837 h 692728"/>
                <a:gd name="connsiteX49" fmla="*/ 2133600 w 3898884"/>
                <a:gd name="connsiteY49" fmla="*/ 193964 h 692728"/>
                <a:gd name="connsiteX50" fmla="*/ 2170546 w 3898884"/>
                <a:gd name="connsiteY50" fmla="*/ 212437 h 692728"/>
                <a:gd name="connsiteX51" fmla="*/ 2281382 w 3898884"/>
                <a:gd name="connsiteY51" fmla="*/ 240146 h 692728"/>
                <a:gd name="connsiteX52" fmla="*/ 2456873 w 3898884"/>
                <a:gd name="connsiteY52" fmla="*/ 258618 h 692728"/>
                <a:gd name="connsiteX53" fmla="*/ 2567709 w 3898884"/>
                <a:gd name="connsiteY53" fmla="*/ 240146 h 692728"/>
                <a:gd name="connsiteX54" fmla="*/ 2595418 w 3898884"/>
                <a:gd name="connsiteY54" fmla="*/ 230909 h 692728"/>
                <a:gd name="connsiteX55" fmla="*/ 2641600 w 3898884"/>
                <a:gd name="connsiteY55" fmla="*/ 203200 h 692728"/>
                <a:gd name="connsiteX56" fmla="*/ 2752437 w 3898884"/>
                <a:gd name="connsiteY56" fmla="*/ 166255 h 692728"/>
                <a:gd name="connsiteX57" fmla="*/ 2826327 w 3898884"/>
                <a:gd name="connsiteY57" fmla="*/ 138546 h 692728"/>
                <a:gd name="connsiteX58" fmla="*/ 2854037 w 3898884"/>
                <a:gd name="connsiteY58" fmla="*/ 129309 h 692728"/>
                <a:gd name="connsiteX59" fmla="*/ 2937164 w 3898884"/>
                <a:gd name="connsiteY59" fmla="*/ 120073 h 692728"/>
                <a:gd name="connsiteX60" fmla="*/ 2992582 w 3898884"/>
                <a:gd name="connsiteY60" fmla="*/ 110837 h 692728"/>
                <a:gd name="connsiteX61" fmla="*/ 3223491 w 3898884"/>
                <a:gd name="connsiteY61" fmla="*/ 175491 h 692728"/>
                <a:gd name="connsiteX62" fmla="*/ 3334327 w 3898884"/>
                <a:gd name="connsiteY62" fmla="*/ 212437 h 692728"/>
                <a:gd name="connsiteX63" fmla="*/ 3371273 w 3898884"/>
                <a:gd name="connsiteY63" fmla="*/ 249382 h 692728"/>
                <a:gd name="connsiteX64" fmla="*/ 3454400 w 3898884"/>
                <a:gd name="connsiteY64" fmla="*/ 304800 h 692728"/>
                <a:gd name="connsiteX65" fmla="*/ 3482109 w 3898884"/>
                <a:gd name="connsiteY65" fmla="*/ 323273 h 692728"/>
                <a:gd name="connsiteX66" fmla="*/ 3592946 w 3898884"/>
                <a:gd name="connsiteY66" fmla="*/ 406400 h 692728"/>
                <a:gd name="connsiteX67" fmla="*/ 3676073 w 3898884"/>
                <a:gd name="connsiteY67" fmla="*/ 452582 h 692728"/>
                <a:gd name="connsiteX68" fmla="*/ 3722255 w 3898884"/>
                <a:gd name="connsiteY68" fmla="*/ 489528 h 692728"/>
                <a:gd name="connsiteX69" fmla="*/ 3749964 w 3898884"/>
                <a:gd name="connsiteY69" fmla="*/ 508000 h 692728"/>
                <a:gd name="connsiteX70" fmla="*/ 3777673 w 3898884"/>
                <a:gd name="connsiteY70" fmla="*/ 535709 h 692728"/>
                <a:gd name="connsiteX71" fmla="*/ 3842327 w 3898884"/>
                <a:gd name="connsiteY71" fmla="*/ 554182 h 692728"/>
                <a:gd name="connsiteX72" fmla="*/ 3870037 w 3898884"/>
                <a:gd name="connsiteY72" fmla="*/ 572655 h 692728"/>
                <a:gd name="connsiteX73" fmla="*/ 3897746 w 3898884"/>
                <a:gd name="connsiteY73" fmla="*/ 581891 h 692728"/>
                <a:gd name="connsiteX74" fmla="*/ 3897746 w 3898884"/>
                <a:gd name="connsiteY74" fmla="*/ 591128 h 69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3898884" h="692728">
                  <a:moveTo>
                    <a:pt x="0" y="138546"/>
                  </a:moveTo>
                  <a:cubicBezTo>
                    <a:pt x="14981" y="140686"/>
                    <a:pt x="79826" y="147686"/>
                    <a:pt x="101600" y="157018"/>
                  </a:cubicBezTo>
                  <a:cubicBezTo>
                    <a:pt x="190905" y="195292"/>
                    <a:pt x="60179" y="158208"/>
                    <a:pt x="166255" y="184728"/>
                  </a:cubicBezTo>
                  <a:cubicBezTo>
                    <a:pt x="219503" y="220225"/>
                    <a:pt x="168139" y="189494"/>
                    <a:pt x="221673" y="212437"/>
                  </a:cubicBezTo>
                  <a:cubicBezTo>
                    <a:pt x="289289" y="241415"/>
                    <a:pt x="227451" y="223117"/>
                    <a:pt x="295564" y="240146"/>
                  </a:cubicBezTo>
                  <a:cubicBezTo>
                    <a:pt x="314037" y="252461"/>
                    <a:pt x="329920" y="270070"/>
                    <a:pt x="350982" y="277091"/>
                  </a:cubicBezTo>
                  <a:cubicBezTo>
                    <a:pt x="387927" y="289406"/>
                    <a:pt x="429414" y="292435"/>
                    <a:pt x="461818" y="314037"/>
                  </a:cubicBezTo>
                  <a:cubicBezTo>
                    <a:pt x="471054" y="320194"/>
                    <a:pt x="478673" y="330183"/>
                    <a:pt x="489527" y="332509"/>
                  </a:cubicBezTo>
                  <a:cubicBezTo>
                    <a:pt x="522778" y="339634"/>
                    <a:pt x="557260" y="338667"/>
                    <a:pt x="591127" y="341746"/>
                  </a:cubicBezTo>
                  <a:cubicBezTo>
                    <a:pt x="665018" y="338667"/>
                    <a:pt x="739047" y="337972"/>
                    <a:pt x="812800" y="332509"/>
                  </a:cubicBezTo>
                  <a:cubicBezTo>
                    <a:pt x="825408" y="331575"/>
                    <a:pt x="871631" y="309728"/>
                    <a:pt x="877455" y="304800"/>
                  </a:cubicBezTo>
                  <a:cubicBezTo>
                    <a:pt x="913677" y="274150"/>
                    <a:pt x="954356" y="237189"/>
                    <a:pt x="979055" y="193964"/>
                  </a:cubicBezTo>
                  <a:cubicBezTo>
                    <a:pt x="985886" y="182009"/>
                    <a:pt x="991370" y="169333"/>
                    <a:pt x="997527" y="157018"/>
                  </a:cubicBezTo>
                  <a:cubicBezTo>
                    <a:pt x="990203" y="54480"/>
                    <a:pt x="1026020" y="34128"/>
                    <a:pt x="951346" y="9237"/>
                  </a:cubicBezTo>
                  <a:cubicBezTo>
                    <a:pt x="936453" y="4273"/>
                    <a:pt x="920558" y="3079"/>
                    <a:pt x="905164" y="0"/>
                  </a:cubicBezTo>
                  <a:cubicBezTo>
                    <a:pt x="827872" y="23187"/>
                    <a:pt x="824320" y="8343"/>
                    <a:pt x="785091" y="55418"/>
                  </a:cubicBezTo>
                  <a:cubicBezTo>
                    <a:pt x="777984" y="63946"/>
                    <a:pt x="772776" y="73891"/>
                    <a:pt x="766618" y="83128"/>
                  </a:cubicBezTo>
                  <a:cubicBezTo>
                    <a:pt x="737424" y="170712"/>
                    <a:pt x="747698" y="114701"/>
                    <a:pt x="757382" y="230909"/>
                  </a:cubicBezTo>
                  <a:cubicBezTo>
                    <a:pt x="771642" y="402041"/>
                    <a:pt x="755272" y="309160"/>
                    <a:pt x="785091" y="443346"/>
                  </a:cubicBezTo>
                  <a:cubicBezTo>
                    <a:pt x="778367" y="494897"/>
                    <a:pt x="813315" y="642890"/>
                    <a:pt x="729673" y="674255"/>
                  </a:cubicBezTo>
                  <a:cubicBezTo>
                    <a:pt x="714974" y="679767"/>
                    <a:pt x="699082" y="681657"/>
                    <a:pt x="683491" y="683491"/>
                  </a:cubicBezTo>
                  <a:cubicBezTo>
                    <a:pt x="646672" y="687823"/>
                    <a:pt x="609600" y="689649"/>
                    <a:pt x="572655" y="692728"/>
                  </a:cubicBezTo>
                  <a:cubicBezTo>
                    <a:pt x="551103" y="674255"/>
                    <a:pt x="513231" y="665208"/>
                    <a:pt x="508000" y="637309"/>
                  </a:cubicBezTo>
                  <a:cubicBezTo>
                    <a:pt x="501889" y="604718"/>
                    <a:pt x="524036" y="570681"/>
                    <a:pt x="544946" y="544946"/>
                  </a:cubicBezTo>
                  <a:cubicBezTo>
                    <a:pt x="599506" y="477796"/>
                    <a:pt x="645399" y="487795"/>
                    <a:pt x="720437" y="480291"/>
                  </a:cubicBezTo>
                  <a:cubicBezTo>
                    <a:pt x="922781" y="399351"/>
                    <a:pt x="732250" y="469242"/>
                    <a:pt x="1265382" y="452582"/>
                  </a:cubicBezTo>
                  <a:cubicBezTo>
                    <a:pt x="1296308" y="451616"/>
                    <a:pt x="1326958" y="446425"/>
                    <a:pt x="1357746" y="443346"/>
                  </a:cubicBezTo>
                  <a:cubicBezTo>
                    <a:pt x="1379297" y="437188"/>
                    <a:pt x="1400544" y="429840"/>
                    <a:pt x="1422400" y="424873"/>
                  </a:cubicBezTo>
                  <a:cubicBezTo>
                    <a:pt x="1468325" y="414435"/>
                    <a:pt x="1515836" y="410697"/>
                    <a:pt x="1560946" y="397164"/>
                  </a:cubicBezTo>
                  <a:cubicBezTo>
                    <a:pt x="1578141" y="392006"/>
                    <a:pt x="1592190" y="379413"/>
                    <a:pt x="1607127" y="369455"/>
                  </a:cubicBezTo>
                  <a:cubicBezTo>
                    <a:pt x="1619936" y="360916"/>
                    <a:pt x="1631546" y="350694"/>
                    <a:pt x="1644073" y="341746"/>
                  </a:cubicBezTo>
                  <a:cubicBezTo>
                    <a:pt x="1653106" y="335294"/>
                    <a:pt x="1662546" y="329431"/>
                    <a:pt x="1671782" y="323273"/>
                  </a:cubicBezTo>
                  <a:cubicBezTo>
                    <a:pt x="1692453" y="288820"/>
                    <a:pt x="1701545" y="270076"/>
                    <a:pt x="1727200" y="240146"/>
                  </a:cubicBezTo>
                  <a:cubicBezTo>
                    <a:pt x="1735701" y="230228"/>
                    <a:pt x="1745673" y="221673"/>
                    <a:pt x="1754909" y="212437"/>
                  </a:cubicBezTo>
                  <a:cubicBezTo>
                    <a:pt x="1783166" y="127665"/>
                    <a:pt x="1775319" y="176394"/>
                    <a:pt x="1764146" y="64655"/>
                  </a:cubicBezTo>
                  <a:cubicBezTo>
                    <a:pt x="1727200" y="73891"/>
                    <a:pt x="1689658" y="81005"/>
                    <a:pt x="1653309" y="92364"/>
                  </a:cubicBezTo>
                  <a:cubicBezTo>
                    <a:pt x="1640167" y="96471"/>
                    <a:pt x="1628171" y="103753"/>
                    <a:pt x="1616364" y="110837"/>
                  </a:cubicBezTo>
                  <a:cubicBezTo>
                    <a:pt x="1561124" y="143981"/>
                    <a:pt x="1570146" y="138582"/>
                    <a:pt x="1533237" y="175491"/>
                  </a:cubicBezTo>
                  <a:cubicBezTo>
                    <a:pt x="1527591" y="189607"/>
                    <a:pt x="1510352" y="230082"/>
                    <a:pt x="1505527" y="249382"/>
                  </a:cubicBezTo>
                  <a:cubicBezTo>
                    <a:pt x="1501719" y="264612"/>
                    <a:pt x="1499370" y="280170"/>
                    <a:pt x="1496291" y="295564"/>
                  </a:cubicBezTo>
                  <a:cubicBezTo>
                    <a:pt x="1508364" y="313674"/>
                    <a:pt x="1532112" y="353219"/>
                    <a:pt x="1551709" y="360218"/>
                  </a:cubicBezTo>
                  <a:cubicBezTo>
                    <a:pt x="1580848" y="370625"/>
                    <a:pt x="1613335" y="365908"/>
                    <a:pt x="1644073" y="369455"/>
                  </a:cubicBezTo>
                  <a:cubicBezTo>
                    <a:pt x="1987986" y="409139"/>
                    <a:pt x="1584214" y="374386"/>
                    <a:pt x="2216727" y="415637"/>
                  </a:cubicBezTo>
                  <a:cubicBezTo>
                    <a:pt x="2241357" y="412558"/>
                    <a:pt x="2267290" y="414883"/>
                    <a:pt x="2290618" y="406400"/>
                  </a:cubicBezTo>
                  <a:cubicBezTo>
                    <a:pt x="2321894" y="395027"/>
                    <a:pt x="2320416" y="366764"/>
                    <a:pt x="2327564" y="341746"/>
                  </a:cubicBezTo>
                  <a:cubicBezTo>
                    <a:pt x="2333659" y="320414"/>
                    <a:pt x="2347461" y="285431"/>
                    <a:pt x="2355273" y="267855"/>
                  </a:cubicBezTo>
                  <a:cubicBezTo>
                    <a:pt x="2360865" y="255273"/>
                    <a:pt x="2367588" y="243224"/>
                    <a:pt x="2373746" y="230909"/>
                  </a:cubicBezTo>
                  <a:cubicBezTo>
                    <a:pt x="2308805" y="46913"/>
                    <a:pt x="2363227" y="41148"/>
                    <a:pt x="2142837" y="83128"/>
                  </a:cubicBezTo>
                  <a:cubicBezTo>
                    <a:pt x="2131932" y="85205"/>
                    <a:pt x="2130522" y="101601"/>
                    <a:pt x="2124364" y="110837"/>
                  </a:cubicBezTo>
                  <a:cubicBezTo>
                    <a:pt x="2127443" y="138546"/>
                    <a:pt x="2122063" y="168583"/>
                    <a:pt x="2133600" y="193964"/>
                  </a:cubicBezTo>
                  <a:cubicBezTo>
                    <a:pt x="2139298" y="206499"/>
                    <a:pt x="2157404" y="208330"/>
                    <a:pt x="2170546" y="212437"/>
                  </a:cubicBezTo>
                  <a:cubicBezTo>
                    <a:pt x="2206895" y="223796"/>
                    <a:pt x="2243489" y="236357"/>
                    <a:pt x="2281382" y="240146"/>
                  </a:cubicBezTo>
                  <a:cubicBezTo>
                    <a:pt x="2401487" y="252156"/>
                    <a:pt x="2342994" y="245965"/>
                    <a:pt x="2456873" y="258618"/>
                  </a:cubicBezTo>
                  <a:cubicBezTo>
                    <a:pt x="2493818" y="252461"/>
                    <a:pt x="2530981" y="247492"/>
                    <a:pt x="2567709" y="240146"/>
                  </a:cubicBezTo>
                  <a:cubicBezTo>
                    <a:pt x="2577256" y="238237"/>
                    <a:pt x="2586710" y="235263"/>
                    <a:pt x="2595418" y="230909"/>
                  </a:cubicBezTo>
                  <a:cubicBezTo>
                    <a:pt x="2611475" y="222880"/>
                    <a:pt x="2625543" y="211228"/>
                    <a:pt x="2641600" y="203200"/>
                  </a:cubicBezTo>
                  <a:cubicBezTo>
                    <a:pt x="2701855" y="173073"/>
                    <a:pt x="2695870" y="177568"/>
                    <a:pt x="2752437" y="166255"/>
                  </a:cubicBezTo>
                  <a:cubicBezTo>
                    <a:pt x="2809831" y="137557"/>
                    <a:pt x="2767639" y="155314"/>
                    <a:pt x="2826327" y="138546"/>
                  </a:cubicBezTo>
                  <a:cubicBezTo>
                    <a:pt x="2835689" y="135871"/>
                    <a:pt x="2844433" y="130910"/>
                    <a:pt x="2854037" y="129309"/>
                  </a:cubicBezTo>
                  <a:cubicBezTo>
                    <a:pt x="2881537" y="124726"/>
                    <a:pt x="2909529" y="123758"/>
                    <a:pt x="2937164" y="120073"/>
                  </a:cubicBezTo>
                  <a:cubicBezTo>
                    <a:pt x="2955727" y="117598"/>
                    <a:pt x="2974109" y="113916"/>
                    <a:pt x="2992582" y="110837"/>
                  </a:cubicBezTo>
                  <a:cubicBezTo>
                    <a:pt x="3180465" y="139741"/>
                    <a:pt x="3047352" y="109438"/>
                    <a:pt x="3223491" y="175491"/>
                  </a:cubicBezTo>
                  <a:cubicBezTo>
                    <a:pt x="3259955" y="189165"/>
                    <a:pt x="3334327" y="212437"/>
                    <a:pt x="3334327" y="212437"/>
                  </a:cubicBezTo>
                  <a:cubicBezTo>
                    <a:pt x="3346642" y="224752"/>
                    <a:pt x="3357468" y="238763"/>
                    <a:pt x="3371273" y="249382"/>
                  </a:cubicBezTo>
                  <a:cubicBezTo>
                    <a:pt x="3397669" y="269687"/>
                    <a:pt x="3426691" y="286327"/>
                    <a:pt x="3454400" y="304800"/>
                  </a:cubicBezTo>
                  <a:cubicBezTo>
                    <a:pt x="3463636" y="310958"/>
                    <a:pt x="3473347" y="316458"/>
                    <a:pt x="3482109" y="323273"/>
                  </a:cubicBezTo>
                  <a:cubicBezTo>
                    <a:pt x="3496880" y="334761"/>
                    <a:pt x="3560415" y="387424"/>
                    <a:pt x="3592946" y="406400"/>
                  </a:cubicBezTo>
                  <a:cubicBezTo>
                    <a:pt x="3620326" y="422372"/>
                    <a:pt x="3649409" y="435441"/>
                    <a:pt x="3676073" y="452582"/>
                  </a:cubicBezTo>
                  <a:cubicBezTo>
                    <a:pt x="3692656" y="463243"/>
                    <a:pt x="3706484" y="477700"/>
                    <a:pt x="3722255" y="489528"/>
                  </a:cubicBezTo>
                  <a:cubicBezTo>
                    <a:pt x="3731135" y="496188"/>
                    <a:pt x="3741436" y="500894"/>
                    <a:pt x="3749964" y="508000"/>
                  </a:cubicBezTo>
                  <a:cubicBezTo>
                    <a:pt x="3759999" y="516362"/>
                    <a:pt x="3766805" y="528463"/>
                    <a:pt x="3777673" y="535709"/>
                  </a:cubicBezTo>
                  <a:cubicBezTo>
                    <a:pt x="3785626" y="541011"/>
                    <a:pt x="3837396" y="552949"/>
                    <a:pt x="3842327" y="554182"/>
                  </a:cubicBezTo>
                  <a:cubicBezTo>
                    <a:pt x="3851564" y="560340"/>
                    <a:pt x="3860108" y="567691"/>
                    <a:pt x="3870037" y="572655"/>
                  </a:cubicBezTo>
                  <a:cubicBezTo>
                    <a:pt x="3878745" y="577009"/>
                    <a:pt x="3889645" y="576490"/>
                    <a:pt x="3897746" y="581891"/>
                  </a:cubicBezTo>
                  <a:cubicBezTo>
                    <a:pt x="3900308" y="583599"/>
                    <a:pt x="3897746" y="588049"/>
                    <a:pt x="3897746" y="591128"/>
                  </a:cubicBezTo>
                </a:path>
              </a:pathLst>
            </a:custGeom>
            <a:noFill/>
            <a:ln>
              <a:solidFill>
                <a:schemeClr val="bg2">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8B7B51AD-A67D-5B97-3ACD-658E29DCC637}"/>
              </a:ext>
            </a:extLst>
          </p:cNvPr>
          <p:cNvGrpSpPr/>
          <p:nvPr/>
        </p:nvGrpSpPr>
        <p:grpSpPr>
          <a:xfrm>
            <a:off x="7389091" y="3869962"/>
            <a:ext cx="3759200" cy="628147"/>
            <a:chOff x="7389091" y="3869962"/>
            <a:chExt cx="3759200" cy="628147"/>
          </a:xfrm>
        </p:grpSpPr>
        <p:grpSp>
          <p:nvGrpSpPr>
            <p:cNvPr id="19" name="Group 18">
              <a:extLst>
                <a:ext uri="{FF2B5EF4-FFF2-40B4-BE49-F238E27FC236}">
                  <a16:creationId xmlns:a16="http://schemas.microsoft.com/office/drawing/2014/main" id="{EBBAF2C2-7CC6-0407-47C1-59ECA516FC19}"/>
                </a:ext>
              </a:extLst>
            </p:cNvPr>
            <p:cNvGrpSpPr/>
            <p:nvPr/>
          </p:nvGrpSpPr>
          <p:grpSpPr>
            <a:xfrm>
              <a:off x="8811492" y="3985101"/>
              <a:ext cx="480291" cy="490807"/>
              <a:chOff x="7573818" y="1956829"/>
              <a:chExt cx="480291" cy="490807"/>
            </a:xfrm>
          </p:grpSpPr>
          <p:sp>
            <p:nvSpPr>
              <p:cNvPr id="20" name="Rectangle: Rounded Corners 19">
                <a:extLst>
                  <a:ext uri="{FF2B5EF4-FFF2-40B4-BE49-F238E27FC236}">
                    <a16:creationId xmlns:a16="http://schemas.microsoft.com/office/drawing/2014/main" id="{64444804-FEF3-E0DF-2B1C-59BD3DE9B562}"/>
                  </a:ext>
                </a:extLst>
              </p:cNvPr>
              <p:cNvSpPr/>
              <p:nvPr/>
            </p:nvSpPr>
            <p:spPr>
              <a:xfrm>
                <a:off x="7573818" y="2087418"/>
                <a:ext cx="480291" cy="360218"/>
              </a:xfrm>
              <a:prstGeom prst="roundRect">
                <a:avLst/>
              </a:prstGeom>
              <a:pattFill prst="pct25">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45B1D66A-790E-2D23-9009-AE05EF1C2C96}"/>
                  </a:ext>
                </a:extLst>
              </p:cNvPr>
              <p:cNvGrpSpPr/>
              <p:nvPr/>
            </p:nvGrpSpPr>
            <p:grpSpPr>
              <a:xfrm>
                <a:off x="7684653" y="1956829"/>
                <a:ext cx="258620" cy="261178"/>
                <a:chOff x="8506690" y="1428949"/>
                <a:chExt cx="572654" cy="279778"/>
              </a:xfrm>
            </p:grpSpPr>
            <p:sp>
              <p:nvSpPr>
                <p:cNvPr id="22" name="Oval 21">
                  <a:extLst>
                    <a:ext uri="{FF2B5EF4-FFF2-40B4-BE49-F238E27FC236}">
                      <a16:creationId xmlns:a16="http://schemas.microsoft.com/office/drawing/2014/main" id="{F42B92A4-ADE0-ED9E-68E9-A7618482DE92}"/>
                    </a:ext>
                  </a:extLst>
                </p:cNvPr>
                <p:cNvSpPr/>
                <p:nvPr/>
              </p:nvSpPr>
              <p:spPr>
                <a:xfrm>
                  <a:off x="8793017"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B2D08C9-E5FC-592E-C1FC-FF86FDFD7F3B}"/>
                    </a:ext>
                  </a:extLst>
                </p:cNvPr>
                <p:cNvSpPr/>
                <p:nvPr/>
              </p:nvSpPr>
              <p:spPr>
                <a:xfrm>
                  <a:off x="8506690"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9852A2AA-EFDA-6271-5660-89F05BCBDC86}"/>
                    </a:ext>
                  </a:extLst>
                </p:cNvPr>
                <p:cNvCxnSpPr>
                  <a:cxnSpLocks/>
                  <a:stCxn id="22" idx="2"/>
                </p:cNvCxnSpPr>
                <p:nvPr/>
              </p:nvCxnSpPr>
              <p:spPr>
                <a:xfrm flipV="1">
                  <a:off x="8793017" y="1428949"/>
                  <a:ext cx="0" cy="247451"/>
                </a:xfrm>
                <a:prstGeom prst="line">
                  <a:avLst/>
                </a:prstGeom>
              </p:spPr>
              <p:style>
                <a:lnRef idx="2">
                  <a:schemeClr val="accent1"/>
                </a:lnRef>
                <a:fillRef idx="0">
                  <a:schemeClr val="accent1"/>
                </a:fillRef>
                <a:effectRef idx="1">
                  <a:schemeClr val="accent1"/>
                </a:effectRef>
                <a:fontRef idx="minor">
                  <a:schemeClr val="tx1"/>
                </a:fontRef>
              </p:style>
            </p:cxnSp>
          </p:grpSp>
        </p:grpSp>
        <p:sp>
          <p:nvSpPr>
            <p:cNvPr id="32" name="Freeform: Shape 31">
              <a:extLst>
                <a:ext uri="{FF2B5EF4-FFF2-40B4-BE49-F238E27FC236}">
                  <a16:creationId xmlns:a16="http://schemas.microsoft.com/office/drawing/2014/main" id="{C4FEDB24-EDB5-45AB-B12C-4ADFD414616C}"/>
                </a:ext>
              </a:extLst>
            </p:cNvPr>
            <p:cNvSpPr/>
            <p:nvPr/>
          </p:nvSpPr>
          <p:spPr>
            <a:xfrm>
              <a:off x="7389091" y="3869962"/>
              <a:ext cx="3759200" cy="628147"/>
            </a:xfrm>
            <a:custGeom>
              <a:avLst/>
              <a:gdLst>
                <a:gd name="connsiteX0" fmla="*/ 0 w 3759200"/>
                <a:gd name="connsiteY0" fmla="*/ 314111 h 628147"/>
                <a:gd name="connsiteX1" fmla="*/ 46182 w 3759200"/>
                <a:gd name="connsiteY1" fmla="*/ 304874 h 628147"/>
                <a:gd name="connsiteX2" fmla="*/ 110836 w 3759200"/>
                <a:gd name="connsiteY2" fmla="*/ 277165 h 628147"/>
                <a:gd name="connsiteX3" fmla="*/ 175491 w 3759200"/>
                <a:gd name="connsiteY3" fmla="*/ 267929 h 628147"/>
                <a:gd name="connsiteX4" fmla="*/ 443345 w 3759200"/>
                <a:gd name="connsiteY4" fmla="*/ 240220 h 628147"/>
                <a:gd name="connsiteX5" fmla="*/ 526473 w 3759200"/>
                <a:gd name="connsiteY5" fmla="*/ 258693 h 628147"/>
                <a:gd name="connsiteX6" fmla="*/ 609600 w 3759200"/>
                <a:gd name="connsiteY6" fmla="*/ 286402 h 628147"/>
                <a:gd name="connsiteX7" fmla="*/ 665018 w 3759200"/>
                <a:gd name="connsiteY7" fmla="*/ 295638 h 628147"/>
                <a:gd name="connsiteX8" fmla="*/ 738909 w 3759200"/>
                <a:gd name="connsiteY8" fmla="*/ 314111 h 628147"/>
                <a:gd name="connsiteX9" fmla="*/ 766618 w 3759200"/>
                <a:gd name="connsiteY9" fmla="*/ 332583 h 628147"/>
                <a:gd name="connsiteX10" fmla="*/ 812800 w 3759200"/>
                <a:gd name="connsiteY10" fmla="*/ 351056 h 628147"/>
                <a:gd name="connsiteX11" fmla="*/ 905164 w 3759200"/>
                <a:gd name="connsiteY11" fmla="*/ 415711 h 628147"/>
                <a:gd name="connsiteX12" fmla="*/ 951345 w 3759200"/>
                <a:gd name="connsiteY12" fmla="*/ 471129 h 628147"/>
                <a:gd name="connsiteX13" fmla="*/ 979054 w 3759200"/>
                <a:gd name="connsiteY13" fmla="*/ 489602 h 628147"/>
                <a:gd name="connsiteX14" fmla="*/ 1034473 w 3759200"/>
                <a:gd name="connsiteY14" fmla="*/ 545020 h 628147"/>
                <a:gd name="connsiteX15" fmla="*/ 1108364 w 3759200"/>
                <a:gd name="connsiteY15" fmla="*/ 572729 h 628147"/>
                <a:gd name="connsiteX16" fmla="*/ 1136073 w 3759200"/>
                <a:gd name="connsiteY16" fmla="*/ 591202 h 628147"/>
                <a:gd name="connsiteX17" fmla="*/ 1200727 w 3759200"/>
                <a:gd name="connsiteY17" fmla="*/ 600438 h 628147"/>
                <a:gd name="connsiteX18" fmla="*/ 1366982 w 3759200"/>
                <a:gd name="connsiteY18" fmla="*/ 628147 h 628147"/>
                <a:gd name="connsiteX19" fmla="*/ 1607127 w 3759200"/>
                <a:gd name="connsiteY19" fmla="*/ 618911 h 628147"/>
                <a:gd name="connsiteX20" fmla="*/ 1671782 w 3759200"/>
                <a:gd name="connsiteY20" fmla="*/ 581965 h 628147"/>
                <a:gd name="connsiteX21" fmla="*/ 1699491 w 3759200"/>
                <a:gd name="connsiteY21" fmla="*/ 572729 h 628147"/>
                <a:gd name="connsiteX22" fmla="*/ 1847273 w 3759200"/>
                <a:gd name="connsiteY22" fmla="*/ 489602 h 628147"/>
                <a:gd name="connsiteX23" fmla="*/ 1921164 w 3759200"/>
                <a:gd name="connsiteY23" fmla="*/ 443420 h 628147"/>
                <a:gd name="connsiteX24" fmla="*/ 1958109 w 3759200"/>
                <a:gd name="connsiteY24" fmla="*/ 406474 h 628147"/>
                <a:gd name="connsiteX25" fmla="*/ 1985818 w 3759200"/>
                <a:gd name="connsiteY25" fmla="*/ 397238 h 628147"/>
                <a:gd name="connsiteX26" fmla="*/ 2078182 w 3759200"/>
                <a:gd name="connsiteY26" fmla="*/ 360293 h 628147"/>
                <a:gd name="connsiteX27" fmla="*/ 2105891 w 3759200"/>
                <a:gd name="connsiteY27" fmla="*/ 341820 h 628147"/>
                <a:gd name="connsiteX28" fmla="*/ 2161309 w 3759200"/>
                <a:gd name="connsiteY28" fmla="*/ 314111 h 628147"/>
                <a:gd name="connsiteX29" fmla="*/ 2318327 w 3759200"/>
                <a:gd name="connsiteY29" fmla="*/ 323347 h 628147"/>
                <a:gd name="connsiteX30" fmla="*/ 2382982 w 3759200"/>
                <a:gd name="connsiteY30" fmla="*/ 341820 h 628147"/>
                <a:gd name="connsiteX31" fmla="*/ 2456873 w 3759200"/>
                <a:gd name="connsiteY31" fmla="*/ 378765 h 628147"/>
                <a:gd name="connsiteX32" fmla="*/ 2484582 w 3759200"/>
                <a:gd name="connsiteY32" fmla="*/ 406474 h 628147"/>
                <a:gd name="connsiteX33" fmla="*/ 2540000 w 3759200"/>
                <a:gd name="connsiteY33" fmla="*/ 443420 h 628147"/>
                <a:gd name="connsiteX34" fmla="*/ 2641600 w 3759200"/>
                <a:gd name="connsiteY34" fmla="*/ 526547 h 628147"/>
                <a:gd name="connsiteX35" fmla="*/ 2678545 w 3759200"/>
                <a:gd name="connsiteY35" fmla="*/ 554256 h 628147"/>
                <a:gd name="connsiteX36" fmla="*/ 2715491 w 3759200"/>
                <a:gd name="connsiteY36" fmla="*/ 581965 h 628147"/>
                <a:gd name="connsiteX37" fmla="*/ 2780145 w 3759200"/>
                <a:gd name="connsiteY37" fmla="*/ 609674 h 628147"/>
                <a:gd name="connsiteX38" fmla="*/ 2872509 w 3759200"/>
                <a:gd name="connsiteY38" fmla="*/ 628147 h 628147"/>
                <a:gd name="connsiteX39" fmla="*/ 3057236 w 3759200"/>
                <a:gd name="connsiteY39" fmla="*/ 618911 h 628147"/>
                <a:gd name="connsiteX40" fmla="*/ 3103418 w 3759200"/>
                <a:gd name="connsiteY40" fmla="*/ 600438 h 628147"/>
                <a:gd name="connsiteX41" fmla="*/ 3149600 w 3759200"/>
                <a:gd name="connsiteY41" fmla="*/ 591202 h 628147"/>
                <a:gd name="connsiteX42" fmla="*/ 3260436 w 3759200"/>
                <a:gd name="connsiteY42" fmla="*/ 554256 h 628147"/>
                <a:gd name="connsiteX43" fmla="*/ 3297382 w 3759200"/>
                <a:gd name="connsiteY43" fmla="*/ 535783 h 628147"/>
                <a:gd name="connsiteX44" fmla="*/ 3426691 w 3759200"/>
                <a:gd name="connsiteY44" fmla="*/ 480365 h 628147"/>
                <a:gd name="connsiteX45" fmla="*/ 3556000 w 3759200"/>
                <a:gd name="connsiteY45" fmla="*/ 369529 h 628147"/>
                <a:gd name="connsiteX46" fmla="*/ 3574473 w 3759200"/>
                <a:gd name="connsiteY46" fmla="*/ 341820 h 628147"/>
                <a:gd name="connsiteX47" fmla="*/ 3602182 w 3759200"/>
                <a:gd name="connsiteY47" fmla="*/ 304874 h 628147"/>
                <a:gd name="connsiteX48" fmla="*/ 3611418 w 3759200"/>
                <a:gd name="connsiteY48" fmla="*/ 277165 h 628147"/>
                <a:gd name="connsiteX49" fmla="*/ 3629891 w 3759200"/>
                <a:gd name="connsiteY49" fmla="*/ 240220 h 628147"/>
                <a:gd name="connsiteX50" fmla="*/ 3639127 w 3759200"/>
                <a:gd name="connsiteY50" fmla="*/ 203274 h 628147"/>
                <a:gd name="connsiteX51" fmla="*/ 3666836 w 3759200"/>
                <a:gd name="connsiteY51" fmla="*/ 166329 h 628147"/>
                <a:gd name="connsiteX52" fmla="*/ 3685309 w 3759200"/>
                <a:gd name="connsiteY52" fmla="*/ 138620 h 628147"/>
                <a:gd name="connsiteX53" fmla="*/ 3694545 w 3759200"/>
                <a:gd name="connsiteY53" fmla="*/ 101674 h 628147"/>
                <a:gd name="connsiteX54" fmla="*/ 3722254 w 3759200"/>
                <a:gd name="connsiteY54" fmla="*/ 64729 h 628147"/>
                <a:gd name="connsiteX55" fmla="*/ 3740727 w 3759200"/>
                <a:gd name="connsiteY55" fmla="*/ 27783 h 628147"/>
                <a:gd name="connsiteX56" fmla="*/ 3759200 w 3759200"/>
                <a:gd name="connsiteY56" fmla="*/ 74 h 628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759200" h="628147">
                  <a:moveTo>
                    <a:pt x="0" y="314111"/>
                  </a:moveTo>
                  <a:cubicBezTo>
                    <a:pt x="15394" y="311032"/>
                    <a:pt x="31289" y="309839"/>
                    <a:pt x="46182" y="304874"/>
                  </a:cubicBezTo>
                  <a:cubicBezTo>
                    <a:pt x="68426" y="297459"/>
                    <a:pt x="88291" y="283606"/>
                    <a:pt x="110836" y="277165"/>
                  </a:cubicBezTo>
                  <a:cubicBezTo>
                    <a:pt x="131769" y="271184"/>
                    <a:pt x="153939" y="271008"/>
                    <a:pt x="175491" y="267929"/>
                  </a:cubicBezTo>
                  <a:cubicBezTo>
                    <a:pt x="336066" y="214403"/>
                    <a:pt x="247450" y="228696"/>
                    <a:pt x="443345" y="240220"/>
                  </a:cubicBezTo>
                  <a:cubicBezTo>
                    <a:pt x="471054" y="246378"/>
                    <a:pt x="499123" y="251096"/>
                    <a:pt x="526473" y="258693"/>
                  </a:cubicBezTo>
                  <a:cubicBezTo>
                    <a:pt x="554615" y="266510"/>
                    <a:pt x="581378" y="278876"/>
                    <a:pt x="609600" y="286402"/>
                  </a:cubicBezTo>
                  <a:cubicBezTo>
                    <a:pt x="627695" y="291227"/>
                    <a:pt x="646706" y="291714"/>
                    <a:pt x="665018" y="295638"/>
                  </a:cubicBezTo>
                  <a:cubicBezTo>
                    <a:pt x="689843" y="300958"/>
                    <a:pt x="738909" y="314111"/>
                    <a:pt x="738909" y="314111"/>
                  </a:cubicBezTo>
                  <a:cubicBezTo>
                    <a:pt x="748145" y="320268"/>
                    <a:pt x="756689" y="327619"/>
                    <a:pt x="766618" y="332583"/>
                  </a:cubicBezTo>
                  <a:cubicBezTo>
                    <a:pt x="781448" y="339998"/>
                    <a:pt x="798583" y="342526"/>
                    <a:pt x="812800" y="351056"/>
                  </a:cubicBezTo>
                  <a:cubicBezTo>
                    <a:pt x="845026" y="370392"/>
                    <a:pt x="905164" y="415711"/>
                    <a:pt x="905164" y="415711"/>
                  </a:cubicBezTo>
                  <a:cubicBezTo>
                    <a:pt x="923328" y="442957"/>
                    <a:pt x="924675" y="448904"/>
                    <a:pt x="951345" y="471129"/>
                  </a:cubicBezTo>
                  <a:cubicBezTo>
                    <a:pt x="959873" y="478236"/>
                    <a:pt x="970757" y="482227"/>
                    <a:pt x="979054" y="489602"/>
                  </a:cubicBezTo>
                  <a:cubicBezTo>
                    <a:pt x="998580" y="506958"/>
                    <a:pt x="1010012" y="535847"/>
                    <a:pt x="1034473" y="545020"/>
                  </a:cubicBezTo>
                  <a:cubicBezTo>
                    <a:pt x="1059103" y="554256"/>
                    <a:pt x="1084417" y="561844"/>
                    <a:pt x="1108364" y="572729"/>
                  </a:cubicBezTo>
                  <a:cubicBezTo>
                    <a:pt x="1118470" y="577323"/>
                    <a:pt x="1125440" y="588012"/>
                    <a:pt x="1136073" y="591202"/>
                  </a:cubicBezTo>
                  <a:cubicBezTo>
                    <a:pt x="1156925" y="597458"/>
                    <a:pt x="1179380" y="596169"/>
                    <a:pt x="1200727" y="600438"/>
                  </a:cubicBezTo>
                  <a:cubicBezTo>
                    <a:pt x="1356591" y="631611"/>
                    <a:pt x="1186036" y="610053"/>
                    <a:pt x="1366982" y="628147"/>
                  </a:cubicBezTo>
                  <a:cubicBezTo>
                    <a:pt x="1447030" y="625068"/>
                    <a:pt x="1527923" y="630912"/>
                    <a:pt x="1607127" y="618911"/>
                  </a:cubicBezTo>
                  <a:cubicBezTo>
                    <a:pt x="1631669" y="615192"/>
                    <a:pt x="1649580" y="593066"/>
                    <a:pt x="1671782" y="581965"/>
                  </a:cubicBezTo>
                  <a:cubicBezTo>
                    <a:pt x="1680490" y="577611"/>
                    <a:pt x="1690594" y="576683"/>
                    <a:pt x="1699491" y="572729"/>
                  </a:cubicBezTo>
                  <a:cubicBezTo>
                    <a:pt x="1732681" y="557978"/>
                    <a:pt x="1831671" y="505204"/>
                    <a:pt x="1847273" y="489602"/>
                  </a:cubicBezTo>
                  <a:cubicBezTo>
                    <a:pt x="1893194" y="443680"/>
                    <a:pt x="1867322" y="456880"/>
                    <a:pt x="1921164" y="443420"/>
                  </a:cubicBezTo>
                  <a:cubicBezTo>
                    <a:pt x="1933479" y="431105"/>
                    <a:pt x="1943937" y="416597"/>
                    <a:pt x="1958109" y="406474"/>
                  </a:cubicBezTo>
                  <a:cubicBezTo>
                    <a:pt x="1966031" y="400815"/>
                    <a:pt x="1977110" y="401592"/>
                    <a:pt x="1985818" y="397238"/>
                  </a:cubicBezTo>
                  <a:cubicBezTo>
                    <a:pt x="2065343" y="357476"/>
                    <a:pt x="1997010" y="376527"/>
                    <a:pt x="2078182" y="360293"/>
                  </a:cubicBezTo>
                  <a:cubicBezTo>
                    <a:pt x="2087418" y="354135"/>
                    <a:pt x="2095962" y="346785"/>
                    <a:pt x="2105891" y="341820"/>
                  </a:cubicBezTo>
                  <a:cubicBezTo>
                    <a:pt x="2182379" y="303575"/>
                    <a:pt x="2081890" y="367055"/>
                    <a:pt x="2161309" y="314111"/>
                  </a:cubicBezTo>
                  <a:cubicBezTo>
                    <a:pt x="2213648" y="317190"/>
                    <a:pt x="2266302" y="316844"/>
                    <a:pt x="2318327" y="323347"/>
                  </a:cubicBezTo>
                  <a:cubicBezTo>
                    <a:pt x="2340568" y="326127"/>
                    <a:pt x="2361513" y="335379"/>
                    <a:pt x="2382982" y="341820"/>
                  </a:cubicBezTo>
                  <a:cubicBezTo>
                    <a:pt x="2414551" y="351291"/>
                    <a:pt x="2426629" y="356082"/>
                    <a:pt x="2456873" y="378765"/>
                  </a:cubicBezTo>
                  <a:cubicBezTo>
                    <a:pt x="2467323" y="386602"/>
                    <a:pt x="2474271" y="398455"/>
                    <a:pt x="2484582" y="406474"/>
                  </a:cubicBezTo>
                  <a:cubicBezTo>
                    <a:pt x="2502107" y="420104"/>
                    <a:pt x="2524301" y="427721"/>
                    <a:pt x="2540000" y="443420"/>
                  </a:cubicBezTo>
                  <a:cubicBezTo>
                    <a:pt x="2589480" y="492900"/>
                    <a:pt x="2557258" y="463291"/>
                    <a:pt x="2641600" y="526547"/>
                  </a:cubicBezTo>
                  <a:lnTo>
                    <a:pt x="2678545" y="554256"/>
                  </a:lnTo>
                  <a:cubicBezTo>
                    <a:pt x="2690860" y="563492"/>
                    <a:pt x="2701722" y="575080"/>
                    <a:pt x="2715491" y="581965"/>
                  </a:cubicBezTo>
                  <a:cubicBezTo>
                    <a:pt x="2739182" y="593811"/>
                    <a:pt x="2754903" y="603849"/>
                    <a:pt x="2780145" y="609674"/>
                  </a:cubicBezTo>
                  <a:cubicBezTo>
                    <a:pt x="2810739" y="616734"/>
                    <a:pt x="2872509" y="628147"/>
                    <a:pt x="2872509" y="628147"/>
                  </a:cubicBezTo>
                  <a:cubicBezTo>
                    <a:pt x="2934085" y="625068"/>
                    <a:pt x="2996023" y="626257"/>
                    <a:pt x="3057236" y="618911"/>
                  </a:cubicBezTo>
                  <a:cubicBezTo>
                    <a:pt x="3073698" y="616936"/>
                    <a:pt x="3087537" y="605202"/>
                    <a:pt x="3103418" y="600438"/>
                  </a:cubicBezTo>
                  <a:cubicBezTo>
                    <a:pt x="3118455" y="595927"/>
                    <a:pt x="3134539" y="595632"/>
                    <a:pt x="3149600" y="591202"/>
                  </a:cubicBezTo>
                  <a:cubicBezTo>
                    <a:pt x="3186961" y="580213"/>
                    <a:pt x="3225604" y="571672"/>
                    <a:pt x="3260436" y="554256"/>
                  </a:cubicBezTo>
                  <a:cubicBezTo>
                    <a:pt x="3272751" y="548098"/>
                    <a:pt x="3284598" y="540897"/>
                    <a:pt x="3297382" y="535783"/>
                  </a:cubicBezTo>
                  <a:cubicBezTo>
                    <a:pt x="3342803" y="517615"/>
                    <a:pt x="3386468" y="513274"/>
                    <a:pt x="3426691" y="480365"/>
                  </a:cubicBezTo>
                  <a:cubicBezTo>
                    <a:pt x="3435487" y="473168"/>
                    <a:pt x="3528070" y="403044"/>
                    <a:pt x="3556000" y="369529"/>
                  </a:cubicBezTo>
                  <a:cubicBezTo>
                    <a:pt x="3563107" y="361001"/>
                    <a:pt x="3568021" y="350853"/>
                    <a:pt x="3574473" y="341820"/>
                  </a:cubicBezTo>
                  <a:cubicBezTo>
                    <a:pt x="3583421" y="329293"/>
                    <a:pt x="3592946" y="317189"/>
                    <a:pt x="3602182" y="304874"/>
                  </a:cubicBezTo>
                  <a:cubicBezTo>
                    <a:pt x="3605261" y="295638"/>
                    <a:pt x="3607583" y="286114"/>
                    <a:pt x="3611418" y="277165"/>
                  </a:cubicBezTo>
                  <a:cubicBezTo>
                    <a:pt x="3616842" y="264510"/>
                    <a:pt x="3625057" y="253112"/>
                    <a:pt x="3629891" y="240220"/>
                  </a:cubicBezTo>
                  <a:cubicBezTo>
                    <a:pt x="3634348" y="228334"/>
                    <a:pt x="3633450" y="214628"/>
                    <a:pt x="3639127" y="203274"/>
                  </a:cubicBezTo>
                  <a:cubicBezTo>
                    <a:pt x="3646011" y="189505"/>
                    <a:pt x="3657888" y="178855"/>
                    <a:pt x="3666836" y="166329"/>
                  </a:cubicBezTo>
                  <a:cubicBezTo>
                    <a:pt x="3673288" y="157296"/>
                    <a:pt x="3679151" y="147856"/>
                    <a:pt x="3685309" y="138620"/>
                  </a:cubicBezTo>
                  <a:cubicBezTo>
                    <a:pt x="3688388" y="126305"/>
                    <a:pt x="3688868" y="113028"/>
                    <a:pt x="3694545" y="101674"/>
                  </a:cubicBezTo>
                  <a:cubicBezTo>
                    <a:pt x="3701429" y="87905"/>
                    <a:pt x="3714095" y="77783"/>
                    <a:pt x="3722254" y="64729"/>
                  </a:cubicBezTo>
                  <a:cubicBezTo>
                    <a:pt x="3729552" y="53053"/>
                    <a:pt x="3735303" y="40439"/>
                    <a:pt x="3740727" y="27783"/>
                  </a:cubicBezTo>
                  <a:cubicBezTo>
                    <a:pt x="3753854" y="-2847"/>
                    <a:pt x="3739306" y="74"/>
                    <a:pt x="3759200" y="74"/>
                  </a:cubicBezTo>
                </a:path>
              </a:pathLst>
            </a:custGeom>
            <a:noFill/>
            <a:ln>
              <a:solidFill>
                <a:schemeClr val="bg2">
                  <a:lumMod val="9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7EE847AC-11F6-1334-81D6-37B0A1180413}"/>
              </a:ext>
            </a:extLst>
          </p:cNvPr>
          <p:cNvGrpSpPr/>
          <p:nvPr/>
        </p:nvGrpSpPr>
        <p:grpSpPr>
          <a:xfrm>
            <a:off x="7195127" y="3494294"/>
            <a:ext cx="3971637" cy="532761"/>
            <a:chOff x="7195127" y="3494294"/>
            <a:chExt cx="3971637" cy="532761"/>
          </a:xfrm>
        </p:grpSpPr>
        <p:grpSp>
          <p:nvGrpSpPr>
            <p:cNvPr id="25" name="Group 24">
              <a:extLst>
                <a:ext uri="{FF2B5EF4-FFF2-40B4-BE49-F238E27FC236}">
                  <a16:creationId xmlns:a16="http://schemas.microsoft.com/office/drawing/2014/main" id="{C34656D8-F85E-5AAE-4168-11AEB8F14F2C}"/>
                </a:ext>
              </a:extLst>
            </p:cNvPr>
            <p:cNvGrpSpPr/>
            <p:nvPr/>
          </p:nvGrpSpPr>
          <p:grpSpPr>
            <a:xfrm>
              <a:off x="10275455" y="3494294"/>
              <a:ext cx="480291" cy="490807"/>
              <a:chOff x="7573818" y="1956829"/>
              <a:chExt cx="480291" cy="490807"/>
            </a:xfrm>
          </p:grpSpPr>
          <p:sp>
            <p:nvSpPr>
              <p:cNvPr id="26" name="Rectangle: Rounded Corners 25">
                <a:extLst>
                  <a:ext uri="{FF2B5EF4-FFF2-40B4-BE49-F238E27FC236}">
                    <a16:creationId xmlns:a16="http://schemas.microsoft.com/office/drawing/2014/main" id="{240BB077-F37A-B91A-B638-00FC0D7FAF22}"/>
                  </a:ext>
                </a:extLst>
              </p:cNvPr>
              <p:cNvSpPr/>
              <p:nvPr/>
            </p:nvSpPr>
            <p:spPr>
              <a:xfrm>
                <a:off x="7573818" y="2087418"/>
                <a:ext cx="480291" cy="360218"/>
              </a:xfrm>
              <a:prstGeom prst="roundRect">
                <a:avLst/>
              </a:prstGeom>
              <a:pattFill prst="pct25">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9B534EFE-8F66-68EF-FFC1-7D5AB097CD28}"/>
                  </a:ext>
                </a:extLst>
              </p:cNvPr>
              <p:cNvGrpSpPr/>
              <p:nvPr/>
            </p:nvGrpSpPr>
            <p:grpSpPr>
              <a:xfrm>
                <a:off x="7684653" y="1956829"/>
                <a:ext cx="258620" cy="261178"/>
                <a:chOff x="8506690" y="1428949"/>
                <a:chExt cx="572654" cy="279778"/>
              </a:xfrm>
            </p:grpSpPr>
            <p:sp>
              <p:nvSpPr>
                <p:cNvPr id="28" name="Oval 27">
                  <a:extLst>
                    <a:ext uri="{FF2B5EF4-FFF2-40B4-BE49-F238E27FC236}">
                      <a16:creationId xmlns:a16="http://schemas.microsoft.com/office/drawing/2014/main" id="{D36D1D6F-80BB-8F15-3258-76090F377993}"/>
                    </a:ext>
                  </a:extLst>
                </p:cNvPr>
                <p:cNvSpPr/>
                <p:nvPr/>
              </p:nvSpPr>
              <p:spPr>
                <a:xfrm>
                  <a:off x="8793017"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0A4E65AD-E78E-DB05-BA55-10D29648BB28}"/>
                    </a:ext>
                  </a:extLst>
                </p:cNvPr>
                <p:cNvSpPr/>
                <p:nvPr/>
              </p:nvSpPr>
              <p:spPr>
                <a:xfrm>
                  <a:off x="8506690" y="1644073"/>
                  <a:ext cx="286327" cy="646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0454BB98-71A6-E90D-9766-06DC1A9336F4}"/>
                    </a:ext>
                  </a:extLst>
                </p:cNvPr>
                <p:cNvCxnSpPr>
                  <a:cxnSpLocks/>
                  <a:stCxn id="28" idx="2"/>
                </p:cNvCxnSpPr>
                <p:nvPr/>
              </p:nvCxnSpPr>
              <p:spPr>
                <a:xfrm flipV="1">
                  <a:off x="8793017" y="1428949"/>
                  <a:ext cx="0" cy="247451"/>
                </a:xfrm>
                <a:prstGeom prst="line">
                  <a:avLst/>
                </a:prstGeom>
              </p:spPr>
              <p:style>
                <a:lnRef idx="2">
                  <a:schemeClr val="accent1"/>
                </a:lnRef>
                <a:fillRef idx="0">
                  <a:schemeClr val="accent1"/>
                </a:fillRef>
                <a:effectRef idx="1">
                  <a:schemeClr val="accent1"/>
                </a:effectRef>
                <a:fontRef idx="minor">
                  <a:schemeClr val="tx1"/>
                </a:fontRef>
              </p:style>
            </p:cxnSp>
          </p:grpSp>
        </p:grpSp>
        <p:sp>
          <p:nvSpPr>
            <p:cNvPr id="34" name="Freeform: Shape 33">
              <a:extLst>
                <a:ext uri="{FF2B5EF4-FFF2-40B4-BE49-F238E27FC236}">
                  <a16:creationId xmlns:a16="http://schemas.microsoft.com/office/drawing/2014/main" id="{7507CED8-C97D-49EB-8C8C-12785D752B84}"/>
                </a:ext>
              </a:extLst>
            </p:cNvPr>
            <p:cNvSpPr/>
            <p:nvPr/>
          </p:nvSpPr>
          <p:spPr>
            <a:xfrm>
              <a:off x="7195127" y="3805382"/>
              <a:ext cx="3971637" cy="221673"/>
            </a:xfrm>
            <a:custGeom>
              <a:avLst/>
              <a:gdLst>
                <a:gd name="connsiteX0" fmla="*/ 0 w 3971637"/>
                <a:gd name="connsiteY0" fmla="*/ 36945 h 221673"/>
                <a:gd name="connsiteX1" fmla="*/ 323273 w 3971637"/>
                <a:gd name="connsiteY1" fmla="*/ 46182 h 221673"/>
                <a:gd name="connsiteX2" fmla="*/ 489528 w 3971637"/>
                <a:gd name="connsiteY2" fmla="*/ 64654 h 221673"/>
                <a:gd name="connsiteX3" fmla="*/ 572655 w 3971637"/>
                <a:gd name="connsiteY3" fmla="*/ 101600 h 221673"/>
                <a:gd name="connsiteX4" fmla="*/ 618837 w 3971637"/>
                <a:gd name="connsiteY4" fmla="*/ 129309 h 221673"/>
                <a:gd name="connsiteX5" fmla="*/ 683491 w 3971637"/>
                <a:gd name="connsiteY5" fmla="*/ 138545 h 221673"/>
                <a:gd name="connsiteX6" fmla="*/ 738909 w 3971637"/>
                <a:gd name="connsiteY6" fmla="*/ 147782 h 221673"/>
                <a:gd name="connsiteX7" fmla="*/ 822037 w 3971637"/>
                <a:gd name="connsiteY7" fmla="*/ 175491 h 221673"/>
                <a:gd name="connsiteX8" fmla="*/ 942109 w 3971637"/>
                <a:gd name="connsiteY8" fmla="*/ 193963 h 221673"/>
                <a:gd name="connsiteX9" fmla="*/ 1025237 w 3971637"/>
                <a:gd name="connsiteY9" fmla="*/ 203200 h 221673"/>
                <a:gd name="connsiteX10" fmla="*/ 1080655 w 3971637"/>
                <a:gd name="connsiteY10" fmla="*/ 212436 h 221673"/>
                <a:gd name="connsiteX11" fmla="*/ 1403928 w 3971637"/>
                <a:gd name="connsiteY11" fmla="*/ 221673 h 221673"/>
                <a:gd name="connsiteX12" fmla="*/ 1736437 w 3971637"/>
                <a:gd name="connsiteY12" fmla="*/ 203200 h 221673"/>
                <a:gd name="connsiteX13" fmla="*/ 1764146 w 3971637"/>
                <a:gd name="connsiteY13" fmla="*/ 193963 h 221673"/>
                <a:gd name="connsiteX14" fmla="*/ 1874982 w 3971637"/>
                <a:gd name="connsiteY14" fmla="*/ 166254 h 221673"/>
                <a:gd name="connsiteX15" fmla="*/ 1939637 w 3971637"/>
                <a:gd name="connsiteY15" fmla="*/ 147782 h 221673"/>
                <a:gd name="connsiteX16" fmla="*/ 2004291 w 3971637"/>
                <a:gd name="connsiteY16" fmla="*/ 138545 h 221673"/>
                <a:gd name="connsiteX17" fmla="*/ 2068946 w 3971637"/>
                <a:gd name="connsiteY17" fmla="*/ 101600 h 221673"/>
                <a:gd name="connsiteX18" fmla="*/ 2115128 w 3971637"/>
                <a:gd name="connsiteY18" fmla="*/ 92363 h 221673"/>
                <a:gd name="connsiteX19" fmla="*/ 2170546 w 3971637"/>
                <a:gd name="connsiteY19" fmla="*/ 73891 h 221673"/>
                <a:gd name="connsiteX20" fmla="*/ 2364509 w 3971637"/>
                <a:gd name="connsiteY20" fmla="*/ 55418 h 221673"/>
                <a:gd name="connsiteX21" fmla="*/ 2410691 w 3971637"/>
                <a:gd name="connsiteY21" fmla="*/ 27709 h 221673"/>
                <a:gd name="connsiteX22" fmla="*/ 2558473 w 3971637"/>
                <a:gd name="connsiteY22" fmla="*/ 9236 h 221673"/>
                <a:gd name="connsiteX23" fmla="*/ 2595418 w 3971637"/>
                <a:gd name="connsiteY23" fmla="*/ 0 h 221673"/>
                <a:gd name="connsiteX24" fmla="*/ 2946400 w 3971637"/>
                <a:gd name="connsiteY24" fmla="*/ 9236 h 221673"/>
                <a:gd name="connsiteX25" fmla="*/ 3029528 w 3971637"/>
                <a:gd name="connsiteY25" fmla="*/ 27709 h 221673"/>
                <a:gd name="connsiteX26" fmla="*/ 3140364 w 3971637"/>
                <a:gd name="connsiteY26" fmla="*/ 36945 h 221673"/>
                <a:gd name="connsiteX27" fmla="*/ 3565237 w 3971637"/>
                <a:gd name="connsiteY27" fmla="*/ 36945 h 221673"/>
                <a:gd name="connsiteX28" fmla="*/ 3620655 w 3971637"/>
                <a:gd name="connsiteY28" fmla="*/ 27709 h 221673"/>
                <a:gd name="connsiteX29" fmla="*/ 3722255 w 3971637"/>
                <a:gd name="connsiteY29" fmla="*/ 18473 h 221673"/>
                <a:gd name="connsiteX30" fmla="*/ 3906982 w 3971637"/>
                <a:gd name="connsiteY30" fmla="*/ 36945 h 221673"/>
                <a:gd name="connsiteX31" fmla="*/ 3971637 w 3971637"/>
                <a:gd name="connsiteY31" fmla="*/ 55418 h 221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971637" h="221673">
                  <a:moveTo>
                    <a:pt x="0" y="36945"/>
                  </a:moveTo>
                  <a:lnTo>
                    <a:pt x="323273" y="46182"/>
                  </a:lnTo>
                  <a:cubicBezTo>
                    <a:pt x="444469" y="51129"/>
                    <a:pt x="416762" y="46464"/>
                    <a:pt x="489528" y="64654"/>
                  </a:cubicBezTo>
                  <a:cubicBezTo>
                    <a:pt x="642681" y="156547"/>
                    <a:pt x="450347" y="47241"/>
                    <a:pt x="572655" y="101600"/>
                  </a:cubicBezTo>
                  <a:cubicBezTo>
                    <a:pt x="589060" y="108891"/>
                    <a:pt x="601806" y="123632"/>
                    <a:pt x="618837" y="129309"/>
                  </a:cubicBezTo>
                  <a:cubicBezTo>
                    <a:pt x="639490" y="136193"/>
                    <a:pt x="661974" y="135235"/>
                    <a:pt x="683491" y="138545"/>
                  </a:cubicBezTo>
                  <a:cubicBezTo>
                    <a:pt x="702001" y="141393"/>
                    <a:pt x="720545" y="144109"/>
                    <a:pt x="738909" y="147782"/>
                  </a:cubicBezTo>
                  <a:cubicBezTo>
                    <a:pt x="833168" y="166634"/>
                    <a:pt x="710221" y="144996"/>
                    <a:pt x="822037" y="175491"/>
                  </a:cubicBezTo>
                  <a:cubicBezTo>
                    <a:pt x="835073" y="179046"/>
                    <a:pt x="933147" y="192843"/>
                    <a:pt x="942109" y="193963"/>
                  </a:cubicBezTo>
                  <a:cubicBezTo>
                    <a:pt x="969774" y="197421"/>
                    <a:pt x="997602" y="199515"/>
                    <a:pt x="1025237" y="203200"/>
                  </a:cubicBezTo>
                  <a:cubicBezTo>
                    <a:pt x="1043800" y="205675"/>
                    <a:pt x="1061950" y="211524"/>
                    <a:pt x="1080655" y="212436"/>
                  </a:cubicBezTo>
                  <a:cubicBezTo>
                    <a:pt x="1188329" y="217688"/>
                    <a:pt x="1296170" y="218594"/>
                    <a:pt x="1403928" y="221673"/>
                  </a:cubicBezTo>
                  <a:cubicBezTo>
                    <a:pt x="1514764" y="215515"/>
                    <a:pt x="1625757" y="211714"/>
                    <a:pt x="1736437" y="203200"/>
                  </a:cubicBezTo>
                  <a:cubicBezTo>
                    <a:pt x="1746144" y="202453"/>
                    <a:pt x="1754739" y="196472"/>
                    <a:pt x="1764146" y="193963"/>
                  </a:cubicBezTo>
                  <a:cubicBezTo>
                    <a:pt x="1800942" y="184150"/>
                    <a:pt x="1838365" y="176716"/>
                    <a:pt x="1874982" y="166254"/>
                  </a:cubicBezTo>
                  <a:cubicBezTo>
                    <a:pt x="1896534" y="160097"/>
                    <a:pt x="1917721" y="152478"/>
                    <a:pt x="1939637" y="147782"/>
                  </a:cubicBezTo>
                  <a:cubicBezTo>
                    <a:pt x="1960924" y="143221"/>
                    <a:pt x="1982740" y="141624"/>
                    <a:pt x="2004291" y="138545"/>
                  </a:cubicBezTo>
                  <a:cubicBezTo>
                    <a:pt x="2025843" y="126230"/>
                    <a:pt x="2046033" y="111147"/>
                    <a:pt x="2068946" y="101600"/>
                  </a:cubicBezTo>
                  <a:cubicBezTo>
                    <a:pt x="2083437" y="95562"/>
                    <a:pt x="2099982" y="96494"/>
                    <a:pt x="2115128" y="92363"/>
                  </a:cubicBezTo>
                  <a:cubicBezTo>
                    <a:pt x="2133914" y="87240"/>
                    <a:pt x="2151452" y="77710"/>
                    <a:pt x="2170546" y="73891"/>
                  </a:cubicBezTo>
                  <a:cubicBezTo>
                    <a:pt x="2199122" y="68176"/>
                    <a:pt x="2347428" y="56841"/>
                    <a:pt x="2364509" y="55418"/>
                  </a:cubicBezTo>
                  <a:cubicBezTo>
                    <a:pt x="2379903" y="46182"/>
                    <a:pt x="2393227" y="31867"/>
                    <a:pt x="2410691" y="27709"/>
                  </a:cubicBezTo>
                  <a:cubicBezTo>
                    <a:pt x="2458985" y="16210"/>
                    <a:pt x="2510311" y="21276"/>
                    <a:pt x="2558473" y="9236"/>
                  </a:cubicBezTo>
                  <a:lnTo>
                    <a:pt x="2595418" y="0"/>
                  </a:lnTo>
                  <a:lnTo>
                    <a:pt x="2946400" y="9236"/>
                  </a:lnTo>
                  <a:cubicBezTo>
                    <a:pt x="3120796" y="17163"/>
                    <a:pt x="2927189" y="14064"/>
                    <a:pt x="3029528" y="27709"/>
                  </a:cubicBezTo>
                  <a:cubicBezTo>
                    <a:pt x="3066276" y="32609"/>
                    <a:pt x="3103419" y="33866"/>
                    <a:pt x="3140364" y="36945"/>
                  </a:cubicBezTo>
                  <a:cubicBezTo>
                    <a:pt x="3312107" y="65571"/>
                    <a:pt x="3211189" y="52339"/>
                    <a:pt x="3565237" y="36945"/>
                  </a:cubicBezTo>
                  <a:cubicBezTo>
                    <a:pt x="3583947" y="36132"/>
                    <a:pt x="3602056" y="29897"/>
                    <a:pt x="3620655" y="27709"/>
                  </a:cubicBezTo>
                  <a:cubicBezTo>
                    <a:pt x="3654428" y="23736"/>
                    <a:pt x="3688388" y="21552"/>
                    <a:pt x="3722255" y="18473"/>
                  </a:cubicBezTo>
                  <a:cubicBezTo>
                    <a:pt x="3754034" y="20917"/>
                    <a:pt x="3862244" y="26621"/>
                    <a:pt x="3906982" y="36945"/>
                  </a:cubicBezTo>
                  <a:cubicBezTo>
                    <a:pt x="3991251" y="56392"/>
                    <a:pt x="3938828" y="55418"/>
                    <a:pt x="3971637" y="55418"/>
                  </a:cubicBezTo>
                </a:path>
              </a:pathLst>
            </a:custGeom>
            <a:noFill/>
            <a:ln>
              <a:solidFill>
                <a:schemeClr val="bg2">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lide Number Placeholder 2">
            <a:extLst>
              <a:ext uri="{FF2B5EF4-FFF2-40B4-BE49-F238E27FC236}">
                <a16:creationId xmlns:a16="http://schemas.microsoft.com/office/drawing/2014/main" id="{9AD7B54A-BF69-0262-1DEE-126A42579634}"/>
              </a:ext>
            </a:extLst>
          </p:cNvPr>
          <p:cNvSpPr>
            <a:spLocks noGrp="1"/>
          </p:cNvSpPr>
          <p:nvPr>
            <p:ph type="sldNum" sz="quarter" idx="12"/>
          </p:nvPr>
        </p:nvSpPr>
        <p:spPr/>
        <p:txBody>
          <a:bodyPr/>
          <a:lstStyle/>
          <a:p>
            <a:fld id="{34765577-9A70-4B44-A463-20938F747DD0}" type="slidenum">
              <a:rPr lang="en-US" smtClean="0"/>
              <a:t>12</a:t>
            </a:fld>
            <a:endParaRPr lang="en-US"/>
          </a:p>
        </p:txBody>
      </p:sp>
    </p:spTree>
    <p:extLst>
      <p:ext uri="{BB962C8B-B14F-4D97-AF65-F5344CB8AC3E}">
        <p14:creationId xmlns:p14="http://schemas.microsoft.com/office/powerpoint/2010/main" val="264339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500"/>
                                        <p:tgtEl>
                                          <p:spTgt spid="4">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Effect transition="in" filter="fade">
                                      <p:cBhvr>
                                        <p:cTn id="37" dur="500"/>
                                        <p:tgtEl>
                                          <p:spTgt spid="4">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500"/>
                                        <p:tgtEl>
                                          <p:spTgt spid="4">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500"/>
                                        <p:tgtEl>
                                          <p:spTgt spid="4">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6" end="6"/>
                                            </p:txEl>
                                          </p:spTgt>
                                        </p:tgtEl>
                                        <p:attrNameLst>
                                          <p:attrName>style.visibility</p:attrName>
                                        </p:attrNameLst>
                                      </p:cBhvr>
                                      <p:to>
                                        <p:strVal val="visible"/>
                                      </p:to>
                                    </p:set>
                                    <p:animEffect transition="in" filter="fade">
                                      <p:cBhvr>
                                        <p:cTn id="5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36881-D158-283B-71E1-A7141A701A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F8D27-9A61-1AFB-E016-955014F6BB74}"/>
              </a:ext>
            </a:extLst>
          </p:cNvPr>
          <p:cNvSpPr>
            <a:spLocks noGrp="1"/>
          </p:cNvSpPr>
          <p:nvPr>
            <p:ph type="title"/>
          </p:nvPr>
        </p:nvSpPr>
        <p:spPr/>
        <p:txBody>
          <a:bodyPr/>
          <a:lstStyle/>
          <a:p>
            <a:pPr algn="ctr"/>
            <a:r>
              <a:rPr lang="en-US" dirty="0">
                <a:solidFill>
                  <a:srgbClr val="0000CC"/>
                </a:solidFill>
              </a:rPr>
              <a:t>Chemical Reactor Performance</a:t>
            </a:r>
            <a:br>
              <a:rPr lang="en-US" dirty="0">
                <a:solidFill>
                  <a:srgbClr val="0000CC"/>
                </a:solidFill>
              </a:rPr>
            </a:br>
            <a:r>
              <a:rPr lang="en-US" dirty="0">
                <a:solidFill>
                  <a:srgbClr val="0000CC"/>
                </a:solidFill>
              </a:rPr>
              <a:t>Segregated Flow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BCE3AA-0E18-412D-8C37-FD9ECB62AC43}"/>
                  </a:ext>
                </a:extLst>
              </p:cNvPr>
              <p:cNvSpPr>
                <a:spLocks noGrp="1"/>
              </p:cNvSpPr>
              <p:nvPr>
                <p:ph idx="1"/>
              </p:nvPr>
            </p:nvSpPr>
            <p:spPr>
              <a:xfrm>
                <a:off x="394283" y="1825625"/>
                <a:ext cx="10959517" cy="4667250"/>
              </a:xfrm>
            </p:spPr>
            <p:txBody>
              <a:bodyPr/>
              <a:lstStyle/>
              <a:p>
                <a:pPr marL="0" indent="0">
                  <a:buNone/>
                </a:pPr>
                <a14:m>
                  <m:oMathPara xmlns:m="http://schemas.openxmlformats.org/officeDocument/2006/math">
                    <m:oMath>
                      <m:sSub>
                        <m:sSubPr>
                          <m:ctrlPr>
                            <a:rPr lang="en-US" i="1" smtClean="0">
                              <a:latin typeface="Cambria Math" panose="02040503050406030204" pitchFamily="18" charset="0"/>
                            </a:rPr>
                          </m:ctrlPr>
                        </m:sSubPr>
                        <m:e>
                          <m:d>
                            <m:dPr>
                              <m:ctrlPr>
                                <a:rPr lang="en-US"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den>
                              </m:f>
                            </m:e>
                          </m:d>
                        </m:e>
                        <m:sub>
                          <m:r>
                            <a:rPr lang="en-US" b="0" i="1" smtClean="0">
                              <a:latin typeface="Cambria Math" panose="02040503050406030204" pitchFamily="18" charset="0"/>
                            </a:rPr>
                            <m:t>𝑟𝑒𝑎𝑐𝑡𝑜𝑟</m:t>
                          </m:r>
                        </m:sub>
                      </m:sSub>
                      <m:r>
                        <a:rPr lang="en-US" b="0" i="1" smtClean="0">
                          <a:latin typeface="Cambria Math" panose="02040503050406030204" pitchFamily="18" charset="0"/>
                        </a:rPr>
                        <m:t>=</m:t>
                      </m:r>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m:t>
                          </m:r>
                        </m:sup>
                        <m:e>
                          <m:sSub>
                            <m:sSubPr>
                              <m:ctrlPr>
                                <a:rPr lang="en-US" b="0" i="1" smtClean="0">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𝐶</m:t>
                                      </m:r>
                                    </m:num>
                                    <m:den>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0</m:t>
                                          </m:r>
                                        </m:sub>
                                      </m:sSub>
                                    </m:den>
                                  </m:f>
                                </m:e>
                              </m:d>
                            </m:e>
                            <m:sub>
                              <m:r>
                                <a:rPr lang="en-US" b="0" i="1" smtClean="0">
                                  <a:latin typeface="Cambria Math" panose="02040503050406030204" pitchFamily="18" charset="0"/>
                                </a:rPr>
                                <m:t>𝑏𝑎𝑡𝑐ℎ</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𝑑𝑡</m:t>
                          </m:r>
                        </m:e>
                      </m:nary>
                    </m:oMath>
                  </m:oMathPara>
                </a14:m>
                <a:endParaRPr lang="en-US" dirty="0"/>
              </a:p>
              <a:p>
                <a14:m>
                  <m:oMath xmlns:m="http://schemas.openxmlformats.org/officeDocument/2006/math">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𝐶</m:t>
                                </m:r>
                              </m:num>
                              <m:den>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0</m:t>
                                    </m:r>
                                  </m:sub>
                                </m:sSub>
                              </m:den>
                            </m:f>
                          </m:e>
                        </m:d>
                      </m:e>
                      <m:sub>
                        <m:r>
                          <a:rPr lang="en-US" i="1">
                            <a:latin typeface="Cambria Math" panose="02040503050406030204" pitchFamily="18" charset="0"/>
                          </a:rPr>
                          <m:t>𝑟𝑒𝑎𝑐𝑡𝑜𝑟</m:t>
                        </m:r>
                      </m:sub>
                    </m:sSub>
                  </m:oMath>
                </a14:m>
                <a:r>
                  <a:rPr lang="en-US" dirty="0"/>
                  <a:t>= fraction of reactant remaining after treatment</a:t>
                </a:r>
              </a:p>
              <a:p>
                <a14:m>
                  <m:oMath xmlns:m="http://schemas.openxmlformats.org/officeDocument/2006/math">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𝐶</m:t>
                                </m:r>
                              </m:num>
                              <m:den>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0</m:t>
                                    </m:r>
                                  </m:sub>
                                </m:sSub>
                              </m:den>
                            </m:f>
                          </m:e>
                        </m:d>
                      </m:e>
                      <m:sub>
                        <m:r>
                          <a:rPr lang="en-US" i="1">
                            <a:latin typeface="Cambria Math" panose="02040503050406030204" pitchFamily="18" charset="0"/>
                          </a:rPr>
                          <m:t>𝑏𝑎𝑡𝑐ℎ</m:t>
                        </m:r>
                      </m:sub>
                    </m:sSub>
                  </m:oMath>
                </a14:m>
                <a:r>
                  <a:rPr lang="en-US" dirty="0"/>
                  <a:t> = intrinsic kinetics of reaction</a:t>
                </a:r>
              </a:p>
              <a:p>
                <a14:m>
                  <m:oMath xmlns:m="http://schemas.openxmlformats.org/officeDocument/2006/math">
                    <m:r>
                      <a:rPr lang="en-US" i="1">
                        <a:latin typeface="Cambria Math" panose="02040503050406030204" pitchFamily="18" charset="0"/>
                        <a:ea typeface="Cambria Math" panose="02040503050406030204" pitchFamily="18" charset="0"/>
                      </a:rPr>
                      <m:t>𝐸</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𝑑𝑡</m:t>
                    </m:r>
                  </m:oMath>
                </a14:m>
                <a:r>
                  <a:rPr lang="en-US" dirty="0"/>
                  <a:t> represents fraction of fluid elements with residence (reaction) time between </a:t>
                </a:r>
                <a:r>
                  <a:rPr lang="en-US" i="1" dirty="0"/>
                  <a:t>t</a:t>
                </a:r>
                <a:r>
                  <a:rPr lang="en-US" dirty="0"/>
                  <a:t> and </a:t>
                </a:r>
                <a:r>
                  <a:rPr lang="en-US" i="1" dirty="0" err="1"/>
                  <a:t>t+dt</a:t>
                </a:r>
                <a:r>
                  <a:rPr lang="en-US" dirty="0"/>
                  <a:t> (weighting function)</a:t>
                </a:r>
                <a:endParaRPr lang="en-US" i="1" dirty="0"/>
              </a:p>
              <a:p>
                <a:r>
                  <a:rPr lang="en-US" dirty="0"/>
                  <a:t>Exact solution for 1</a:t>
                </a:r>
                <a:r>
                  <a:rPr lang="en-US" baseline="30000" dirty="0"/>
                  <a:t>st</a:t>
                </a:r>
                <a:r>
                  <a:rPr lang="en-US" dirty="0"/>
                  <a:t>-order kinetics</a:t>
                </a:r>
              </a:p>
            </p:txBody>
          </p:sp>
        </mc:Choice>
        <mc:Fallback xmlns="">
          <p:sp>
            <p:nvSpPr>
              <p:cNvPr id="3" name="Content Placeholder 2">
                <a:extLst>
                  <a:ext uri="{FF2B5EF4-FFF2-40B4-BE49-F238E27FC236}">
                    <a16:creationId xmlns:a16="http://schemas.microsoft.com/office/drawing/2014/main" id="{90BCE3AA-0E18-412D-8C37-FD9ECB62AC43}"/>
                  </a:ext>
                </a:extLst>
              </p:cNvPr>
              <p:cNvSpPr>
                <a:spLocks noGrp="1" noRot="1" noChangeAspect="1" noMove="1" noResize="1" noEditPoints="1" noAdjustHandles="1" noChangeArrowheads="1" noChangeShapeType="1" noTextEdit="1"/>
              </p:cNvSpPr>
              <p:nvPr>
                <p:ph idx="1"/>
              </p:nvPr>
            </p:nvSpPr>
            <p:spPr>
              <a:xfrm>
                <a:off x="394283" y="1825625"/>
                <a:ext cx="10959517" cy="4667250"/>
              </a:xfrm>
              <a:blipFill>
                <a:blip r:embed="rId2"/>
                <a:stretch>
                  <a:fillRect l="-100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61E5E0D-3FD9-90D5-F0A4-44CFE82998C1}"/>
              </a:ext>
            </a:extLst>
          </p:cNvPr>
          <p:cNvSpPr>
            <a:spLocks noGrp="1"/>
          </p:cNvSpPr>
          <p:nvPr>
            <p:ph type="sldNum" sz="quarter" idx="12"/>
          </p:nvPr>
        </p:nvSpPr>
        <p:spPr/>
        <p:txBody>
          <a:bodyPr/>
          <a:lstStyle/>
          <a:p>
            <a:fld id="{34765577-9A70-4B44-A463-20938F747DD0}" type="slidenum">
              <a:rPr lang="en-US" smtClean="0"/>
              <a:t>13</a:t>
            </a:fld>
            <a:endParaRPr lang="en-US"/>
          </a:p>
        </p:txBody>
      </p:sp>
    </p:spTree>
    <p:extLst>
      <p:ext uri="{BB962C8B-B14F-4D97-AF65-F5344CB8AC3E}">
        <p14:creationId xmlns:p14="http://schemas.microsoft.com/office/powerpoint/2010/main" val="65591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0925283B-5AE2-C03D-286B-9E91AB209CFA}"/>
              </a:ext>
            </a:extLst>
          </p:cNvPr>
          <p:cNvGraphicFramePr>
            <a:graphicFrameLocks noChangeAspect="1"/>
          </p:cNvGraphicFramePr>
          <p:nvPr/>
        </p:nvGraphicFramePr>
        <p:xfrm>
          <a:off x="1785575" y="0"/>
          <a:ext cx="8623254" cy="6857999"/>
        </p:xfrm>
        <a:graphic>
          <a:graphicData uri="http://schemas.openxmlformats.org/presentationml/2006/ole">
            <mc:AlternateContent xmlns:mc="http://schemas.openxmlformats.org/markup-compatibility/2006">
              <mc:Choice xmlns:v="urn:schemas-microsoft-com:vml" Requires="v">
                <p:oleObj name="SPW 16.0 Graph" r:id="rId2" imgW="5529199" imgH="4396855" progId="SigmaPlotGraphicObject.16">
                  <p:embed/>
                </p:oleObj>
              </mc:Choice>
              <mc:Fallback>
                <p:oleObj name="SPW 16.0 Graph" r:id="rId2" imgW="5529199" imgH="4396855" progId="SigmaPlotGraphicObject.16">
                  <p:embed/>
                  <p:pic>
                    <p:nvPicPr>
                      <p:cNvPr id="2" name="Object 1">
                        <a:extLst>
                          <a:ext uri="{FF2B5EF4-FFF2-40B4-BE49-F238E27FC236}">
                            <a16:creationId xmlns:a16="http://schemas.microsoft.com/office/drawing/2014/main" id="{0925283B-5AE2-C03D-286B-9E91AB209CFA}"/>
                          </a:ext>
                        </a:extLst>
                      </p:cNvPr>
                      <p:cNvPicPr/>
                      <p:nvPr/>
                    </p:nvPicPr>
                    <p:blipFill>
                      <a:blip r:embed="rId3"/>
                      <a:stretch>
                        <a:fillRect/>
                      </a:stretch>
                    </p:blipFill>
                    <p:spPr>
                      <a:xfrm>
                        <a:off x="1785575" y="0"/>
                        <a:ext cx="8623254" cy="6857999"/>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2C75B37D-7BFD-5E49-F350-BC9624F3979E}"/>
              </a:ext>
            </a:extLst>
          </p:cNvPr>
          <p:cNvSpPr>
            <a:spLocks noGrp="1"/>
          </p:cNvSpPr>
          <p:nvPr>
            <p:ph type="sldNum" sz="quarter" idx="12"/>
          </p:nvPr>
        </p:nvSpPr>
        <p:spPr/>
        <p:txBody>
          <a:bodyPr/>
          <a:lstStyle/>
          <a:p>
            <a:fld id="{34765577-9A70-4B44-A463-20938F747DD0}" type="slidenum">
              <a:rPr lang="en-US" smtClean="0"/>
              <a:t>14</a:t>
            </a:fld>
            <a:endParaRPr lang="en-US"/>
          </a:p>
        </p:txBody>
      </p:sp>
    </p:spTree>
    <p:extLst>
      <p:ext uri="{BB962C8B-B14F-4D97-AF65-F5344CB8AC3E}">
        <p14:creationId xmlns:p14="http://schemas.microsoft.com/office/powerpoint/2010/main" val="1004554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1C7F3-96C1-581D-1499-71D228E2FE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EABDB-8C52-C483-BCCA-394B1B0AB960}"/>
              </a:ext>
            </a:extLst>
          </p:cNvPr>
          <p:cNvSpPr>
            <a:spLocks noGrp="1"/>
          </p:cNvSpPr>
          <p:nvPr>
            <p:ph type="title"/>
          </p:nvPr>
        </p:nvSpPr>
        <p:spPr>
          <a:xfrm>
            <a:off x="838200" y="-9779"/>
            <a:ext cx="10515600" cy="1325563"/>
          </a:xfrm>
        </p:spPr>
        <p:txBody>
          <a:bodyPr/>
          <a:lstStyle/>
          <a:p>
            <a:pPr algn="ctr"/>
            <a:r>
              <a:rPr lang="en-US" dirty="0">
                <a:solidFill>
                  <a:srgbClr val="0000CC"/>
                </a:solidFill>
              </a:rPr>
              <a:t>Intrinsic Kinetics for Actinometry:</a:t>
            </a:r>
            <a:br>
              <a:rPr lang="en-US" dirty="0">
                <a:solidFill>
                  <a:srgbClr val="0000CC"/>
                </a:solidFill>
              </a:rPr>
            </a:br>
            <a:r>
              <a:rPr lang="en-US" dirty="0">
                <a:solidFill>
                  <a:srgbClr val="0000CC"/>
                </a:solidFill>
              </a:rPr>
              <a:t>Homogenous Gas-Phase Reactions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846042-3FDE-4D88-194D-59C3476553F7}"/>
                  </a:ext>
                </a:extLst>
              </p:cNvPr>
              <p:cNvSpPr>
                <a:spLocks noGrp="1"/>
              </p:cNvSpPr>
              <p:nvPr>
                <p:ph sz="half" idx="1"/>
              </p:nvPr>
            </p:nvSpPr>
            <p:spPr>
              <a:xfrm>
                <a:off x="422246" y="1384182"/>
                <a:ext cx="5597554" cy="5537825"/>
              </a:xfrm>
            </p:spPr>
            <p:txBody>
              <a:bodyPr>
                <a:normAutofit fontScale="62500" lnSpcReduction="20000"/>
              </a:bodyPr>
              <a:lstStyle/>
              <a:p>
                <a:r>
                  <a:rPr lang="en-US" dirty="0"/>
                  <a:t>Intrinsic kinetics for homogeneous gas-phase photochemical reactions (photolysis):</a:t>
                </a:r>
              </a:p>
              <a:p>
                <a:pPr marL="0" indent="0">
                  <a:buNone/>
                </a:pPr>
                <a14:m>
                  <m:oMathPara xmlns:m="http://schemas.openxmlformats.org/officeDocument/2006/math">
                    <m:o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𝑋</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𝜎</m:t>
                      </m:r>
                      <m:r>
                        <m:rPr>
                          <m:sty m:val="p"/>
                        </m:rPr>
                        <a:rPr lang="el-GR" b="0" i="1" smtClean="0">
                          <a:latin typeface="Cambria Math" panose="02040503050406030204" pitchFamily="18" charset="0"/>
                          <a:ea typeface="Cambria Math" panose="02040503050406030204" pitchFamily="18" charset="0"/>
                        </a:rPr>
                        <m:t>Φ</m:t>
                      </m:r>
                      <m:r>
                        <a:rPr lang="en-US" b="0" i="1" smtClean="0">
                          <a:latin typeface="Cambria Math" panose="02040503050406030204" pitchFamily="18" charset="0"/>
                          <a:ea typeface="Cambria Math" panose="02040503050406030204" pitchFamily="18" charset="0"/>
                        </a:rPr>
                        <m:t>𝐽</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d>
                    </m:oMath>
                  </m:oMathPara>
                </a14:m>
                <a:endParaRPr lang="en-US" dirty="0"/>
              </a:p>
              <a:p>
                <a:pPr marL="0" indent="0">
                  <a:buNone/>
                </a:pP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𝑋</m:t>
                        </m:r>
                      </m:e>
                    </m:d>
                  </m:oMath>
                </a14:m>
                <a:r>
                  <a:rPr lang="en-US" dirty="0"/>
                  <a:t> = concentration of reacting gas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𝑚𝑜𝑙𝑒𝑐</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𝑐𝑚</m:t>
                            </m:r>
                          </m:e>
                          <m:sup>
                            <m:r>
                              <a:rPr lang="en-US" b="0" i="1" smtClean="0">
                                <a:latin typeface="Cambria Math" panose="02040503050406030204" pitchFamily="18" charset="0"/>
                              </a:rPr>
                              <m:t>3</m:t>
                            </m:r>
                          </m:sup>
                        </m:sSup>
                      </m:den>
                    </m:f>
                  </m:oMath>
                </a14:m>
                <a:endParaRPr lang="en-US" dirty="0"/>
              </a:p>
              <a:p>
                <a:pPr marL="0" indent="0">
                  <a:buNone/>
                </a:pP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 absorption cross-section for reacting gas [=] </a:t>
                </a:r>
                <a14:m>
                  <m:oMath xmlns:m="http://schemas.openxmlformats.org/officeDocument/2006/math">
                    <m:f>
                      <m:fPr>
                        <m:ctrlPr>
                          <a:rPr lang="en-US"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𝑐𝑚</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𝑚𝑜𝑙𝑒𝑐</m:t>
                        </m:r>
                      </m:den>
                    </m:f>
                  </m:oMath>
                </a14:m>
                <a:endParaRPr lang="en-US" dirty="0"/>
              </a:p>
              <a:p>
                <a:pPr marL="0" indent="0">
                  <a:buNone/>
                </a:pPr>
                <a14:m>
                  <m:oMath xmlns:m="http://schemas.openxmlformats.org/officeDocument/2006/math">
                    <m:r>
                      <m:rPr>
                        <m:sty m:val="p"/>
                      </m:rPr>
                      <a:rPr lang="el-GR" i="1">
                        <a:latin typeface="Cambria Math" panose="02040503050406030204" pitchFamily="18" charset="0"/>
                        <a:ea typeface="Cambria Math" panose="02040503050406030204" pitchFamily="18" charset="0"/>
                      </a:rPr>
                      <m:t>Φ</m:t>
                    </m:r>
                  </m:oMath>
                </a14:m>
                <a:r>
                  <a:rPr lang="en-US" dirty="0"/>
                  <a:t> = quantum yield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𝑚𝑜𝑙𝑒𝑐</m:t>
                        </m:r>
                      </m:num>
                      <m:den>
                        <m:r>
                          <a:rPr lang="en-US" b="0" i="1" smtClean="0">
                            <a:latin typeface="Cambria Math" panose="02040503050406030204" pitchFamily="18" charset="0"/>
                          </a:rPr>
                          <m:t>𝑝ℎ𝑜𝑡𝑜𝑛</m:t>
                        </m:r>
                      </m:den>
                    </m:f>
                  </m:oMath>
                </a14:m>
                <a:endParaRPr lang="en-US" dirty="0"/>
              </a:p>
              <a:p>
                <a:pPr marL="0" indent="0">
                  <a:buNone/>
                </a:pPr>
                <a14:m>
                  <m:oMath xmlns:m="http://schemas.openxmlformats.org/officeDocument/2006/math">
                    <m:r>
                      <a:rPr lang="en-US" i="1">
                        <a:latin typeface="Cambria Math" panose="02040503050406030204" pitchFamily="18" charset="0"/>
                        <a:ea typeface="Cambria Math" panose="02040503050406030204" pitchFamily="18" charset="0"/>
                      </a:rPr>
                      <m:t>𝐽</m:t>
                    </m:r>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𝐸</m:t>
                            </m:r>
                          </m:e>
                          <m:sup>
                            <m:r>
                              <a:rPr lang="en-US" b="0" i="1" smtClean="0">
                                <a:latin typeface="Cambria Math" panose="02040503050406030204" pitchFamily="18" charset="0"/>
                                <a:ea typeface="Cambria Math" panose="02040503050406030204" pitchFamily="18" charset="0"/>
                              </a:rPr>
                              <m:t>′</m:t>
                            </m:r>
                          </m:sup>
                        </m:sSup>
                      </m:num>
                      <m:den>
                        <m:r>
                          <a:rPr lang="en-US" b="0" i="1" smtClean="0">
                            <a:latin typeface="Cambria Math" panose="02040503050406030204" pitchFamily="18" charset="0"/>
                            <a:ea typeface="Cambria Math" panose="02040503050406030204" pitchFamily="18" charset="0"/>
                          </a:rPr>
                          <m:t>𝑈</m:t>
                        </m:r>
                      </m:den>
                    </m:f>
                  </m:oMath>
                </a14:m>
                <a:r>
                  <a:rPr lang="en-US" dirty="0"/>
                  <a:t> = actinic flux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𝑝ℎ𝑜𝑡𝑜𝑛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𝑐𝑚</m:t>
                            </m:r>
                          </m:e>
                          <m:sup>
                            <m:r>
                              <a:rPr lang="en-US" b="0" i="1" smtClean="0">
                                <a:latin typeface="Cambria Math" panose="02040503050406030204" pitchFamily="18" charset="0"/>
                              </a:rPr>
                              <m:t>2</m:t>
                            </m:r>
                          </m:sup>
                        </m:sSup>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den>
                    </m:f>
                  </m:oMath>
                </a14:m>
                <a:endParaRPr lang="en-US" dirty="0"/>
              </a:p>
              <a:p>
                <a:pPr marL="0" indent="0">
                  <a:buNone/>
                </a:pPr>
                <a:endParaRPr lang="en-US" dirty="0"/>
              </a:p>
              <a:p>
                <a:r>
                  <a:rPr lang="en-US" dirty="0"/>
                  <a:t>This reduces to a 1</a:t>
                </a:r>
                <a:r>
                  <a:rPr lang="en-US" baseline="30000" dirty="0"/>
                  <a:t>st</a:t>
                </a:r>
                <a:r>
                  <a:rPr lang="en-US" dirty="0"/>
                  <a:t> order model (here based on time):</a:t>
                </a:r>
              </a:p>
              <a:p>
                <a:pPr marL="0" indent="0">
                  <a:buNone/>
                </a:pPr>
                <a14:m>
                  <m:oMathPara xmlns:m="http://schemas.openxmlformats.org/officeDocument/2006/math">
                    <m:oMath>
                      <m:sSub>
                        <m:sSubPr>
                          <m:ctrlPr>
                            <a:rPr lang="en-US" i="1">
                              <a:latin typeface="Cambria Math" panose="02040503050406030204" pitchFamily="18" charset="0"/>
                            </a:rPr>
                          </m:ctrlPr>
                        </m:sSub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𝐶</m:t>
                                  </m:r>
                                </m:num>
                                <m:den>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0</m:t>
                                      </m:r>
                                    </m:sub>
                                  </m:sSub>
                                </m:den>
                              </m:f>
                            </m:e>
                          </m:d>
                        </m:e>
                        <m:sub>
                          <m:r>
                            <a:rPr lang="en-US" i="1">
                              <a:latin typeface="Cambria Math" panose="02040503050406030204" pitchFamily="18" charset="0"/>
                            </a:rPr>
                            <m:t>𝑏𝑎𝑡𝑐ℎ</m:t>
                          </m:r>
                        </m:sub>
                      </m:sSub>
                      <m:r>
                        <a:rPr lang="en-US" b="0" i="1" smtClean="0">
                          <a:latin typeface="Cambria Math" panose="02040503050406030204" pitchFamily="18" charset="0"/>
                        </a:rPr>
                        <m:t>=</m:t>
                      </m:r>
                      <m:r>
                        <a:rPr lang="en-US" b="0" i="1" smtClean="0">
                          <a:latin typeface="Cambria Math" panose="02040503050406030204" pitchFamily="18" charset="0"/>
                        </a:rPr>
                        <m:t>𝑒𝑥𝑝</m:t>
                      </m:r>
                      <m:d>
                        <m:dPr>
                          <m:ctrlPr>
                            <a:rPr lang="en-US" b="0" i="1" smtClean="0">
                              <a:latin typeface="Cambria Math" panose="02040503050406030204" pitchFamily="18" charset="0"/>
                            </a:rPr>
                          </m:ctrlPr>
                        </m:dPr>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𝑝</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oMath>
                  </m:oMathPara>
                </a14:m>
                <a:endParaRPr lang="en-US" dirty="0"/>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b="0" i="1" smtClean="0">
                            <a:latin typeface="Cambria Math" panose="02040503050406030204" pitchFamily="18" charset="0"/>
                          </a:rPr>
                          <m:t>𝑝</m:t>
                        </m:r>
                      </m:sub>
                    </m:sSub>
                  </m:oMath>
                </a14:m>
                <a:r>
                  <a:rPr lang="en-US" dirty="0"/>
                  <a:t> = time-based photolysis rate constant [=]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−1</m:t>
                        </m:r>
                      </m:sup>
                    </m:sSup>
                  </m:oMath>
                </a14:m>
                <a:endParaRPr lang="en-US" dirty="0"/>
              </a:p>
              <a:p>
                <a:pPr marL="0" indent="0">
                  <a:buNone/>
                </a:pPr>
                <a:endParaRPr lang="en-US" dirty="0"/>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𝑝</m:t>
                          </m:r>
                        </m:sub>
                      </m:sSub>
                      <m:r>
                        <a:rPr lang="en-US" b="0" i="1" smtClean="0">
                          <a:latin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Φ</m:t>
                          </m:r>
                        </m:num>
                        <m:den>
                          <m:r>
                            <a:rPr lang="en-US" b="0" i="1" smtClean="0">
                              <a:latin typeface="Cambria Math" panose="02040503050406030204" pitchFamily="18" charset="0"/>
                            </a:rPr>
                            <m:t>𝑈</m:t>
                          </m:r>
                        </m:den>
                      </m:f>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AE846042-3FDE-4D88-194D-59C3476553F7}"/>
                  </a:ext>
                </a:extLst>
              </p:cNvPr>
              <p:cNvSpPr>
                <a:spLocks noGrp="1" noRot="1" noChangeAspect="1" noMove="1" noResize="1" noEditPoints="1" noAdjustHandles="1" noChangeArrowheads="1" noChangeShapeType="1" noTextEdit="1"/>
              </p:cNvSpPr>
              <p:nvPr>
                <p:ph sz="half" idx="1"/>
              </p:nvPr>
            </p:nvSpPr>
            <p:spPr>
              <a:xfrm>
                <a:off x="422246" y="1384182"/>
                <a:ext cx="5597554" cy="5537825"/>
              </a:xfrm>
              <a:blipFill>
                <a:blip r:embed="rId2"/>
                <a:stretch>
                  <a:fillRect l="-653" t="-16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1DE2AC8-5DAD-A864-1937-6DAC5FEAE9F2}"/>
                  </a:ext>
                </a:extLst>
              </p:cNvPr>
              <p:cNvSpPr>
                <a:spLocks noGrp="1"/>
              </p:cNvSpPr>
              <p:nvPr>
                <p:ph sz="half" idx="2"/>
              </p:nvPr>
            </p:nvSpPr>
            <p:spPr>
              <a:xfrm>
                <a:off x="6172200" y="1825625"/>
                <a:ext cx="6019800" cy="4351338"/>
              </a:xfrm>
            </p:spPr>
            <p:txBody>
              <a:bodyPr>
                <a:normAutofit fontScale="62500" lnSpcReduction="20000"/>
              </a:bodyPr>
              <a:lstStyle/>
              <a:p>
                <a:pPr marL="0" indent="0">
                  <a:buNone/>
                </a:pPr>
                <a14:m>
                  <m:oMath xmlns:m="http://schemas.openxmlformats.org/officeDocument/2006/math">
                    <m:r>
                      <a:rPr lang="en-US" i="1" smtClean="0">
                        <a:latin typeface="Cambria Math" panose="02040503050406030204" pitchFamily="18" charset="0"/>
                      </a:rPr>
                      <m:t>𝑈</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𝐴</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𝑃</m:t>
                        </m:r>
                      </m:sub>
                    </m:sSub>
                  </m:oMath>
                </a14:m>
                <a:r>
                  <a:rPr lang="en-US" dirty="0"/>
                  <a:t> = energy per einstein of radiation</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𝐴</m:t>
                        </m:r>
                      </m:sub>
                    </m:sSub>
                    <m:r>
                      <a:rPr lang="en-US" i="1">
                        <a:latin typeface="Cambria Math" panose="02040503050406030204" pitchFamily="18" charset="0"/>
                      </a:rPr>
                      <m:t>=6.023 </m:t>
                    </m:r>
                    <m:r>
                      <a:rPr lang="en-US" i="1">
                        <a:latin typeface="Cambria Math" panose="02040503050406030204" pitchFamily="18" charset="0"/>
                      </a:rPr>
                      <m:t>𝑥</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23</m:t>
                        </m:r>
                      </m:sup>
                    </m:sSup>
                    <m:f>
                      <m:fPr>
                        <m:ctrlPr>
                          <a:rPr lang="en-US" i="1">
                            <a:latin typeface="Cambria Math" panose="02040503050406030204" pitchFamily="18" charset="0"/>
                          </a:rPr>
                        </m:ctrlPr>
                      </m:fPr>
                      <m:num>
                        <m:r>
                          <a:rPr lang="en-US" i="1">
                            <a:latin typeface="Cambria Math" panose="02040503050406030204" pitchFamily="18" charset="0"/>
                          </a:rPr>
                          <m:t>𝑝ℎ𝑜𝑡𝑜𝑛𝑠</m:t>
                        </m:r>
                      </m:num>
                      <m:den>
                        <m:r>
                          <a:rPr lang="en-US" i="1">
                            <a:latin typeface="Cambria Math" panose="02040503050406030204" pitchFamily="18" charset="0"/>
                          </a:rPr>
                          <m:t>𝑒𝑖𝑛𝑠𝑡𝑒𝑖𝑛</m:t>
                        </m:r>
                      </m:den>
                    </m:f>
                  </m:oMath>
                </a14:m>
                <a:r>
                  <a:rPr lang="en-US" dirty="0"/>
                  <a:t> (Avogadro's number)</a:t>
                </a:r>
              </a:p>
              <a:p>
                <a:pPr marL="0" indent="0">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𝑈</m:t>
                        </m:r>
                      </m:e>
                      <m:sub>
                        <m:r>
                          <a:rPr lang="en-US" i="1">
                            <a:latin typeface="Cambria Math" panose="02040503050406030204" pitchFamily="18" charset="0"/>
                            <a:ea typeface="Cambria Math" panose="02040503050406030204" pitchFamily="18" charset="0"/>
                          </a:rPr>
                          <m:t>𝑃</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ℎ</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0</m:t>
                            </m:r>
                          </m:sub>
                        </m:sSub>
                      </m:num>
                      <m:den>
                        <m:r>
                          <a:rPr lang="en-US" i="1">
                            <a:latin typeface="Cambria Math" panose="02040503050406030204" pitchFamily="18" charset="0"/>
                            <a:ea typeface="Cambria Math" panose="02040503050406030204" pitchFamily="18" charset="0"/>
                          </a:rPr>
                          <m:t>𝜆</m:t>
                        </m:r>
                      </m:den>
                    </m:f>
                    <m:r>
                      <a:rPr lang="en-US" b="0" i="1" smtClean="0">
                        <a:latin typeface="Cambria Math" panose="02040503050406030204" pitchFamily="18" charset="0"/>
                        <a:ea typeface="Cambria Math" panose="02040503050406030204" pitchFamily="18" charset="0"/>
                      </a:rPr>
                      <m:t>=8.948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−19</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𝐽</m:t>
                        </m:r>
                      </m:num>
                      <m:den>
                        <m:r>
                          <a:rPr lang="en-US" b="0" i="1" smtClean="0">
                            <a:latin typeface="Cambria Math" panose="02040503050406030204" pitchFamily="18" charset="0"/>
                            <a:ea typeface="Cambria Math" panose="02040503050406030204" pitchFamily="18" charset="0"/>
                          </a:rPr>
                          <m:t>𝑝ℎ𝑜𝑡𝑜𝑛</m:t>
                        </m:r>
                      </m:den>
                    </m:f>
                  </m:oMath>
                </a14:m>
                <a:r>
                  <a:rPr lang="en-US" dirty="0"/>
                  <a:t> (photon energy @ 222 nm)</a:t>
                </a:r>
              </a:p>
              <a:p>
                <a:pPr marL="0" indent="0">
                  <a:buNone/>
                </a:pPr>
                <a14:m>
                  <m:oMath xmlns:m="http://schemas.openxmlformats.org/officeDocument/2006/math">
                    <m:r>
                      <a:rPr lang="en-US" i="1">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=6.626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−34</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𝐽</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num>
                      <m:den>
                        <m:r>
                          <a:rPr lang="en-US" b="0" i="1" smtClean="0">
                            <a:latin typeface="Cambria Math" panose="02040503050406030204" pitchFamily="18" charset="0"/>
                            <a:ea typeface="Cambria Math" panose="02040503050406030204" pitchFamily="18" charset="0"/>
                          </a:rPr>
                          <m:t>𝑝ℎ𝑜𝑡𝑜𝑛</m:t>
                        </m:r>
                      </m:den>
                    </m:f>
                  </m:oMath>
                </a14:m>
                <a:r>
                  <a:rPr lang="en-US" dirty="0"/>
                  <a:t> (Planck constant)</a:t>
                </a:r>
              </a:p>
              <a:p>
                <a:pPr marL="0" indent="0">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𝑐</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=2.998 </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8</m:t>
                        </m:r>
                      </m:sup>
                    </m:s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𝑚</m:t>
                        </m:r>
                      </m:num>
                      <m:den>
                        <m:r>
                          <a:rPr lang="en-US" b="0" i="1" smtClean="0">
                            <a:latin typeface="Cambria Math" panose="02040503050406030204" pitchFamily="18" charset="0"/>
                            <a:ea typeface="Cambria Math" panose="02040503050406030204" pitchFamily="18" charset="0"/>
                          </a:rPr>
                          <m:t>𝑠</m:t>
                        </m:r>
                      </m:den>
                    </m:f>
                  </m:oMath>
                </a14:m>
                <a:r>
                  <a:rPr lang="en-US" dirty="0"/>
                  <a:t> (speed of light in vacuum)</a:t>
                </a:r>
              </a:p>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=222 </m:t>
                    </m:r>
                    <m:r>
                      <a:rPr lang="en-US" b="0" i="1" smtClean="0">
                        <a:latin typeface="Cambria Math" panose="02040503050406030204" pitchFamily="18" charset="0"/>
                        <a:ea typeface="Cambria Math" panose="02040503050406030204" pitchFamily="18" charset="0"/>
                      </a:rPr>
                      <m:t>𝑛𝑚</m:t>
                    </m:r>
                  </m:oMath>
                </a14:m>
                <a:r>
                  <a:rPr lang="en-US" dirty="0"/>
                  <a:t> (wavelength)</a:t>
                </a:r>
              </a:p>
              <a:p>
                <a:pPr marL="0" indent="0">
                  <a:buNone/>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𝐶𝐵𝑟</m:t>
                            </m:r>
                          </m:e>
                          <m:sub>
                            <m:r>
                              <a:rPr lang="en-US" b="0" i="1" smtClean="0">
                                <a:latin typeface="Cambria Math" panose="02040503050406030204" pitchFamily="18" charset="0"/>
                              </a:rPr>
                              <m:t>4</m:t>
                            </m:r>
                          </m:sub>
                        </m:sSub>
                        <m:r>
                          <a:rPr lang="en-US" b="0" i="1" smtClean="0">
                            <a:latin typeface="Cambria Math" panose="02040503050406030204" pitchFamily="18" charset="0"/>
                          </a:rPr>
                          <m:t>,222</m:t>
                        </m:r>
                      </m:sub>
                    </m:sSub>
                    <m:r>
                      <a:rPr lang="en-US" b="0" i="1" smtClean="0">
                        <a:latin typeface="Cambria Math" panose="02040503050406030204" pitchFamily="18" charset="0"/>
                      </a:rPr>
                      <m:t>=2.85 </m:t>
                    </m:r>
                    <m:r>
                      <a:rPr lang="en-US" b="0" i="1" smtClean="0">
                        <a:latin typeface="Cambria Math" panose="02040503050406030204" pitchFamily="18" charset="0"/>
                      </a:rPr>
                      <m:t>𝑥</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−18</m:t>
                        </m:r>
                      </m:sup>
                    </m:sSup>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𝑐𝑚</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𝑚𝑜𝑙𝑒𝑐</m:t>
                        </m:r>
                      </m:den>
                    </m:f>
                  </m:oMath>
                </a14:m>
                <a:r>
                  <a:rPr lang="en-US" dirty="0"/>
                  <a:t> (absorption cross-section)</a:t>
                </a:r>
              </a:p>
              <a:p>
                <a:pPr marL="0" indent="0">
                  <a:buNone/>
                </a:pPr>
                <a14:m>
                  <m:oMath xmlns:m="http://schemas.openxmlformats.org/officeDocument/2006/math">
                    <m:sSub>
                      <m:sSubPr>
                        <m:ctrlPr>
                          <a:rPr lang="el-GR" i="1" smtClean="0">
                            <a:latin typeface="Cambria Math" panose="02040503050406030204" pitchFamily="18" charset="0"/>
                            <a:ea typeface="Cambria Math" panose="02040503050406030204" pitchFamily="18" charset="0"/>
                          </a:rPr>
                        </m:ctrlPr>
                      </m:sSubPr>
                      <m:e>
                        <m:r>
                          <m:rPr>
                            <m:sty m:val="p"/>
                          </m:rPr>
                          <a:rPr lang="el-GR" i="1" smtClean="0">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rPr>
                            </m:ctrlPr>
                          </m:sSubPr>
                          <m:e>
                            <m:r>
                              <a:rPr lang="en-US" i="1">
                                <a:latin typeface="Cambria Math" panose="02040503050406030204" pitchFamily="18" charset="0"/>
                              </a:rPr>
                              <m:t>𝐶𝐵𝑟</m:t>
                            </m:r>
                          </m:e>
                          <m:sub>
                            <m:r>
                              <a:rPr lang="en-US" i="1">
                                <a:latin typeface="Cambria Math" panose="02040503050406030204" pitchFamily="18" charset="0"/>
                              </a:rPr>
                              <m:t>4</m:t>
                            </m:r>
                          </m:sub>
                        </m:sSub>
                        <m:r>
                          <a:rPr lang="en-US" i="1">
                            <a:latin typeface="Cambria Math" panose="02040503050406030204" pitchFamily="18" charset="0"/>
                          </a:rPr>
                          <m:t>,222</m:t>
                        </m:r>
                      </m:sub>
                    </m:sSub>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𝑚𝑜𝑙𝑒𝑐</m:t>
                        </m:r>
                      </m:num>
                      <m:den>
                        <m:r>
                          <a:rPr lang="en-US" b="0" i="1" smtClean="0">
                            <a:latin typeface="Cambria Math" panose="02040503050406030204" pitchFamily="18" charset="0"/>
                          </a:rPr>
                          <m:t>𝑝ℎ𝑜𝑡𝑜𝑛</m:t>
                        </m:r>
                      </m:den>
                    </m:f>
                  </m:oMath>
                </a14:m>
                <a:r>
                  <a:rPr lang="en-US" dirty="0"/>
                  <a:t> (quantum yield)</a:t>
                </a:r>
              </a:p>
            </p:txBody>
          </p:sp>
        </mc:Choice>
        <mc:Fallback xmlns="">
          <p:sp>
            <p:nvSpPr>
              <p:cNvPr id="4" name="Content Placeholder 3">
                <a:extLst>
                  <a:ext uri="{FF2B5EF4-FFF2-40B4-BE49-F238E27FC236}">
                    <a16:creationId xmlns:a16="http://schemas.microsoft.com/office/drawing/2014/main" id="{E1DE2AC8-5DAD-A864-1937-6DAC5FEAE9F2}"/>
                  </a:ext>
                </a:extLst>
              </p:cNvPr>
              <p:cNvSpPr>
                <a:spLocks noGrp="1" noRot="1" noChangeAspect="1" noMove="1" noResize="1" noEditPoints="1" noAdjustHandles="1" noChangeArrowheads="1" noChangeShapeType="1" noTextEdit="1"/>
              </p:cNvSpPr>
              <p:nvPr>
                <p:ph sz="half" idx="2"/>
              </p:nvPr>
            </p:nvSpPr>
            <p:spPr>
              <a:xfrm>
                <a:off x="6172200" y="1825625"/>
                <a:ext cx="6019800" cy="4351338"/>
              </a:xfrm>
              <a:blipFill>
                <a:blip r:embed="rId3"/>
                <a:stretch>
                  <a:fillRect t="-2101" r="-203"/>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CFAD76FC-8133-BE8C-3C66-099B1FA26969}"/>
              </a:ext>
            </a:extLst>
          </p:cNvPr>
          <p:cNvSpPr>
            <a:spLocks noGrp="1"/>
          </p:cNvSpPr>
          <p:nvPr>
            <p:ph type="sldNum" sz="quarter" idx="12"/>
          </p:nvPr>
        </p:nvSpPr>
        <p:spPr/>
        <p:txBody>
          <a:bodyPr/>
          <a:lstStyle/>
          <a:p>
            <a:fld id="{34765577-9A70-4B44-A463-20938F747DD0}" type="slidenum">
              <a:rPr lang="en-US" smtClean="0"/>
              <a:t>15</a:t>
            </a:fld>
            <a:endParaRPr lang="en-US"/>
          </a:p>
        </p:txBody>
      </p:sp>
    </p:spTree>
    <p:extLst>
      <p:ext uri="{BB962C8B-B14F-4D97-AF65-F5344CB8AC3E}">
        <p14:creationId xmlns:p14="http://schemas.microsoft.com/office/powerpoint/2010/main" val="96089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a:extLst>
              <a:ext uri="{FF2B5EF4-FFF2-40B4-BE49-F238E27FC236}">
                <a16:creationId xmlns:a16="http://schemas.microsoft.com/office/drawing/2014/main" id="{7B05CC6C-700A-9576-B8D7-8D566E7D8E66}"/>
              </a:ext>
            </a:extLst>
          </p:cNvPr>
          <p:cNvGraphicFramePr>
            <a:graphicFrameLocks noChangeAspect="1"/>
          </p:cNvGraphicFramePr>
          <p:nvPr/>
        </p:nvGraphicFramePr>
        <p:xfrm>
          <a:off x="1811465" y="-7952"/>
          <a:ext cx="8561523" cy="6865952"/>
        </p:xfrm>
        <a:graphic>
          <a:graphicData uri="http://schemas.openxmlformats.org/presentationml/2006/ole">
            <mc:AlternateContent xmlns:mc="http://schemas.openxmlformats.org/markup-compatibility/2006">
              <mc:Choice xmlns:v="urn:schemas-microsoft-com:vml" Requires="v">
                <p:oleObj name="SPW 16.0 Graph" r:id="rId2" imgW="5523011" imgH="4428648" progId="SigmaPlotGraphicObject.16">
                  <p:embed/>
                </p:oleObj>
              </mc:Choice>
              <mc:Fallback>
                <p:oleObj name="SPW 16.0 Graph" r:id="rId2" imgW="5523011" imgH="4428648" progId="SigmaPlotGraphicObject.16">
                  <p:embed/>
                  <p:pic>
                    <p:nvPicPr>
                      <p:cNvPr id="3" name="Object 2">
                        <a:extLst>
                          <a:ext uri="{FF2B5EF4-FFF2-40B4-BE49-F238E27FC236}">
                            <a16:creationId xmlns:a16="http://schemas.microsoft.com/office/drawing/2014/main" id="{7B05CC6C-700A-9576-B8D7-8D566E7D8E66}"/>
                          </a:ext>
                        </a:extLst>
                      </p:cNvPr>
                      <p:cNvPicPr/>
                      <p:nvPr/>
                    </p:nvPicPr>
                    <p:blipFill>
                      <a:blip r:embed="rId3"/>
                      <a:stretch>
                        <a:fillRect/>
                      </a:stretch>
                    </p:blipFill>
                    <p:spPr>
                      <a:xfrm>
                        <a:off x="1811465" y="-7952"/>
                        <a:ext cx="8561523" cy="6865952"/>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CD42A83D-A53F-26C2-98C4-7C106327EA1A}"/>
              </a:ext>
            </a:extLst>
          </p:cNvPr>
          <p:cNvSpPr>
            <a:spLocks noGrp="1"/>
          </p:cNvSpPr>
          <p:nvPr>
            <p:ph type="sldNum" sz="quarter" idx="12"/>
          </p:nvPr>
        </p:nvSpPr>
        <p:spPr/>
        <p:txBody>
          <a:bodyPr/>
          <a:lstStyle/>
          <a:p>
            <a:fld id="{34765577-9A70-4B44-A463-20938F747DD0}" type="slidenum">
              <a:rPr lang="en-US" smtClean="0"/>
              <a:t>16</a:t>
            </a:fld>
            <a:endParaRPr lang="en-US"/>
          </a:p>
        </p:txBody>
      </p:sp>
    </p:spTree>
    <p:extLst>
      <p:ext uri="{BB962C8B-B14F-4D97-AF65-F5344CB8AC3E}">
        <p14:creationId xmlns:p14="http://schemas.microsoft.com/office/powerpoint/2010/main" val="1045190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8D1BE2-622D-E644-D030-22D9C0D0FFC4}"/>
              </a:ext>
            </a:extLst>
          </p:cNvPr>
          <p:cNvSpPr>
            <a:spLocks noGrp="1"/>
          </p:cNvSpPr>
          <p:nvPr>
            <p:ph type="title"/>
          </p:nvPr>
        </p:nvSpPr>
        <p:spPr/>
        <p:txBody>
          <a:bodyPr/>
          <a:lstStyle/>
          <a:p>
            <a:pPr algn="ctr"/>
            <a:r>
              <a:rPr lang="en-US" u="sng" dirty="0" err="1">
                <a:solidFill>
                  <a:srgbClr val="0000CC"/>
                </a:solidFill>
              </a:rPr>
              <a:t>BL</a:t>
            </a:r>
            <a:r>
              <a:rPr lang="en-US" dirty="0" err="1">
                <a:solidFill>
                  <a:srgbClr val="0000CC"/>
                </a:solidFill>
              </a:rPr>
              <a:t>ueprint</a:t>
            </a:r>
            <a:r>
              <a:rPr lang="en-US" dirty="0">
                <a:solidFill>
                  <a:srgbClr val="0000CC"/>
                </a:solidFill>
              </a:rPr>
              <a:t> </a:t>
            </a:r>
            <a:r>
              <a:rPr lang="en-US" u="sng" dirty="0">
                <a:solidFill>
                  <a:srgbClr val="0000CC"/>
                </a:solidFill>
              </a:rPr>
              <a:t>U</a:t>
            </a:r>
            <a:r>
              <a:rPr lang="en-US" dirty="0">
                <a:solidFill>
                  <a:srgbClr val="0000CC"/>
                </a:solidFill>
              </a:rPr>
              <a:t>niform </a:t>
            </a:r>
            <a:r>
              <a:rPr lang="en-US" u="sng" dirty="0">
                <a:solidFill>
                  <a:srgbClr val="0000CC"/>
                </a:solidFill>
              </a:rPr>
              <a:t>C</a:t>
            </a:r>
            <a:r>
              <a:rPr lang="en-US" dirty="0">
                <a:solidFill>
                  <a:srgbClr val="0000CC"/>
                </a:solidFill>
              </a:rPr>
              <a:t>ylindrical </a:t>
            </a:r>
            <a:r>
              <a:rPr lang="en-US" u="sng" dirty="0">
                <a:solidFill>
                  <a:srgbClr val="0000CC"/>
                </a:solidFill>
              </a:rPr>
              <a:t>I</a:t>
            </a:r>
            <a:r>
              <a:rPr lang="en-US" dirty="0">
                <a:solidFill>
                  <a:srgbClr val="0000CC"/>
                </a:solidFill>
              </a:rPr>
              <a:t>ntegrating </a:t>
            </a:r>
            <a:r>
              <a:rPr lang="en-US" u="sng" dirty="0">
                <a:solidFill>
                  <a:srgbClr val="0000CC"/>
                </a:solidFill>
              </a:rPr>
              <a:t>F</a:t>
            </a:r>
            <a:r>
              <a:rPr lang="en-US" dirty="0">
                <a:solidFill>
                  <a:srgbClr val="0000CC"/>
                </a:solidFill>
              </a:rPr>
              <a:t>luence </a:t>
            </a:r>
            <a:r>
              <a:rPr lang="en-US" u="sng" dirty="0">
                <a:solidFill>
                  <a:srgbClr val="0000CC"/>
                </a:solidFill>
              </a:rPr>
              <a:t>R</a:t>
            </a:r>
            <a:r>
              <a:rPr lang="en-US" dirty="0">
                <a:solidFill>
                  <a:srgbClr val="0000CC"/>
                </a:solidFill>
              </a:rPr>
              <a:t>ate </a:t>
            </a:r>
            <a:r>
              <a:rPr lang="en-US" u="sng" dirty="0">
                <a:solidFill>
                  <a:srgbClr val="0000CC"/>
                </a:solidFill>
              </a:rPr>
              <a:t>R</a:t>
            </a:r>
            <a:r>
              <a:rPr lang="en-US" dirty="0">
                <a:solidFill>
                  <a:srgbClr val="0000CC"/>
                </a:solidFill>
              </a:rPr>
              <a:t>eactor (BLUCIFRR) Production</a:t>
            </a:r>
          </a:p>
        </p:txBody>
      </p:sp>
      <p:pic>
        <p:nvPicPr>
          <p:cNvPr id="6" name="Picture 5">
            <a:extLst>
              <a:ext uri="{FF2B5EF4-FFF2-40B4-BE49-F238E27FC236}">
                <a16:creationId xmlns:a16="http://schemas.microsoft.com/office/drawing/2014/main" id="{99C5CB67-721B-ADC8-FA4B-F6E8C09976EB}"/>
              </a:ext>
            </a:extLst>
          </p:cNvPr>
          <p:cNvPicPr>
            <a:picLocks noChangeAspect="1"/>
          </p:cNvPicPr>
          <p:nvPr/>
        </p:nvPicPr>
        <p:blipFill>
          <a:blip r:embed="rId2"/>
          <a:stretch>
            <a:fillRect/>
          </a:stretch>
        </p:blipFill>
        <p:spPr>
          <a:xfrm>
            <a:off x="-10886" y="1861458"/>
            <a:ext cx="3760783" cy="4996542"/>
          </a:xfrm>
          <a:prstGeom prst="rect">
            <a:avLst/>
          </a:prstGeom>
        </p:spPr>
      </p:pic>
      <p:pic>
        <p:nvPicPr>
          <p:cNvPr id="7" name="Picture 6">
            <a:extLst>
              <a:ext uri="{FF2B5EF4-FFF2-40B4-BE49-F238E27FC236}">
                <a16:creationId xmlns:a16="http://schemas.microsoft.com/office/drawing/2014/main" id="{8C17688C-87FD-482E-2E64-A95013E57B6C}"/>
              </a:ext>
            </a:extLst>
          </p:cNvPr>
          <p:cNvPicPr>
            <a:picLocks noChangeAspect="1"/>
          </p:cNvPicPr>
          <p:nvPr/>
        </p:nvPicPr>
        <p:blipFill>
          <a:blip r:embed="rId3"/>
          <a:stretch>
            <a:fillRect/>
          </a:stretch>
        </p:blipFill>
        <p:spPr>
          <a:xfrm>
            <a:off x="3543531" y="1861458"/>
            <a:ext cx="3760783" cy="4996542"/>
          </a:xfrm>
          <a:prstGeom prst="rect">
            <a:avLst/>
          </a:prstGeom>
        </p:spPr>
      </p:pic>
      <p:pic>
        <p:nvPicPr>
          <p:cNvPr id="8" name="Picture 7">
            <a:extLst>
              <a:ext uri="{FF2B5EF4-FFF2-40B4-BE49-F238E27FC236}">
                <a16:creationId xmlns:a16="http://schemas.microsoft.com/office/drawing/2014/main" id="{3ECE5C9C-A5A3-A4ED-56FF-E581ED764C6B}"/>
              </a:ext>
            </a:extLst>
          </p:cNvPr>
          <p:cNvPicPr>
            <a:picLocks noChangeAspect="1"/>
          </p:cNvPicPr>
          <p:nvPr/>
        </p:nvPicPr>
        <p:blipFill>
          <a:blip r:embed="rId4"/>
          <a:srcRect l="14935" t="1875" r="14622" b="2500"/>
          <a:stretch>
            <a:fillRect/>
          </a:stretch>
        </p:blipFill>
        <p:spPr>
          <a:xfrm>
            <a:off x="7304314" y="1861458"/>
            <a:ext cx="4887686" cy="4996542"/>
          </a:xfrm>
          <a:prstGeom prst="rect">
            <a:avLst/>
          </a:prstGeom>
        </p:spPr>
      </p:pic>
      <p:sp>
        <p:nvSpPr>
          <p:cNvPr id="2" name="Slide Number Placeholder 1">
            <a:extLst>
              <a:ext uri="{FF2B5EF4-FFF2-40B4-BE49-F238E27FC236}">
                <a16:creationId xmlns:a16="http://schemas.microsoft.com/office/drawing/2014/main" id="{776FB1EA-745B-4121-28B6-F5DB8FF3D4C1}"/>
              </a:ext>
            </a:extLst>
          </p:cNvPr>
          <p:cNvSpPr>
            <a:spLocks noGrp="1"/>
          </p:cNvSpPr>
          <p:nvPr>
            <p:ph type="sldNum" sz="quarter" idx="12"/>
          </p:nvPr>
        </p:nvSpPr>
        <p:spPr/>
        <p:txBody>
          <a:bodyPr/>
          <a:lstStyle/>
          <a:p>
            <a:fld id="{DA9AF7B9-8BBF-4957-8393-213600C515C9}" type="slidenum">
              <a:rPr lang="en-US" smtClean="0"/>
              <a:t>17</a:t>
            </a:fld>
            <a:endParaRPr lang="en-US"/>
          </a:p>
        </p:txBody>
      </p:sp>
    </p:spTree>
    <p:extLst>
      <p:ext uri="{BB962C8B-B14F-4D97-AF65-F5344CB8AC3E}">
        <p14:creationId xmlns:p14="http://schemas.microsoft.com/office/powerpoint/2010/main" val="1520363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512C8-7FF6-4CB5-A8E2-2974A28057F4}"/>
              </a:ext>
            </a:extLst>
          </p:cNvPr>
          <p:cNvSpPr>
            <a:spLocks noGrp="1"/>
          </p:cNvSpPr>
          <p:nvPr>
            <p:ph type="title"/>
          </p:nvPr>
        </p:nvSpPr>
        <p:spPr/>
        <p:txBody>
          <a:bodyPr/>
          <a:lstStyle/>
          <a:p>
            <a:pPr algn="ctr"/>
            <a:r>
              <a:rPr lang="en-US" dirty="0">
                <a:solidFill>
                  <a:srgbClr val="0000CC"/>
                </a:solidFill>
              </a:rPr>
              <a:t>BLUCIFRR Prototype</a:t>
            </a:r>
          </a:p>
        </p:txBody>
      </p:sp>
      <p:pic>
        <p:nvPicPr>
          <p:cNvPr id="3" name="Picture 2">
            <a:extLst>
              <a:ext uri="{FF2B5EF4-FFF2-40B4-BE49-F238E27FC236}">
                <a16:creationId xmlns:a16="http://schemas.microsoft.com/office/drawing/2014/main" id="{CB91873A-772C-1C4F-074B-84FA3D1B5A92}"/>
              </a:ext>
            </a:extLst>
          </p:cNvPr>
          <p:cNvPicPr>
            <a:picLocks noChangeAspect="1"/>
          </p:cNvPicPr>
          <p:nvPr/>
        </p:nvPicPr>
        <p:blipFill>
          <a:blip r:embed="rId2"/>
          <a:stretch>
            <a:fillRect/>
          </a:stretch>
        </p:blipFill>
        <p:spPr>
          <a:xfrm>
            <a:off x="457200" y="1690688"/>
            <a:ext cx="3871395" cy="5143500"/>
          </a:xfrm>
          <a:prstGeom prst="rect">
            <a:avLst/>
          </a:prstGeom>
        </p:spPr>
      </p:pic>
      <p:pic>
        <p:nvPicPr>
          <p:cNvPr id="4" name="Picture 3">
            <a:extLst>
              <a:ext uri="{FF2B5EF4-FFF2-40B4-BE49-F238E27FC236}">
                <a16:creationId xmlns:a16="http://schemas.microsoft.com/office/drawing/2014/main" id="{A24E447F-5550-0F39-E694-D41A08E02C97}"/>
              </a:ext>
            </a:extLst>
          </p:cNvPr>
          <p:cNvPicPr>
            <a:picLocks noChangeAspect="1"/>
          </p:cNvPicPr>
          <p:nvPr/>
        </p:nvPicPr>
        <p:blipFill>
          <a:blip r:embed="rId3"/>
          <a:stretch>
            <a:fillRect/>
          </a:stretch>
        </p:blipFill>
        <p:spPr>
          <a:xfrm>
            <a:off x="4904778" y="1690688"/>
            <a:ext cx="6830022" cy="5143500"/>
          </a:xfrm>
          <a:prstGeom prst="rect">
            <a:avLst/>
          </a:prstGeom>
        </p:spPr>
      </p:pic>
      <p:sp>
        <p:nvSpPr>
          <p:cNvPr id="5" name="Slide Number Placeholder 4">
            <a:extLst>
              <a:ext uri="{FF2B5EF4-FFF2-40B4-BE49-F238E27FC236}">
                <a16:creationId xmlns:a16="http://schemas.microsoft.com/office/drawing/2014/main" id="{25DBA74E-43BD-A7ED-A37A-CD6DBF7211B6}"/>
              </a:ext>
            </a:extLst>
          </p:cNvPr>
          <p:cNvSpPr>
            <a:spLocks noGrp="1"/>
          </p:cNvSpPr>
          <p:nvPr>
            <p:ph type="sldNum" sz="quarter" idx="12"/>
          </p:nvPr>
        </p:nvSpPr>
        <p:spPr/>
        <p:txBody>
          <a:bodyPr/>
          <a:lstStyle/>
          <a:p>
            <a:fld id="{DA9AF7B9-8BBF-4957-8393-213600C515C9}" type="slidenum">
              <a:rPr lang="en-US" smtClean="0"/>
              <a:t>18</a:t>
            </a:fld>
            <a:endParaRPr lang="en-US"/>
          </a:p>
        </p:txBody>
      </p:sp>
    </p:spTree>
    <p:extLst>
      <p:ext uri="{BB962C8B-B14F-4D97-AF65-F5344CB8AC3E}">
        <p14:creationId xmlns:p14="http://schemas.microsoft.com/office/powerpoint/2010/main" val="1112781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A68A26-1BAA-D6E8-B1E3-AD6111B2A1FA}"/>
              </a:ext>
            </a:extLst>
          </p:cNvPr>
          <p:cNvSpPr>
            <a:spLocks noGrp="1"/>
          </p:cNvSpPr>
          <p:nvPr>
            <p:ph type="title"/>
          </p:nvPr>
        </p:nvSpPr>
        <p:spPr>
          <a:xfrm>
            <a:off x="838200" y="365125"/>
            <a:ext cx="10515600" cy="939363"/>
          </a:xfrm>
        </p:spPr>
        <p:txBody>
          <a:bodyPr/>
          <a:lstStyle/>
          <a:p>
            <a:pPr algn="ctr"/>
            <a:r>
              <a:rPr lang="en-US" dirty="0">
                <a:solidFill>
                  <a:srgbClr val="0000CC"/>
                </a:solidFill>
              </a:rPr>
              <a:t>Summary</a:t>
            </a:r>
          </a:p>
        </p:txBody>
      </p:sp>
      <p:sp>
        <p:nvSpPr>
          <p:cNvPr id="4" name="Content Placeholder 3">
            <a:extLst>
              <a:ext uri="{FF2B5EF4-FFF2-40B4-BE49-F238E27FC236}">
                <a16:creationId xmlns:a16="http://schemas.microsoft.com/office/drawing/2014/main" id="{EF593EDB-4B7F-B193-2A0A-ECFE41B15B80}"/>
              </a:ext>
            </a:extLst>
          </p:cNvPr>
          <p:cNvSpPr>
            <a:spLocks noGrp="1"/>
          </p:cNvSpPr>
          <p:nvPr>
            <p:ph idx="1"/>
          </p:nvPr>
        </p:nvSpPr>
        <p:spPr>
          <a:xfrm>
            <a:off x="838200" y="1480657"/>
            <a:ext cx="10515600" cy="4696306"/>
          </a:xfrm>
        </p:spPr>
        <p:txBody>
          <a:bodyPr/>
          <a:lstStyle/>
          <a:p>
            <a:r>
              <a:rPr lang="en-US" dirty="0"/>
              <a:t>Goal: develop reactor(s) and method(s) to accurately quantify UV inactivation kinetics for challenge agents in the aerosol phase</a:t>
            </a:r>
          </a:p>
          <a:p>
            <a:r>
              <a:rPr lang="en-US" u="sng" dirty="0" err="1"/>
              <a:t>BL</a:t>
            </a:r>
            <a:r>
              <a:rPr lang="en-US" dirty="0" err="1"/>
              <a:t>ueprint</a:t>
            </a:r>
            <a:r>
              <a:rPr lang="en-US" dirty="0"/>
              <a:t> </a:t>
            </a:r>
            <a:r>
              <a:rPr lang="en-US" u="sng" dirty="0"/>
              <a:t>U</a:t>
            </a:r>
            <a:r>
              <a:rPr lang="en-US" dirty="0"/>
              <a:t>niform </a:t>
            </a:r>
            <a:r>
              <a:rPr lang="en-US" u="sng" dirty="0"/>
              <a:t>C</a:t>
            </a:r>
            <a:r>
              <a:rPr lang="en-US" dirty="0"/>
              <a:t>ylindrical </a:t>
            </a:r>
            <a:r>
              <a:rPr lang="en-US" u="sng" dirty="0"/>
              <a:t>I</a:t>
            </a:r>
            <a:r>
              <a:rPr lang="en-US" dirty="0"/>
              <a:t>ntegrating </a:t>
            </a:r>
            <a:r>
              <a:rPr lang="en-US" u="sng" dirty="0"/>
              <a:t>F</a:t>
            </a:r>
            <a:r>
              <a:rPr lang="en-US" dirty="0"/>
              <a:t>luence </a:t>
            </a:r>
            <a:r>
              <a:rPr lang="en-US" u="sng" dirty="0"/>
              <a:t>R</a:t>
            </a:r>
            <a:r>
              <a:rPr lang="en-US" dirty="0"/>
              <a:t>ate </a:t>
            </a:r>
            <a:r>
              <a:rPr lang="en-US" u="sng" dirty="0"/>
              <a:t>R</a:t>
            </a:r>
            <a:r>
              <a:rPr lang="en-US" dirty="0"/>
              <a:t>eactor (BLUCIFRR)</a:t>
            </a:r>
          </a:p>
          <a:p>
            <a:pPr lvl="1"/>
            <a:r>
              <a:rPr lang="en-US" dirty="0"/>
              <a:t>Essentially uniform fluence rate field</a:t>
            </a:r>
          </a:p>
          <a:p>
            <a:pPr lvl="1"/>
            <a:r>
              <a:rPr lang="en-US" dirty="0"/>
              <a:t>Continuous flow operation: laminar flow in a circular tube</a:t>
            </a:r>
          </a:p>
          <a:p>
            <a:pPr lvl="1"/>
            <a:r>
              <a:rPr lang="en-US" dirty="0"/>
              <a:t>Attributes allow accurate calculation of fluence (dose) distribution</a:t>
            </a:r>
          </a:p>
          <a:p>
            <a:pPr lvl="1"/>
            <a:r>
              <a:rPr lang="en-US" dirty="0"/>
              <a:t>Reaction rate parameters are solved for by regression (fitting)</a:t>
            </a:r>
          </a:p>
          <a:p>
            <a:r>
              <a:rPr lang="en-US" dirty="0"/>
              <a:t>Applicable to aerosol-phase and gas-phase reactions</a:t>
            </a:r>
          </a:p>
          <a:p>
            <a:r>
              <a:rPr lang="en-US" dirty="0"/>
              <a:t>Reactor and methods available to anyone</a:t>
            </a:r>
          </a:p>
        </p:txBody>
      </p:sp>
      <p:sp>
        <p:nvSpPr>
          <p:cNvPr id="5" name="Slide Number Placeholder 4">
            <a:extLst>
              <a:ext uri="{FF2B5EF4-FFF2-40B4-BE49-F238E27FC236}">
                <a16:creationId xmlns:a16="http://schemas.microsoft.com/office/drawing/2014/main" id="{A07C1136-B12C-3B42-2AF2-1C4589F21306}"/>
              </a:ext>
            </a:extLst>
          </p:cNvPr>
          <p:cNvSpPr>
            <a:spLocks noGrp="1"/>
          </p:cNvSpPr>
          <p:nvPr>
            <p:ph type="sldNum" sz="quarter" idx="12"/>
          </p:nvPr>
        </p:nvSpPr>
        <p:spPr/>
        <p:txBody>
          <a:bodyPr/>
          <a:lstStyle/>
          <a:p>
            <a:fld id="{DA9AF7B9-8BBF-4957-8393-213600C515C9}" type="slidenum">
              <a:rPr lang="en-US" smtClean="0"/>
              <a:t>19</a:t>
            </a:fld>
            <a:endParaRPr lang="en-US"/>
          </a:p>
        </p:txBody>
      </p:sp>
    </p:spTree>
    <p:extLst>
      <p:ext uri="{BB962C8B-B14F-4D97-AF65-F5344CB8AC3E}">
        <p14:creationId xmlns:p14="http://schemas.microsoft.com/office/powerpoint/2010/main" val="537860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NC State CCEE (@NCStateCCEE) / X">
            <a:extLst>
              <a:ext uri="{FF2B5EF4-FFF2-40B4-BE49-F238E27FC236}">
                <a16:creationId xmlns:a16="http://schemas.microsoft.com/office/drawing/2014/main" id="{56189CCA-9EEB-2539-C342-54A028AA3FF1}"/>
              </a:ext>
            </a:extLst>
          </p:cNvPr>
          <p:cNvPicPr>
            <a:picLocks noChangeAspect="1"/>
          </p:cNvPicPr>
          <p:nvPr/>
        </p:nvPicPr>
        <p:blipFill>
          <a:blip r:embed="rId2"/>
          <a:stretch>
            <a:fillRect/>
          </a:stretch>
        </p:blipFill>
        <p:spPr>
          <a:xfrm>
            <a:off x="9885717" y="5245480"/>
            <a:ext cx="1760824" cy="1760824"/>
          </a:xfrm>
          <a:prstGeom prst="rect">
            <a:avLst/>
          </a:prstGeom>
        </p:spPr>
      </p:pic>
      <p:sp>
        <p:nvSpPr>
          <p:cNvPr id="2" name="Title 1">
            <a:extLst>
              <a:ext uri="{FF2B5EF4-FFF2-40B4-BE49-F238E27FC236}">
                <a16:creationId xmlns:a16="http://schemas.microsoft.com/office/drawing/2014/main" id="{60EF8502-C9C2-716F-E744-D939CC10F09B}"/>
              </a:ext>
            </a:extLst>
          </p:cNvPr>
          <p:cNvSpPr>
            <a:spLocks noGrp="1"/>
          </p:cNvSpPr>
          <p:nvPr>
            <p:ph type="ctrTitle"/>
          </p:nvPr>
        </p:nvSpPr>
        <p:spPr>
          <a:xfrm>
            <a:off x="1524000" y="1122363"/>
            <a:ext cx="9144000" cy="1062969"/>
          </a:xfrm>
        </p:spPr>
        <p:txBody>
          <a:bodyPr/>
          <a:lstStyle/>
          <a:p>
            <a:pPr algn="ctr"/>
            <a:r>
              <a:rPr lang="en-US" dirty="0">
                <a:solidFill>
                  <a:srgbClr val="0000CC"/>
                </a:solidFill>
              </a:rPr>
              <a:t>Thank you!  Questions?</a:t>
            </a:r>
          </a:p>
        </p:txBody>
      </p:sp>
      <p:sp>
        <p:nvSpPr>
          <p:cNvPr id="4" name="Subtitle 3">
            <a:extLst>
              <a:ext uri="{FF2B5EF4-FFF2-40B4-BE49-F238E27FC236}">
                <a16:creationId xmlns:a16="http://schemas.microsoft.com/office/drawing/2014/main" id="{87F9C192-3BF9-F9F3-D789-347F2F8B7B80}"/>
              </a:ext>
            </a:extLst>
          </p:cNvPr>
          <p:cNvSpPr>
            <a:spLocks noGrp="1"/>
          </p:cNvSpPr>
          <p:nvPr>
            <p:ph type="subTitle" idx="1"/>
          </p:nvPr>
        </p:nvSpPr>
        <p:spPr>
          <a:xfrm>
            <a:off x="1524000" y="2637304"/>
            <a:ext cx="9144000" cy="936406"/>
          </a:xfrm>
        </p:spPr>
        <p:txBody>
          <a:bodyPr/>
          <a:lstStyle/>
          <a:p>
            <a:r>
              <a:rPr lang="en-US" dirty="0"/>
              <a:t>Ernest R. Blatchley III</a:t>
            </a:r>
            <a:endParaRPr lang="en-US" baseline="30000" dirty="0"/>
          </a:p>
          <a:p>
            <a:r>
              <a:rPr lang="en-US" baseline="30000" dirty="0">
                <a:solidFill>
                  <a:srgbClr val="0000CC"/>
                </a:solidFill>
                <a:hlinkClick r:id="rId3">
                  <a:extLst>
                    <a:ext uri="{A12FA001-AC4F-418D-AE19-62706E023703}">
                      <ahyp:hlinkClr xmlns:ahyp="http://schemas.microsoft.com/office/drawing/2018/hyperlinkcolor" val="tx"/>
                    </a:ext>
                  </a:extLst>
                </a:hlinkClick>
              </a:rPr>
              <a:t>blatch@purdue.edu</a:t>
            </a:r>
            <a:r>
              <a:rPr lang="en-US" baseline="30000" dirty="0">
                <a:solidFill>
                  <a:srgbClr val="0000CC"/>
                </a:solidFill>
              </a:rPr>
              <a:t> </a:t>
            </a:r>
            <a:endParaRPr lang="en-US" dirty="0">
              <a:solidFill>
                <a:srgbClr val="0000CC"/>
              </a:solidFill>
            </a:endParaRPr>
          </a:p>
        </p:txBody>
      </p:sp>
      <p:pic>
        <p:nvPicPr>
          <p:cNvPr id="5" name="Picture 4" descr="Blueprint Biosecurity – Coalition to Stop Flu">
            <a:extLst>
              <a:ext uri="{FF2B5EF4-FFF2-40B4-BE49-F238E27FC236}">
                <a16:creationId xmlns:a16="http://schemas.microsoft.com/office/drawing/2014/main" id="{BBBD260E-4450-C82E-4765-CE3C206E71BB}"/>
              </a:ext>
            </a:extLst>
          </p:cNvPr>
          <p:cNvPicPr>
            <a:picLocks noChangeAspect="1"/>
          </p:cNvPicPr>
          <p:nvPr/>
        </p:nvPicPr>
        <p:blipFill>
          <a:blip r:embed="rId4"/>
          <a:stretch>
            <a:fillRect/>
          </a:stretch>
        </p:blipFill>
        <p:spPr>
          <a:xfrm>
            <a:off x="3397542" y="3429000"/>
            <a:ext cx="5482206" cy="1442013"/>
          </a:xfrm>
          <a:prstGeom prst="rect">
            <a:avLst/>
          </a:prstGeom>
        </p:spPr>
      </p:pic>
      <p:sp>
        <p:nvSpPr>
          <p:cNvPr id="6" name="Slide Number Placeholder 5">
            <a:extLst>
              <a:ext uri="{FF2B5EF4-FFF2-40B4-BE49-F238E27FC236}">
                <a16:creationId xmlns:a16="http://schemas.microsoft.com/office/drawing/2014/main" id="{6922A59C-6FBA-A0B8-B664-3F0263076549}"/>
              </a:ext>
            </a:extLst>
          </p:cNvPr>
          <p:cNvSpPr>
            <a:spLocks noGrp="1"/>
          </p:cNvSpPr>
          <p:nvPr>
            <p:ph type="sldNum" sz="quarter" idx="12"/>
          </p:nvPr>
        </p:nvSpPr>
        <p:spPr>
          <a:xfrm>
            <a:off x="9429403" y="6335935"/>
            <a:ext cx="2743200" cy="365125"/>
          </a:xfrm>
        </p:spPr>
        <p:txBody>
          <a:bodyPr/>
          <a:lstStyle/>
          <a:p>
            <a:fld id="{DA9AF7B9-8BBF-4957-8393-213600C515C9}" type="slidenum">
              <a:rPr lang="en-US" smtClean="0"/>
              <a:t>20</a:t>
            </a:fld>
            <a:endParaRPr lang="en-US" dirty="0"/>
          </a:p>
        </p:txBody>
      </p:sp>
      <p:pic>
        <p:nvPicPr>
          <p:cNvPr id="10" name="Picture 9" descr="A black background with white text&#10;&#10;AI-generated content may be incorrect.">
            <a:extLst>
              <a:ext uri="{FF2B5EF4-FFF2-40B4-BE49-F238E27FC236}">
                <a16:creationId xmlns:a16="http://schemas.microsoft.com/office/drawing/2014/main" id="{04DCB66D-5F6E-1306-015B-69036BD6A6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46194" y="5509566"/>
            <a:ext cx="1785249" cy="1412152"/>
          </a:xfrm>
          <a:prstGeom prst="rect">
            <a:avLst/>
          </a:prstGeom>
        </p:spPr>
      </p:pic>
      <p:pic>
        <p:nvPicPr>
          <p:cNvPr id="12" name="Picture 11" descr="A logo for a university&#10;&#10;AI-generated content may be incorrect.">
            <a:extLst>
              <a:ext uri="{FF2B5EF4-FFF2-40B4-BE49-F238E27FC236}">
                <a16:creationId xmlns:a16="http://schemas.microsoft.com/office/drawing/2014/main" id="{F88E6FAB-371C-51DB-DA30-CB57FE78C59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8940" y="5496527"/>
            <a:ext cx="1760824" cy="1397479"/>
          </a:xfrm>
          <a:prstGeom prst="rect">
            <a:avLst/>
          </a:prstGeom>
        </p:spPr>
      </p:pic>
      <p:pic>
        <p:nvPicPr>
          <p:cNvPr id="14" name="Picture 13" descr="LTI Optics - About | Photopia Optical Design Software">
            <a:extLst>
              <a:ext uri="{FF2B5EF4-FFF2-40B4-BE49-F238E27FC236}">
                <a16:creationId xmlns:a16="http://schemas.microsoft.com/office/drawing/2014/main" id="{AD3A6E5E-47AD-91CF-D95B-B5233CCDC044}"/>
              </a:ext>
            </a:extLst>
          </p:cNvPr>
          <p:cNvPicPr>
            <a:picLocks noChangeAspect="1"/>
          </p:cNvPicPr>
          <p:nvPr/>
        </p:nvPicPr>
        <p:blipFill>
          <a:blip r:embed="rId7"/>
          <a:stretch>
            <a:fillRect/>
          </a:stretch>
        </p:blipFill>
        <p:spPr>
          <a:xfrm>
            <a:off x="5012381" y="5760035"/>
            <a:ext cx="2499612" cy="834841"/>
          </a:xfrm>
          <a:prstGeom prst="rect">
            <a:avLst/>
          </a:prstGeom>
        </p:spPr>
      </p:pic>
      <p:pic>
        <p:nvPicPr>
          <p:cNvPr id="16" name="Picture 15" descr="University of Colorado Boulder Civil, Environmental and Architectural  Engineering Employees, Location, Alumni | LinkedIn">
            <a:extLst>
              <a:ext uri="{FF2B5EF4-FFF2-40B4-BE49-F238E27FC236}">
                <a16:creationId xmlns:a16="http://schemas.microsoft.com/office/drawing/2014/main" id="{3E4F1A6F-C253-FAC1-70D5-5E77F1CCEF07}"/>
              </a:ext>
            </a:extLst>
          </p:cNvPr>
          <p:cNvPicPr>
            <a:picLocks noChangeAspect="1"/>
          </p:cNvPicPr>
          <p:nvPr/>
        </p:nvPicPr>
        <p:blipFill>
          <a:blip r:embed="rId8"/>
          <a:stretch>
            <a:fillRect/>
          </a:stretch>
        </p:blipFill>
        <p:spPr>
          <a:xfrm>
            <a:off x="8092931" y="5532538"/>
            <a:ext cx="1325461" cy="1325461"/>
          </a:xfrm>
          <a:prstGeom prst="rect">
            <a:avLst/>
          </a:prstGeom>
        </p:spPr>
      </p:pic>
    </p:spTree>
    <p:extLst>
      <p:ext uri="{BB962C8B-B14F-4D97-AF65-F5344CB8AC3E}">
        <p14:creationId xmlns:p14="http://schemas.microsoft.com/office/powerpoint/2010/main" val="2872885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8A608C5-CC73-58C4-7C85-C1DF44270A9C}"/>
              </a:ext>
            </a:extLst>
          </p:cNvPr>
          <p:cNvSpPr>
            <a:spLocks noGrp="1"/>
          </p:cNvSpPr>
          <p:nvPr>
            <p:ph type="title"/>
          </p:nvPr>
        </p:nvSpPr>
        <p:spPr>
          <a:xfrm>
            <a:off x="3" y="82441"/>
            <a:ext cx="12191997" cy="1545971"/>
          </a:xfrm>
        </p:spPr>
        <p:txBody>
          <a:bodyPr>
            <a:normAutofit/>
          </a:bodyPr>
          <a:lstStyle/>
          <a:p>
            <a:pPr algn="ctr"/>
            <a:r>
              <a:rPr lang="en-US" dirty="0">
                <a:solidFill>
                  <a:srgbClr val="0000CC"/>
                </a:solidFill>
              </a:rPr>
              <a:t>Transport Behavior of Suspended/Soluble Material Under Laminar Flow in a Circular Tube</a:t>
            </a: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D83B250-2EF9-FDB0-9D57-8E5893E0E0BC}"/>
                  </a:ext>
                </a:extLst>
              </p:cNvPr>
              <p:cNvSpPr txBox="1"/>
              <p:nvPr/>
            </p:nvSpPr>
            <p:spPr>
              <a:xfrm>
                <a:off x="503796" y="5009306"/>
                <a:ext cx="3348674" cy="1816779"/>
              </a:xfrm>
              <a:prstGeom prst="rect">
                <a:avLst/>
              </a:prstGeom>
              <a:noFill/>
            </p:spPr>
            <p:txBody>
              <a:bodyPr wrap="none" rtlCol="0">
                <a:spAutoFit/>
              </a:bodyPr>
              <a:lstStyle/>
              <a:p>
                <a:r>
                  <a:rPr lang="en-US" dirty="0">
                    <a:solidFill>
                      <a:srgbClr val="0000CC"/>
                    </a:solidFill>
                  </a:rPr>
                  <a:t>Velocity Profile</a:t>
                </a:r>
              </a:p>
              <a:p>
                <a:pPr/>
                <a14:m>
                  <m:oMathPara xmlns:m="http://schemas.openxmlformats.org/officeDocument/2006/math">
                    <m:oMath>
                      <m:r>
                        <a:rPr lang="en-US" b="0" i="1" smtClean="0">
                          <a:solidFill>
                            <a:srgbClr val="0000CC"/>
                          </a:solidFill>
                          <a:latin typeface="Cambria Math" panose="02040503050406030204" pitchFamily="18" charset="0"/>
                        </a:rPr>
                        <m:t>𝑈</m:t>
                      </m:r>
                      <m:d>
                        <m:dPr>
                          <m:ctrlPr>
                            <a:rPr lang="en-US" b="0" i="1" smtClean="0">
                              <a:solidFill>
                                <a:srgbClr val="0000CC"/>
                              </a:solidFill>
                              <a:latin typeface="Cambria Math" panose="02040503050406030204" pitchFamily="18" charset="0"/>
                            </a:rPr>
                          </m:ctrlPr>
                        </m:dPr>
                        <m:e>
                          <m:r>
                            <a:rPr lang="en-US" b="0" i="1" smtClean="0">
                              <a:solidFill>
                                <a:srgbClr val="0000CC"/>
                              </a:solidFill>
                              <a:latin typeface="Cambria Math" panose="02040503050406030204" pitchFamily="18" charset="0"/>
                            </a:rPr>
                            <m:t>𝑟</m:t>
                          </m:r>
                        </m:e>
                      </m:d>
                      <m:r>
                        <a:rPr lang="en-US" b="0" i="1" smtClean="0">
                          <a:solidFill>
                            <a:srgbClr val="0000CC"/>
                          </a:solidFill>
                          <a:latin typeface="Cambria Math" panose="02040503050406030204" pitchFamily="18" charset="0"/>
                        </a:rPr>
                        <m:t>=</m:t>
                      </m:r>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d>
                        <m:dPr>
                          <m:ctrlPr>
                            <a:rPr lang="en-US" b="0" i="1" smtClean="0">
                              <a:solidFill>
                                <a:srgbClr val="0000CC"/>
                              </a:solidFill>
                              <a:latin typeface="Cambria Math" panose="02040503050406030204" pitchFamily="18" charset="0"/>
                            </a:rPr>
                          </m:ctrlPr>
                        </m:dPr>
                        <m:e>
                          <m:r>
                            <a:rPr lang="en-US" b="0" i="1" smtClean="0">
                              <a:solidFill>
                                <a:srgbClr val="0000CC"/>
                              </a:solidFill>
                              <a:latin typeface="Cambria Math" panose="02040503050406030204" pitchFamily="18" charset="0"/>
                            </a:rPr>
                            <m:t>1−</m:t>
                          </m:r>
                          <m:f>
                            <m:fPr>
                              <m:ctrlPr>
                                <a:rPr lang="en-US" b="0" i="1" smtClean="0">
                                  <a:solidFill>
                                    <a:srgbClr val="0000CC"/>
                                  </a:solidFill>
                                  <a:latin typeface="Cambria Math" panose="02040503050406030204" pitchFamily="18" charset="0"/>
                                </a:rPr>
                              </m:ctrlPr>
                            </m:fPr>
                            <m:num>
                              <m:sSup>
                                <m:sSupPr>
                                  <m:ctrlPr>
                                    <a:rPr lang="en-US" b="0" i="1" smtClean="0">
                                      <a:solidFill>
                                        <a:srgbClr val="0000CC"/>
                                      </a:solidFill>
                                      <a:latin typeface="Cambria Math" panose="02040503050406030204" pitchFamily="18" charset="0"/>
                                    </a:rPr>
                                  </m:ctrlPr>
                                </m:sSupPr>
                                <m:e>
                                  <m:r>
                                    <a:rPr lang="en-US" b="0" i="1" smtClean="0">
                                      <a:solidFill>
                                        <a:srgbClr val="0000CC"/>
                                      </a:solidFill>
                                      <a:latin typeface="Cambria Math" panose="02040503050406030204" pitchFamily="18" charset="0"/>
                                    </a:rPr>
                                    <m:t>𝑟</m:t>
                                  </m:r>
                                </m:e>
                                <m:sup>
                                  <m:r>
                                    <a:rPr lang="en-US" b="0" i="1" smtClean="0">
                                      <a:solidFill>
                                        <a:srgbClr val="0000CC"/>
                                      </a:solidFill>
                                      <a:latin typeface="Cambria Math" panose="02040503050406030204" pitchFamily="18" charset="0"/>
                                    </a:rPr>
                                    <m:t>2</m:t>
                                  </m:r>
                                </m:sup>
                              </m:sSup>
                            </m:num>
                            <m:den>
                              <m:sSup>
                                <m:sSupPr>
                                  <m:ctrlPr>
                                    <a:rPr lang="en-US" b="0" i="1" smtClean="0">
                                      <a:solidFill>
                                        <a:srgbClr val="0000CC"/>
                                      </a:solidFill>
                                      <a:latin typeface="Cambria Math" panose="02040503050406030204" pitchFamily="18" charset="0"/>
                                    </a:rPr>
                                  </m:ctrlPr>
                                </m:sSupPr>
                                <m:e>
                                  <m:r>
                                    <a:rPr lang="en-US" b="0" i="1" smtClean="0">
                                      <a:solidFill>
                                        <a:srgbClr val="0000CC"/>
                                      </a:solidFill>
                                      <a:latin typeface="Cambria Math" panose="02040503050406030204" pitchFamily="18" charset="0"/>
                                    </a:rPr>
                                    <m:t>𝑎</m:t>
                                  </m:r>
                                </m:e>
                                <m:sup>
                                  <m:r>
                                    <a:rPr lang="en-US" b="0" i="1" smtClean="0">
                                      <a:solidFill>
                                        <a:srgbClr val="0000CC"/>
                                      </a:solidFill>
                                      <a:latin typeface="Cambria Math" panose="02040503050406030204" pitchFamily="18" charset="0"/>
                                    </a:rPr>
                                    <m:t>2</m:t>
                                  </m:r>
                                </m:sup>
                              </m:sSup>
                            </m:den>
                          </m:f>
                        </m:e>
                      </m:d>
                    </m:oMath>
                  </m:oMathPara>
                </a14:m>
                <a:endParaRPr lang="en-US" dirty="0">
                  <a:solidFill>
                    <a:srgbClr val="0000CC"/>
                  </a:solidFill>
                </a:endParaRPr>
              </a:p>
              <a:p>
                <a14:m>
                  <m:oMath xmlns:m="http://schemas.openxmlformats.org/officeDocument/2006/math">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r>
                      <a:rPr lang="en-US" b="0" i="1" smtClean="0">
                        <a:solidFill>
                          <a:srgbClr val="0000CC"/>
                        </a:solidFill>
                        <a:latin typeface="Cambria Math" panose="02040503050406030204" pitchFamily="18" charset="0"/>
                      </a:rPr>
                      <m:t>=</m:t>
                    </m:r>
                    <m:r>
                      <a:rPr lang="en-US" b="0" i="1" smtClean="0">
                        <a:solidFill>
                          <a:srgbClr val="0000CC"/>
                        </a:solidFill>
                        <a:latin typeface="Cambria Math" panose="02040503050406030204" pitchFamily="18" charset="0"/>
                      </a:rPr>
                      <m:t>𝐶𝑒𝑛𝑡𝑒𝑟𝑙𝑖𝑛𝑒</m:t>
                    </m:r>
                    <m:r>
                      <a:rPr lang="en-US" b="0" i="1" smtClean="0">
                        <a:solidFill>
                          <a:srgbClr val="0000CC"/>
                        </a:solidFill>
                        <a:latin typeface="Cambria Math" panose="02040503050406030204" pitchFamily="18" charset="0"/>
                      </a:rPr>
                      <m:t> </m:t>
                    </m:r>
                    <m:r>
                      <a:rPr lang="en-US" b="0" i="1" smtClean="0">
                        <a:solidFill>
                          <a:srgbClr val="0000CC"/>
                        </a:solidFill>
                        <a:latin typeface="Cambria Math" panose="02040503050406030204" pitchFamily="18" charset="0"/>
                      </a:rPr>
                      <m:t>𝑉𝑒𝑙𝑜𝑐𝑖𝑡𝑦</m:t>
                    </m:r>
                  </m:oMath>
                </a14:m>
                <a:r>
                  <a:rPr lang="en-US" dirty="0">
                    <a:solidFill>
                      <a:srgbClr val="0000CC"/>
                    </a:solidFill>
                  </a:rPr>
                  <a:t> (max)</a:t>
                </a:r>
              </a:p>
              <a:p>
                <a:pPr/>
                <a14:m>
                  <m:oMathPara xmlns:m="http://schemas.openxmlformats.org/officeDocument/2006/math">
                    <m:oMath>
                      <m:r>
                        <a:rPr lang="en-US" b="0" i="1" smtClean="0">
                          <a:solidFill>
                            <a:srgbClr val="0000CC"/>
                          </a:solidFill>
                          <a:latin typeface="Cambria Math" panose="02040503050406030204" pitchFamily="18" charset="0"/>
                        </a:rPr>
                        <m:t>𝑈</m:t>
                      </m:r>
                      <m:r>
                        <a:rPr lang="en-US" b="0" i="1" smtClean="0">
                          <a:solidFill>
                            <a:srgbClr val="0000CC"/>
                          </a:solidFill>
                          <a:latin typeface="Cambria Math" panose="02040503050406030204" pitchFamily="18" charset="0"/>
                        </a:rPr>
                        <m:t>=</m:t>
                      </m:r>
                      <m:f>
                        <m:fPr>
                          <m:ctrlPr>
                            <a:rPr lang="en-US" b="0" i="1" smtClean="0">
                              <a:solidFill>
                                <a:srgbClr val="0000CC"/>
                              </a:solidFill>
                              <a:latin typeface="Cambria Math" panose="02040503050406030204" pitchFamily="18" charset="0"/>
                            </a:rPr>
                          </m:ctrlPr>
                        </m:fPr>
                        <m:num>
                          <m:sSub>
                            <m:sSubPr>
                              <m:ctrlPr>
                                <a:rPr lang="en-US" b="0" i="1" smtClean="0">
                                  <a:solidFill>
                                    <a:srgbClr val="0000CC"/>
                                  </a:solidFill>
                                  <a:latin typeface="Cambria Math" panose="02040503050406030204" pitchFamily="18" charset="0"/>
                                </a:rPr>
                              </m:ctrlPr>
                            </m:sSubPr>
                            <m:e>
                              <m:r>
                                <a:rPr lang="en-US" b="0" i="1" smtClean="0">
                                  <a:solidFill>
                                    <a:srgbClr val="0000CC"/>
                                  </a:solidFill>
                                  <a:latin typeface="Cambria Math" panose="02040503050406030204" pitchFamily="18" charset="0"/>
                                </a:rPr>
                                <m:t>𝑈</m:t>
                              </m:r>
                            </m:e>
                            <m:sub>
                              <m:r>
                                <a:rPr lang="en-US" b="0" i="1" smtClean="0">
                                  <a:solidFill>
                                    <a:srgbClr val="0000CC"/>
                                  </a:solidFill>
                                  <a:latin typeface="Cambria Math" panose="02040503050406030204" pitchFamily="18" charset="0"/>
                                </a:rPr>
                                <m:t>0</m:t>
                              </m:r>
                            </m:sub>
                          </m:sSub>
                        </m:num>
                        <m:den>
                          <m:r>
                            <a:rPr lang="en-US" b="0" i="1" smtClean="0">
                              <a:solidFill>
                                <a:srgbClr val="0000CC"/>
                              </a:solidFill>
                              <a:latin typeface="Cambria Math" panose="02040503050406030204" pitchFamily="18" charset="0"/>
                            </a:rPr>
                            <m:t>2</m:t>
                          </m:r>
                        </m:den>
                      </m:f>
                      <m:r>
                        <a:rPr lang="en-US" b="0" i="1" smtClean="0">
                          <a:solidFill>
                            <a:srgbClr val="0000CC"/>
                          </a:solidFill>
                          <a:latin typeface="Cambria Math" panose="02040503050406030204" pitchFamily="18" charset="0"/>
                        </a:rPr>
                        <m:t>=</m:t>
                      </m:r>
                      <m:r>
                        <a:rPr lang="en-US" b="0" i="1" smtClean="0">
                          <a:solidFill>
                            <a:srgbClr val="0000CC"/>
                          </a:solidFill>
                          <a:latin typeface="Cambria Math" panose="02040503050406030204" pitchFamily="18" charset="0"/>
                        </a:rPr>
                        <m:t>𝑚𝑒𝑎𝑛</m:t>
                      </m:r>
                      <m:r>
                        <a:rPr lang="en-US" b="0" i="1" smtClean="0">
                          <a:solidFill>
                            <a:srgbClr val="0000CC"/>
                          </a:solidFill>
                          <a:latin typeface="Cambria Math" panose="02040503050406030204" pitchFamily="18" charset="0"/>
                        </a:rPr>
                        <m:t> </m:t>
                      </m:r>
                      <m:r>
                        <a:rPr lang="en-US" b="0" i="1" smtClean="0">
                          <a:solidFill>
                            <a:srgbClr val="0000CC"/>
                          </a:solidFill>
                          <a:latin typeface="Cambria Math" panose="02040503050406030204" pitchFamily="18" charset="0"/>
                        </a:rPr>
                        <m:t>𝑣𝑒𝑙𝑜𝑐𝑖𝑡𝑦</m:t>
                      </m:r>
                    </m:oMath>
                  </m:oMathPara>
                </a14:m>
                <a:endParaRPr lang="en-US" dirty="0">
                  <a:solidFill>
                    <a:srgbClr val="0000CC"/>
                  </a:solidFill>
                </a:endParaRPr>
              </a:p>
            </p:txBody>
          </p:sp>
        </mc:Choice>
        <mc:Fallback>
          <p:sp>
            <p:nvSpPr>
              <p:cNvPr id="38" name="TextBox 37">
                <a:extLst>
                  <a:ext uri="{FF2B5EF4-FFF2-40B4-BE49-F238E27FC236}">
                    <a16:creationId xmlns:a16="http://schemas.microsoft.com/office/drawing/2014/main" id="{AD83B250-2EF9-FDB0-9D57-8E5893E0E0BC}"/>
                  </a:ext>
                </a:extLst>
              </p:cNvPr>
              <p:cNvSpPr txBox="1">
                <a:spLocks noRot="1" noChangeAspect="1" noMove="1" noResize="1" noEditPoints="1" noAdjustHandles="1" noChangeArrowheads="1" noChangeShapeType="1" noTextEdit="1"/>
              </p:cNvSpPr>
              <p:nvPr/>
            </p:nvSpPr>
            <p:spPr>
              <a:xfrm>
                <a:off x="503796" y="5009306"/>
                <a:ext cx="3348674" cy="1816779"/>
              </a:xfrm>
              <a:prstGeom prst="rect">
                <a:avLst/>
              </a:prstGeom>
              <a:blipFill>
                <a:blip r:embed="rId2"/>
                <a:stretch>
                  <a:fillRect l="-1639" t="-1678" r="-7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9F715FA2-E2B5-2627-6081-031B1CB7A8C0}"/>
                  </a:ext>
                </a:extLst>
              </p:cNvPr>
              <p:cNvSpPr txBox="1"/>
              <p:nvPr/>
            </p:nvSpPr>
            <p:spPr>
              <a:xfrm>
                <a:off x="4553843" y="3243054"/>
                <a:ext cx="7421441" cy="3255507"/>
              </a:xfrm>
              <a:prstGeom prst="rect">
                <a:avLst/>
              </a:prstGeom>
              <a:noFill/>
            </p:spPr>
            <p:txBody>
              <a:bodyPr wrap="square" rtlCol="0">
                <a:spAutoFit/>
              </a:bodyPr>
              <a:lstStyle/>
              <a:p>
                <a:pPr marL="285750" indent="-285750">
                  <a:buFont typeface="Arial" panose="020B0604020202020204" pitchFamily="34" charset="0"/>
                  <a:buChar char="•"/>
                </a:pPr>
                <a:r>
                  <a:rPr lang="en-US" dirty="0"/>
                  <a:t>Constituents at centerline will move faster than those near wall</a:t>
                </a:r>
              </a:p>
              <a:p>
                <a:pPr marL="285750" indent="-285750">
                  <a:buFont typeface="Arial" panose="020B0604020202020204" pitchFamily="34" charset="0"/>
                  <a:buChar char="•"/>
                </a:pPr>
                <a:r>
                  <a:rPr lang="en-US" dirty="0"/>
                  <a:t>Constituent front will be "stretched" as it moves through tube</a:t>
                </a:r>
              </a:p>
              <a:p>
                <a:pPr marL="285750" indent="-285750">
                  <a:buFont typeface="Arial" panose="020B0604020202020204" pitchFamily="34" charset="0"/>
                  <a:buChar char="•"/>
                </a:pPr>
                <a:r>
                  <a:rPr lang="en-US" dirty="0"/>
                  <a:t>At any x location at time t: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den>
                    </m:f>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0</m:t>
                        </m:r>
                      </m:sub>
                      <m:sup>
                        <m:r>
                          <a:rPr lang="en-US" b="0" i="1" smtClean="0">
                            <a:latin typeface="Cambria Math" panose="02040503050406030204" pitchFamily="18" charset="0"/>
                          </a:rPr>
                          <m:t>𝑎</m:t>
                        </m:r>
                      </m:sup>
                      <m:e>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𝑑𝑟</m:t>
                        </m:r>
                      </m:e>
                    </m:nary>
                  </m:oMath>
                </a14:m>
                <a:endParaRPr lang="en-US" dirty="0"/>
              </a:p>
              <a:p>
                <a:pPr marL="285750" indent="-285750">
                  <a:buFont typeface="Arial" panose="020B0604020202020204" pitchFamily="34" charset="0"/>
                  <a:buChar char="•"/>
                </a:pPr>
                <a:r>
                  <a:rPr lang="en-US" dirty="0"/>
                  <a:t>Transport behavior depends on size, diffusivity</a:t>
                </a:r>
              </a:p>
              <a:p>
                <a:pPr marL="285750" indent="-285750">
                  <a:buFont typeface="Arial" panose="020B0604020202020204" pitchFamily="34" charset="0"/>
                  <a:buChar char="•"/>
                </a:pPr>
                <a:r>
                  <a:rPr lang="en-US" dirty="0"/>
                  <a:t>For the case of zero (radial) diffusion (probably valid for aerosols in this reactor), then an analytical solution exists for a step change in inlet concentration of a non-reacting constituent (Taylor, 1953) … also discussed in a few slides</a:t>
                </a:r>
              </a:p>
              <a:p>
                <a:pPr marL="285750" indent="-285750">
                  <a:buFont typeface="Arial" panose="020B0604020202020204" pitchFamily="34" charset="0"/>
                  <a:buChar char="•"/>
                </a:pPr>
                <a:r>
                  <a:rPr lang="en-US" dirty="0"/>
                  <a:t>An analytical solution also exists for the case when (radial) diffusion is accounted for (Taylor, 1953), but it is more complicated and probably not applicable for the case of aerosols (see discussion below)</a:t>
                </a:r>
              </a:p>
            </p:txBody>
          </p:sp>
        </mc:Choice>
        <mc:Fallback>
          <p:sp>
            <p:nvSpPr>
              <p:cNvPr id="39" name="TextBox 38">
                <a:extLst>
                  <a:ext uri="{FF2B5EF4-FFF2-40B4-BE49-F238E27FC236}">
                    <a16:creationId xmlns:a16="http://schemas.microsoft.com/office/drawing/2014/main" id="{9F715FA2-E2B5-2627-6081-031B1CB7A8C0}"/>
                  </a:ext>
                </a:extLst>
              </p:cNvPr>
              <p:cNvSpPr txBox="1">
                <a:spLocks noRot="1" noChangeAspect="1" noMove="1" noResize="1" noEditPoints="1" noAdjustHandles="1" noChangeArrowheads="1" noChangeShapeType="1" noTextEdit="1"/>
              </p:cNvSpPr>
              <p:nvPr/>
            </p:nvSpPr>
            <p:spPr>
              <a:xfrm>
                <a:off x="4553843" y="3243054"/>
                <a:ext cx="7421441" cy="3255507"/>
              </a:xfrm>
              <a:prstGeom prst="rect">
                <a:avLst/>
              </a:prstGeom>
              <a:blipFill>
                <a:blip r:embed="rId3"/>
                <a:stretch>
                  <a:fillRect l="-493" t="-936" r="-493" b="-2060"/>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7B5584D3-0499-B4A5-75C7-E218A5E46E46}"/>
              </a:ext>
            </a:extLst>
          </p:cNvPr>
          <p:cNvGrpSpPr/>
          <p:nvPr/>
        </p:nvGrpSpPr>
        <p:grpSpPr>
          <a:xfrm>
            <a:off x="833250" y="1657822"/>
            <a:ext cx="9880932" cy="1326852"/>
            <a:chOff x="833250" y="2312156"/>
            <a:chExt cx="9880932" cy="1326852"/>
          </a:xfrm>
        </p:grpSpPr>
        <p:grpSp>
          <p:nvGrpSpPr>
            <p:cNvPr id="2" name="Group 1">
              <a:extLst>
                <a:ext uri="{FF2B5EF4-FFF2-40B4-BE49-F238E27FC236}">
                  <a16:creationId xmlns:a16="http://schemas.microsoft.com/office/drawing/2014/main" id="{10595CAB-1BF4-DC8E-386B-7C91175A25ED}"/>
                </a:ext>
              </a:extLst>
            </p:cNvPr>
            <p:cNvGrpSpPr/>
            <p:nvPr/>
          </p:nvGrpSpPr>
          <p:grpSpPr>
            <a:xfrm>
              <a:off x="833250" y="2312156"/>
              <a:ext cx="9880932" cy="1326852"/>
              <a:chOff x="833250" y="2312156"/>
              <a:chExt cx="9880932" cy="1326852"/>
            </a:xfrm>
          </p:grpSpPr>
          <p:sp>
            <p:nvSpPr>
              <p:cNvPr id="5" name="Rectangle 4">
                <a:extLst>
                  <a:ext uri="{FF2B5EF4-FFF2-40B4-BE49-F238E27FC236}">
                    <a16:creationId xmlns:a16="http://schemas.microsoft.com/office/drawing/2014/main" id="{81309A67-191C-D469-E425-A5DC32B6F76E}"/>
                  </a:ext>
                </a:extLst>
              </p:cNvPr>
              <p:cNvSpPr/>
              <p:nvPr/>
            </p:nvSpPr>
            <p:spPr>
              <a:xfrm>
                <a:off x="1789361" y="2319715"/>
                <a:ext cx="8924821" cy="8229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50750833-1DDA-9F6C-0AD6-B604A86BF330}"/>
                  </a:ext>
                </a:extLst>
              </p:cNvPr>
              <p:cNvCxnSpPr/>
              <p:nvPr/>
            </p:nvCxnSpPr>
            <p:spPr>
              <a:xfrm>
                <a:off x="1789361" y="3269676"/>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817B2040-24B6-ED36-CECF-C1ED5CB69B01}"/>
                  </a:ext>
                </a:extLst>
              </p:cNvPr>
              <p:cNvSpPr txBox="1"/>
              <p:nvPr/>
            </p:nvSpPr>
            <p:spPr>
              <a:xfrm>
                <a:off x="5945959" y="3269676"/>
                <a:ext cx="300082" cy="369332"/>
              </a:xfrm>
              <a:prstGeom prst="rect">
                <a:avLst/>
              </a:prstGeom>
              <a:noFill/>
            </p:spPr>
            <p:txBody>
              <a:bodyPr wrap="none" rtlCol="0">
                <a:spAutoFit/>
              </a:bodyPr>
              <a:lstStyle/>
              <a:p>
                <a:r>
                  <a:rPr lang="en-US" dirty="0">
                    <a:solidFill>
                      <a:srgbClr val="FF0000"/>
                    </a:solidFill>
                  </a:rPr>
                  <a:t>L</a:t>
                </a:r>
              </a:p>
            </p:txBody>
          </p:sp>
          <p:cxnSp>
            <p:nvCxnSpPr>
              <p:cNvPr id="10" name="Straight Arrow Connector 9">
                <a:extLst>
                  <a:ext uri="{FF2B5EF4-FFF2-40B4-BE49-F238E27FC236}">
                    <a16:creationId xmlns:a16="http://schemas.microsoft.com/office/drawing/2014/main" id="{2AA36267-E955-D49D-C6D2-1E2049C27D50}"/>
                  </a:ext>
                </a:extLst>
              </p:cNvPr>
              <p:cNvCxnSpPr/>
              <p:nvPr/>
            </p:nvCxnSpPr>
            <p:spPr>
              <a:xfrm>
                <a:off x="1108364" y="2728424"/>
                <a:ext cx="4525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0F7E50A8-AB1C-2241-BFA2-D8093014F0F6}"/>
                  </a:ext>
                </a:extLst>
              </p:cNvPr>
              <p:cNvCxnSpPr>
                <a:cxnSpLocks/>
              </p:cNvCxnSpPr>
              <p:nvPr/>
            </p:nvCxnSpPr>
            <p:spPr>
              <a:xfrm flipV="1">
                <a:off x="1108364" y="2319715"/>
                <a:ext cx="0" cy="408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8BEA5B4-2033-89C7-A2A3-79C7299BC6DA}"/>
                  </a:ext>
                </a:extLst>
              </p:cNvPr>
              <p:cNvSpPr txBox="1"/>
              <p:nvPr/>
            </p:nvSpPr>
            <p:spPr>
              <a:xfrm>
                <a:off x="1190560" y="2632366"/>
                <a:ext cx="287258" cy="369332"/>
              </a:xfrm>
              <a:prstGeom prst="rect">
                <a:avLst/>
              </a:prstGeom>
              <a:noFill/>
            </p:spPr>
            <p:txBody>
              <a:bodyPr wrap="none" rtlCol="0">
                <a:spAutoFit/>
              </a:bodyPr>
              <a:lstStyle/>
              <a:p>
                <a:r>
                  <a:rPr lang="en-US" dirty="0"/>
                  <a:t>x</a:t>
                </a:r>
              </a:p>
            </p:txBody>
          </p:sp>
          <p:sp>
            <p:nvSpPr>
              <p:cNvPr id="15" name="TextBox 14">
                <a:extLst>
                  <a:ext uri="{FF2B5EF4-FFF2-40B4-BE49-F238E27FC236}">
                    <a16:creationId xmlns:a16="http://schemas.microsoft.com/office/drawing/2014/main" id="{1FD8ADF6-CDE7-185A-C4B9-78976FDD50AE}"/>
                  </a:ext>
                </a:extLst>
              </p:cNvPr>
              <p:cNvSpPr txBox="1"/>
              <p:nvPr/>
            </p:nvSpPr>
            <p:spPr>
              <a:xfrm>
                <a:off x="833250" y="2313373"/>
                <a:ext cx="261610" cy="369332"/>
              </a:xfrm>
              <a:prstGeom prst="rect">
                <a:avLst/>
              </a:prstGeom>
              <a:noFill/>
            </p:spPr>
            <p:txBody>
              <a:bodyPr wrap="none" rtlCol="0">
                <a:spAutoFit/>
              </a:bodyPr>
              <a:lstStyle/>
              <a:p>
                <a:r>
                  <a:rPr lang="en-US" dirty="0"/>
                  <a:t>r</a:t>
                </a:r>
              </a:p>
            </p:txBody>
          </p:sp>
          <p:cxnSp>
            <p:nvCxnSpPr>
              <p:cNvPr id="17" name="Straight Connector 16">
                <a:extLst>
                  <a:ext uri="{FF2B5EF4-FFF2-40B4-BE49-F238E27FC236}">
                    <a16:creationId xmlns:a16="http://schemas.microsoft.com/office/drawing/2014/main" id="{D83B0FF0-8A0D-0E57-09F2-0EFD5983A9F1}"/>
                  </a:ext>
                </a:extLst>
              </p:cNvPr>
              <p:cNvCxnSpPr>
                <a:cxnSpLocks/>
                <a:stCxn id="5" idx="1"/>
                <a:endCxn id="5" idx="3"/>
              </p:cNvCxnSpPr>
              <p:nvPr/>
            </p:nvCxnSpPr>
            <p:spPr>
              <a:xfrm>
                <a:off x="1789361" y="2731195"/>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9726C03-7073-A7E4-CF02-BA283711A2AE}"/>
                  </a:ext>
                </a:extLst>
              </p:cNvPr>
              <p:cNvCxnSpPr>
                <a:cxnSpLocks/>
              </p:cNvCxnSpPr>
              <p:nvPr/>
            </p:nvCxnSpPr>
            <p:spPr>
              <a:xfrm flipV="1">
                <a:off x="2332182" y="2312156"/>
                <a:ext cx="0" cy="4347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B4B834BE-008D-F951-9DC4-8390B19109C2}"/>
                  </a:ext>
                </a:extLst>
              </p:cNvPr>
              <p:cNvSpPr txBox="1"/>
              <p:nvPr/>
            </p:nvSpPr>
            <p:spPr>
              <a:xfrm>
                <a:off x="2024084" y="2335416"/>
                <a:ext cx="308098" cy="369332"/>
              </a:xfrm>
              <a:prstGeom prst="rect">
                <a:avLst/>
              </a:prstGeom>
              <a:noFill/>
            </p:spPr>
            <p:txBody>
              <a:bodyPr wrap="none" rtlCol="0">
                <a:spAutoFit/>
              </a:bodyPr>
              <a:lstStyle/>
              <a:p>
                <a:r>
                  <a:rPr lang="en-US" dirty="0">
                    <a:solidFill>
                      <a:srgbClr val="FF0000"/>
                    </a:solidFill>
                  </a:rPr>
                  <a:t>a</a:t>
                </a:r>
              </a:p>
            </p:txBody>
          </p:sp>
          <p:sp>
            <p:nvSpPr>
              <p:cNvPr id="22" name="Arc 21">
                <a:extLst>
                  <a:ext uri="{FF2B5EF4-FFF2-40B4-BE49-F238E27FC236}">
                    <a16:creationId xmlns:a16="http://schemas.microsoft.com/office/drawing/2014/main" id="{E872B2F4-C60F-0855-8FC6-6BA1CE59891A}"/>
                  </a:ext>
                </a:extLst>
              </p:cNvPr>
              <p:cNvSpPr/>
              <p:nvPr/>
            </p:nvSpPr>
            <p:spPr>
              <a:xfrm>
                <a:off x="3288145" y="2321392"/>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73551DDF-313C-20B7-25CE-BF60BDD8E1B9}"/>
                  </a:ext>
                </a:extLst>
              </p:cNvPr>
              <p:cNvSpPr/>
              <p:nvPr/>
            </p:nvSpPr>
            <p:spPr>
              <a:xfrm flipV="1">
                <a:off x="3288144" y="2312157"/>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D6DDCAB3-9453-18C1-FD54-0699CF433746}"/>
                  </a:ext>
                </a:extLst>
              </p:cNvPr>
              <p:cNvCxnSpPr>
                <a:stCxn id="22" idx="0"/>
              </p:cNvCxnSpPr>
              <p:nvPr/>
            </p:nvCxnSpPr>
            <p:spPr>
              <a:xfrm>
                <a:off x="4447307" y="2321392"/>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6772B19-9FD5-778D-8FEF-2E9CF0F5385D}"/>
                  </a:ext>
                </a:extLst>
              </p:cNvPr>
              <p:cNvCxnSpPr/>
              <p:nvPr/>
            </p:nvCxnSpPr>
            <p:spPr>
              <a:xfrm>
                <a:off x="4447307" y="2456875"/>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7FBC2CF-661D-4454-D9EF-ADE8D92DC8A1}"/>
                  </a:ext>
                </a:extLst>
              </p:cNvPr>
              <p:cNvCxnSpPr/>
              <p:nvPr/>
            </p:nvCxnSpPr>
            <p:spPr>
              <a:xfrm>
                <a:off x="4447307" y="3001698"/>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B41C1D3-5A91-9D58-2B3E-AB4E73575B17}"/>
                  </a:ext>
                </a:extLst>
              </p:cNvPr>
              <p:cNvCxnSpPr>
                <a:cxnSpLocks/>
              </p:cNvCxnSpPr>
              <p:nvPr/>
            </p:nvCxnSpPr>
            <p:spPr>
              <a:xfrm>
                <a:off x="4461164" y="2877007"/>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14BE05B-A2F7-4A17-827B-B0C87442688E}"/>
                  </a:ext>
                </a:extLst>
              </p:cNvPr>
              <p:cNvCxnSpPr>
                <a:cxnSpLocks/>
              </p:cNvCxnSpPr>
              <p:nvPr/>
            </p:nvCxnSpPr>
            <p:spPr>
              <a:xfrm>
                <a:off x="4447307" y="2586063"/>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BC4881C-660A-8402-D8A2-B1B9E3F1EAC5}"/>
                  </a:ext>
                </a:extLst>
              </p:cNvPr>
              <p:cNvCxnSpPr>
                <a:cxnSpLocks/>
              </p:cNvCxnSpPr>
              <p:nvPr/>
            </p:nvCxnSpPr>
            <p:spPr>
              <a:xfrm>
                <a:off x="4447307" y="2732034"/>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grpSp>
        <p:sp>
          <p:nvSpPr>
            <p:cNvPr id="3" name="TextBox 2">
              <a:extLst>
                <a:ext uri="{FF2B5EF4-FFF2-40B4-BE49-F238E27FC236}">
                  <a16:creationId xmlns:a16="http://schemas.microsoft.com/office/drawing/2014/main" id="{C25B7D0A-B6DD-69FF-D1B2-80E66A66805B}"/>
                </a:ext>
              </a:extLst>
            </p:cNvPr>
            <p:cNvSpPr txBox="1"/>
            <p:nvPr/>
          </p:nvSpPr>
          <p:spPr>
            <a:xfrm>
              <a:off x="5586153" y="2564016"/>
              <a:ext cx="423514" cy="369332"/>
            </a:xfrm>
            <a:prstGeom prst="rect">
              <a:avLst/>
            </a:prstGeom>
            <a:noFill/>
          </p:spPr>
          <p:txBody>
            <a:bodyPr wrap="none" rtlCol="0">
              <a:spAutoFit/>
            </a:bodyPr>
            <a:lstStyle/>
            <a:p>
              <a:r>
                <a:rPr lang="en-US" dirty="0">
                  <a:solidFill>
                    <a:srgbClr val="0000CC"/>
                  </a:solidFill>
                </a:rPr>
                <a:t>U</a:t>
              </a:r>
              <a:r>
                <a:rPr lang="en-US" baseline="-25000" dirty="0">
                  <a:solidFill>
                    <a:srgbClr val="0000CC"/>
                  </a:solidFill>
                </a:rPr>
                <a:t>0</a:t>
              </a:r>
            </a:p>
          </p:txBody>
        </p:sp>
      </p:grpSp>
      <p:cxnSp>
        <p:nvCxnSpPr>
          <p:cNvPr id="13" name="Straight Connector 12">
            <a:extLst>
              <a:ext uri="{FF2B5EF4-FFF2-40B4-BE49-F238E27FC236}">
                <a16:creationId xmlns:a16="http://schemas.microsoft.com/office/drawing/2014/main" id="{1E4E1C29-9065-7F2D-8E3C-C0229E10777A}"/>
              </a:ext>
            </a:extLst>
          </p:cNvPr>
          <p:cNvCxnSpPr>
            <a:cxnSpLocks/>
          </p:cNvCxnSpPr>
          <p:nvPr/>
        </p:nvCxnSpPr>
        <p:spPr>
          <a:xfrm>
            <a:off x="6817969" y="1657822"/>
            <a:ext cx="0" cy="821283"/>
          </a:xfrm>
          <a:prstGeom prst="line">
            <a:avLst/>
          </a:prstGeom>
          <a:ln w="63500">
            <a:solidFill>
              <a:srgbClr val="FF0000"/>
            </a:solidFill>
          </a:ln>
        </p:spPr>
        <p:style>
          <a:lnRef idx="2">
            <a:schemeClr val="accent1"/>
          </a:lnRef>
          <a:fillRef idx="0">
            <a:schemeClr val="accent1"/>
          </a:fillRef>
          <a:effectRef idx="1">
            <a:schemeClr val="accent1"/>
          </a:effectRef>
          <a:fontRef idx="minor">
            <a:schemeClr val="tx1"/>
          </a:fontRef>
        </p:style>
      </p:cxnSp>
      <p:sp>
        <p:nvSpPr>
          <p:cNvPr id="9" name="Slide Number Placeholder 8">
            <a:extLst>
              <a:ext uri="{FF2B5EF4-FFF2-40B4-BE49-F238E27FC236}">
                <a16:creationId xmlns:a16="http://schemas.microsoft.com/office/drawing/2014/main" id="{71854DCF-EC48-B0B4-E51C-A5D072AD14C4}"/>
              </a:ext>
            </a:extLst>
          </p:cNvPr>
          <p:cNvSpPr>
            <a:spLocks noGrp="1"/>
          </p:cNvSpPr>
          <p:nvPr>
            <p:ph type="sldNum" sz="quarter" idx="12"/>
          </p:nvPr>
        </p:nvSpPr>
        <p:spPr/>
        <p:txBody>
          <a:bodyPr/>
          <a:lstStyle/>
          <a:p>
            <a:fld id="{34765577-9A70-4B44-A463-20938F747DD0}" type="slidenum">
              <a:rPr lang="en-US" smtClean="0"/>
              <a:t>21</a:t>
            </a:fld>
            <a:endParaRPr lang="en-US"/>
          </a:p>
        </p:txBody>
      </p:sp>
      <p:sp>
        <p:nvSpPr>
          <p:cNvPr id="12" name="Freeform: Shape 11">
            <a:extLst>
              <a:ext uri="{FF2B5EF4-FFF2-40B4-BE49-F238E27FC236}">
                <a16:creationId xmlns:a16="http://schemas.microsoft.com/office/drawing/2014/main" id="{512D9453-4962-0570-5EE1-040723370D0D}"/>
              </a:ext>
            </a:extLst>
          </p:cNvPr>
          <p:cNvSpPr/>
          <p:nvPr/>
        </p:nvSpPr>
        <p:spPr>
          <a:xfrm>
            <a:off x="6817968" y="1652364"/>
            <a:ext cx="394935" cy="822960"/>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8A18FAC-C3B7-0D8D-5875-2AEC6AD20B99}"/>
              </a:ext>
            </a:extLst>
          </p:cNvPr>
          <p:cNvSpPr/>
          <p:nvPr/>
        </p:nvSpPr>
        <p:spPr>
          <a:xfrm>
            <a:off x="6850587" y="1654622"/>
            <a:ext cx="623786" cy="822960"/>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EDF99D5B-55B4-DA89-184A-D06217041CAA}"/>
              </a:ext>
            </a:extLst>
          </p:cNvPr>
          <p:cNvSpPr/>
          <p:nvPr/>
        </p:nvSpPr>
        <p:spPr>
          <a:xfrm>
            <a:off x="6847662" y="1658946"/>
            <a:ext cx="1058563" cy="822960"/>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73901679-4D34-FBD7-317B-1D2E33375013}"/>
              </a:ext>
            </a:extLst>
          </p:cNvPr>
          <p:cNvSpPr/>
          <p:nvPr/>
        </p:nvSpPr>
        <p:spPr>
          <a:xfrm>
            <a:off x="6865207" y="1665382"/>
            <a:ext cx="1576337" cy="822960"/>
          </a:xfrm>
          <a:custGeom>
            <a:avLst/>
            <a:gdLst>
              <a:gd name="csX0" fmla="*/ 0 w 1155839"/>
              <a:gd name="csY0" fmla="*/ 0 h 818984"/>
              <a:gd name="csX1" fmla="*/ 829586 w 1155839"/>
              <a:gd name="csY1" fmla="*/ 121920 h 818984"/>
              <a:gd name="csX2" fmla="*/ 1078727 w 1155839"/>
              <a:gd name="csY2" fmla="*/ 259742 h 818984"/>
              <a:gd name="csX3" fmla="*/ 1155590 w 1155839"/>
              <a:gd name="csY3" fmla="*/ 405516 h 818984"/>
              <a:gd name="csX4" fmla="*/ 1060174 w 1155839"/>
              <a:gd name="csY4" fmla="*/ 556591 h 818984"/>
              <a:gd name="csX5" fmla="*/ 818984 w 1155839"/>
              <a:gd name="csY5" fmla="*/ 686462 h 818984"/>
              <a:gd name="csX6" fmla="*/ 13252 w 1155839"/>
              <a:gd name="csY6" fmla="*/ 818984 h 81898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5839" h="818984">
                <a:moveTo>
                  <a:pt x="0" y="0"/>
                </a:moveTo>
                <a:cubicBezTo>
                  <a:pt x="324899" y="39315"/>
                  <a:pt x="649798" y="78630"/>
                  <a:pt x="829586" y="121920"/>
                </a:cubicBezTo>
                <a:cubicBezTo>
                  <a:pt x="1009374" y="165210"/>
                  <a:pt x="1024393" y="212476"/>
                  <a:pt x="1078727" y="259742"/>
                </a:cubicBezTo>
                <a:cubicBezTo>
                  <a:pt x="1133061" y="307008"/>
                  <a:pt x="1158682" y="356041"/>
                  <a:pt x="1155590" y="405516"/>
                </a:cubicBezTo>
                <a:cubicBezTo>
                  <a:pt x="1152498" y="454991"/>
                  <a:pt x="1116275" y="509767"/>
                  <a:pt x="1060174" y="556591"/>
                </a:cubicBezTo>
                <a:cubicBezTo>
                  <a:pt x="1004073" y="603415"/>
                  <a:pt x="993471" y="642730"/>
                  <a:pt x="818984" y="686462"/>
                </a:cubicBezTo>
                <a:cubicBezTo>
                  <a:pt x="644497" y="730194"/>
                  <a:pt x="328874" y="774589"/>
                  <a:pt x="13252" y="818984"/>
                </a:cubicBezTo>
              </a:path>
            </a:pathLst>
          </a:cu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7C5B5200-6ED7-1215-2A30-9A9BFB614249}"/>
              </a:ext>
            </a:extLst>
          </p:cNvPr>
          <p:cNvPicPr>
            <a:picLocks noChangeAspect="1"/>
          </p:cNvPicPr>
          <p:nvPr/>
        </p:nvPicPr>
        <p:blipFill>
          <a:blip r:embed="rId4"/>
          <a:stretch>
            <a:fillRect/>
          </a:stretch>
        </p:blipFill>
        <p:spPr>
          <a:xfrm>
            <a:off x="0" y="2519768"/>
            <a:ext cx="1389713" cy="1820409"/>
          </a:xfrm>
          <a:prstGeom prst="rect">
            <a:avLst/>
          </a:prstGeom>
        </p:spPr>
      </p:pic>
      <p:sp>
        <p:nvSpPr>
          <p:cNvPr id="34" name="TextBox 33">
            <a:extLst>
              <a:ext uri="{FF2B5EF4-FFF2-40B4-BE49-F238E27FC236}">
                <a16:creationId xmlns:a16="http://schemas.microsoft.com/office/drawing/2014/main" id="{63236879-4D44-E179-8687-4730153BCEC7}"/>
              </a:ext>
            </a:extLst>
          </p:cNvPr>
          <p:cNvSpPr txBox="1"/>
          <p:nvPr/>
        </p:nvSpPr>
        <p:spPr>
          <a:xfrm>
            <a:off x="0" y="4283387"/>
            <a:ext cx="1410964" cy="369332"/>
          </a:xfrm>
          <a:prstGeom prst="rect">
            <a:avLst/>
          </a:prstGeom>
          <a:noFill/>
        </p:spPr>
        <p:txBody>
          <a:bodyPr wrap="none" rtlCol="0">
            <a:spAutoFit/>
          </a:bodyPr>
          <a:lstStyle/>
          <a:p>
            <a:r>
              <a:rPr lang="en-US" dirty="0"/>
              <a:t>Sir G.I Taylor</a:t>
            </a:r>
          </a:p>
        </p:txBody>
      </p:sp>
    </p:spTree>
    <p:extLst>
      <p:ext uri="{BB962C8B-B14F-4D97-AF65-F5344CB8AC3E}">
        <p14:creationId xmlns:p14="http://schemas.microsoft.com/office/powerpoint/2010/main" val="392945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5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9">
                                            <p:txEl>
                                              <p:pRg st="1" end="1"/>
                                            </p:txEl>
                                          </p:spTgt>
                                        </p:tgtEl>
                                        <p:attrNameLst>
                                          <p:attrName>style.visibility</p:attrName>
                                        </p:attrNameLst>
                                      </p:cBhvr>
                                      <p:to>
                                        <p:strVal val="visible"/>
                                      </p:to>
                                    </p:set>
                                    <p:animEffect transition="in" filter="fade">
                                      <p:cBhvr>
                                        <p:cTn id="16" dur="500"/>
                                        <p:tgtEl>
                                          <p:spTgt spid="3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9">
                                            <p:txEl>
                                              <p:pRg st="2" end="2"/>
                                            </p:txEl>
                                          </p:spTgt>
                                        </p:tgtEl>
                                        <p:attrNameLst>
                                          <p:attrName>style.visibility</p:attrName>
                                        </p:attrNameLst>
                                      </p:cBhvr>
                                      <p:to>
                                        <p:strVal val="visible"/>
                                      </p:to>
                                    </p:set>
                                    <p:animEffect transition="in" filter="fade">
                                      <p:cBhvr>
                                        <p:cTn id="21" dur="500"/>
                                        <p:tgtEl>
                                          <p:spTgt spid="3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9">
                                            <p:txEl>
                                              <p:pRg st="3" end="3"/>
                                            </p:txEl>
                                          </p:spTgt>
                                        </p:tgtEl>
                                        <p:attrNameLst>
                                          <p:attrName>style.visibility</p:attrName>
                                        </p:attrNameLst>
                                      </p:cBhvr>
                                      <p:to>
                                        <p:strVal val="visible"/>
                                      </p:to>
                                    </p:set>
                                    <p:animEffect transition="in" filter="fade">
                                      <p:cBhvr>
                                        <p:cTn id="26" dur="500"/>
                                        <p:tgtEl>
                                          <p:spTgt spid="39">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xEl>
                                              <p:pRg st="4" end="4"/>
                                            </p:txEl>
                                          </p:spTgt>
                                        </p:tgtEl>
                                        <p:attrNameLst>
                                          <p:attrName>style.visibility</p:attrName>
                                        </p:attrNameLst>
                                      </p:cBhvr>
                                      <p:to>
                                        <p:strVal val="visible"/>
                                      </p:to>
                                    </p:set>
                                    <p:animEffect transition="in" filter="fade">
                                      <p:cBhvr>
                                        <p:cTn id="31" dur="500"/>
                                        <p:tgtEl>
                                          <p:spTgt spid="3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9">
                                            <p:txEl>
                                              <p:pRg st="5" end="5"/>
                                            </p:txEl>
                                          </p:spTgt>
                                        </p:tgtEl>
                                        <p:attrNameLst>
                                          <p:attrName>style.visibility</p:attrName>
                                        </p:attrNameLst>
                                      </p:cBhvr>
                                      <p:to>
                                        <p:strVal val="visible"/>
                                      </p:to>
                                    </p:set>
                                    <p:animEffect transition="in" filter="fade">
                                      <p:cBhvr>
                                        <p:cTn id="36" dur="500"/>
                                        <p:tgtEl>
                                          <p:spTgt spid="39">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0-#ppt_w/2"/>
                                          </p:val>
                                        </p:tav>
                                        <p:tav tm="100000">
                                          <p:val>
                                            <p:strVal val="#ppt_x"/>
                                          </p:val>
                                        </p:tav>
                                      </p:tavLst>
                                    </p:anim>
                                    <p:anim calcmode="lin" valueType="num">
                                      <p:cBhvr additive="base">
                                        <p:cTn id="4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0-#ppt_w/2"/>
                                          </p:val>
                                        </p:tav>
                                        <p:tav tm="100000">
                                          <p:val>
                                            <p:strVal val="#ppt_x"/>
                                          </p:val>
                                        </p:tav>
                                      </p:tavLst>
                                    </p:anim>
                                    <p:anim calcmode="lin" valueType="num">
                                      <p:cBhvr additive="base">
                                        <p:cTn id="4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anim calcmode="lin" valueType="num">
                                      <p:cBhvr additive="base">
                                        <p:cTn id="53" dur="500" fill="hold"/>
                                        <p:tgtEl>
                                          <p:spTgt spid="24"/>
                                        </p:tgtEl>
                                        <p:attrNameLst>
                                          <p:attrName>ppt_x</p:attrName>
                                        </p:attrNameLst>
                                      </p:cBhvr>
                                      <p:tavLst>
                                        <p:tav tm="0">
                                          <p:val>
                                            <p:strVal val="0-#ppt_w/2"/>
                                          </p:val>
                                        </p:tav>
                                        <p:tav tm="100000">
                                          <p:val>
                                            <p:strVal val="#ppt_x"/>
                                          </p:val>
                                        </p:tav>
                                      </p:tavLst>
                                    </p:anim>
                                    <p:anim calcmode="lin" valueType="num">
                                      <p:cBhvr additive="base">
                                        <p:cTn id="5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0-#ppt_w/2"/>
                                          </p:val>
                                        </p:tav>
                                        <p:tav tm="100000">
                                          <p:val>
                                            <p:strVal val="#ppt_x"/>
                                          </p:val>
                                        </p:tav>
                                      </p:tavLst>
                                    </p:anim>
                                    <p:anim calcmode="lin" valueType="num">
                                      <p:cBhvr additive="base">
                                        <p:cTn id="60"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24" grpId="0" animBg="1"/>
      <p:bldP spid="2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2E02E-83A0-6F14-7C20-08A15F888731}"/>
              </a:ext>
            </a:extLst>
          </p:cNvPr>
          <p:cNvSpPr>
            <a:spLocks noGrp="1"/>
          </p:cNvSpPr>
          <p:nvPr>
            <p:ph type="title"/>
          </p:nvPr>
        </p:nvSpPr>
        <p:spPr>
          <a:xfrm>
            <a:off x="838200" y="1865"/>
            <a:ext cx="10515600" cy="1325563"/>
          </a:xfrm>
        </p:spPr>
        <p:txBody>
          <a:bodyPr/>
          <a:lstStyle/>
          <a:p>
            <a:pPr algn="ctr"/>
            <a:r>
              <a:rPr lang="en-US" dirty="0">
                <a:solidFill>
                  <a:srgbClr val="0000CC"/>
                </a:solidFill>
              </a:rPr>
              <a:t>Hypothetical Tracer Test (No Diffusion)</a:t>
            </a:r>
            <a:br>
              <a:rPr lang="en-US" dirty="0">
                <a:solidFill>
                  <a:srgbClr val="0000CC"/>
                </a:solidFill>
              </a:rPr>
            </a:br>
            <a:r>
              <a:rPr lang="en-US" dirty="0">
                <a:solidFill>
                  <a:srgbClr val="0000CC"/>
                </a:solidFill>
              </a:rPr>
              <a:t>Step Change in Inlet Concentration at t=0</a:t>
            </a:r>
          </a:p>
        </p:txBody>
      </p:sp>
      <p:sp>
        <p:nvSpPr>
          <p:cNvPr id="3" name="Rectangle 2">
            <a:extLst>
              <a:ext uri="{FF2B5EF4-FFF2-40B4-BE49-F238E27FC236}">
                <a16:creationId xmlns:a16="http://schemas.microsoft.com/office/drawing/2014/main" id="{182772B9-858F-3374-9387-A2B3CCF180C7}"/>
              </a:ext>
            </a:extLst>
          </p:cNvPr>
          <p:cNvSpPr/>
          <p:nvPr/>
        </p:nvSpPr>
        <p:spPr>
          <a:xfrm>
            <a:off x="1789361" y="2070333"/>
            <a:ext cx="8924821" cy="8229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0E05311C-6B41-480B-10FA-FDEEF59B9255}"/>
              </a:ext>
            </a:extLst>
          </p:cNvPr>
          <p:cNvCxnSpPr/>
          <p:nvPr/>
        </p:nvCxnSpPr>
        <p:spPr>
          <a:xfrm>
            <a:off x="1789361" y="3020294"/>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F9D0261-F778-964D-A583-93BDB194EDF5}"/>
              </a:ext>
            </a:extLst>
          </p:cNvPr>
          <p:cNvSpPr txBox="1"/>
          <p:nvPr/>
        </p:nvSpPr>
        <p:spPr>
          <a:xfrm>
            <a:off x="5945959" y="3020294"/>
            <a:ext cx="300082" cy="369332"/>
          </a:xfrm>
          <a:prstGeom prst="rect">
            <a:avLst/>
          </a:prstGeom>
          <a:noFill/>
        </p:spPr>
        <p:txBody>
          <a:bodyPr wrap="none" rtlCol="0">
            <a:spAutoFit/>
          </a:bodyPr>
          <a:lstStyle/>
          <a:p>
            <a:r>
              <a:rPr lang="en-US" dirty="0">
                <a:solidFill>
                  <a:srgbClr val="FF0000"/>
                </a:solidFill>
              </a:rPr>
              <a:t>L</a:t>
            </a:r>
          </a:p>
        </p:txBody>
      </p:sp>
      <p:grpSp>
        <p:nvGrpSpPr>
          <p:cNvPr id="33" name="Group 32">
            <a:extLst>
              <a:ext uri="{FF2B5EF4-FFF2-40B4-BE49-F238E27FC236}">
                <a16:creationId xmlns:a16="http://schemas.microsoft.com/office/drawing/2014/main" id="{DC3AACAB-CFB3-66D7-2BF6-997B0527F291}"/>
              </a:ext>
            </a:extLst>
          </p:cNvPr>
          <p:cNvGrpSpPr/>
          <p:nvPr/>
        </p:nvGrpSpPr>
        <p:grpSpPr>
          <a:xfrm>
            <a:off x="0" y="3045463"/>
            <a:ext cx="727696" cy="688325"/>
            <a:chOff x="702595" y="1909850"/>
            <a:chExt cx="727696" cy="688325"/>
          </a:xfrm>
        </p:grpSpPr>
        <p:cxnSp>
          <p:nvCxnSpPr>
            <p:cNvPr id="6" name="Straight Arrow Connector 5">
              <a:extLst>
                <a:ext uri="{FF2B5EF4-FFF2-40B4-BE49-F238E27FC236}">
                  <a16:creationId xmlns:a16="http://schemas.microsoft.com/office/drawing/2014/main" id="{44DF412E-42B9-A199-9AB7-04CD373C2B8B}"/>
                </a:ext>
              </a:extLst>
            </p:cNvPr>
            <p:cNvCxnSpPr/>
            <p:nvPr/>
          </p:nvCxnSpPr>
          <p:spPr>
            <a:xfrm>
              <a:off x="977709" y="2324901"/>
              <a:ext cx="4525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C7656E5-7630-FF66-9200-2EEA1F9CDDF7}"/>
                </a:ext>
              </a:extLst>
            </p:cNvPr>
            <p:cNvCxnSpPr>
              <a:cxnSpLocks/>
            </p:cNvCxnSpPr>
            <p:nvPr/>
          </p:nvCxnSpPr>
          <p:spPr>
            <a:xfrm flipV="1">
              <a:off x="977709" y="1916192"/>
              <a:ext cx="0" cy="408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61C5C53-CAC7-F62A-D5EA-C967E7EBD32C}"/>
                </a:ext>
              </a:extLst>
            </p:cNvPr>
            <p:cNvSpPr txBox="1"/>
            <p:nvPr/>
          </p:nvSpPr>
          <p:spPr>
            <a:xfrm>
              <a:off x="1059905" y="2228843"/>
              <a:ext cx="287258" cy="369332"/>
            </a:xfrm>
            <a:prstGeom prst="rect">
              <a:avLst/>
            </a:prstGeom>
            <a:noFill/>
          </p:spPr>
          <p:txBody>
            <a:bodyPr wrap="none" rtlCol="0">
              <a:spAutoFit/>
            </a:bodyPr>
            <a:lstStyle/>
            <a:p>
              <a:r>
                <a:rPr lang="en-US" dirty="0"/>
                <a:t>x</a:t>
              </a:r>
            </a:p>
          </p:txBody>
        </p:sp>
        <p:sp>
          <p:nvSpPr>
            <p:cNvPr id="9" name="TextBox 8">
              <a:extLst>
                <a:ext uri="{FF2B5EF4-FFF2-40B4-BE49-F238E27FC236}">
                  <a16:creationId xmlns:a16="http://schemas.microsoft.com/office/drawing/2014/main" id="{6B14697C-98DE-47EB-A988-4567DE9B6BF9}"/>
                </a:ext>
              </a:extLst>
            </p:cNvPr>
            <p:cNvSpPr txBox="1"/>
            <p:nvPr/>
          </p:nvSpPr>
          <p:spPr>
            <a:xfrm>
              <a:off x="702595" y="1909850"/>
              <a:ext cx="261610" cy="369332"/>
            </a:xfrm>
            <a:prstGeom prst="rect">
              <a:avLst/>
            </a:prstGeom>
            <a:noFill/>
          </p:spPr>
          <p:txBody>
            <a:bodyPr wrap="none" rtlCol="0">
              <a:spAutoFit/>
            </a:bodyPr>
            <a:lstStyle/>
            <a:p>
              <a:r>
                <a:rPr lang="en-US" dirty="0"/>
                <a:t>r</a:t>
              </a:r>
            </a:p>
          </p:txBody>
        </p:sp>
      </p:grpSp>
      <p:cxnSp>
        <p:nvCxnSpPr>
          <p:cNvPr id="10" name="Straight Connector 9">
            <a:extLst>
              <a:ext uri="{FF2B5EF4-FFF2-40B4-BE49-F238E27FC236}">
                <a16:creationId xmlns:a16="http://schemas.microsoft.com/office/drawing/2014/main" id="{691D795E-FAF8-E775-4E69-8422DA919C16}"/>
              </a:ext>
            </a:extLst>
          </p:cNvPr>
          <p:cNvCxnSpPr>
            <a:cxnSpLocks/>
            <a:stCxn id="3" idx="1"/>
            <a:endCxn id="3" idx="3"/>
          </p:cNvCxnSpPr>
          <p:nvPr/>
        </p:nvCxnSpPr>
        <p:spPr>
          <a:xfrm>
            <a:off x="1789361" y="2481813"/>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16B81E2C-37AB-98A4-E45A-8BCB154161A8}"/>
              </a:ext>
            </a:extLst>
          </p:cNvPr>
          <p:cNvCxnSpPr/>
          <p:nvPr/>
        </p:nvCxnSpPr>
        <p:spPr>
          <a:xfrm>
            <a:off x="1789361" y="3004127"/>
            <a:ext cx="0" cy="496333"/>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E5626562-05F6-F503-315F-6F214512DEE0}"/>
              </a:ext>
            </a:extLst>
          </p:cNvPr>
          <p:cNvSpPr txBox="1"/>
          <p:nvPr/>
        </p:nvSpPr>
        <p:spPr>
          <a:xfrm>
            <a:off x="1522300" y="3426628"/>
            <a:ext cx="534121" cy="369332"/>
          </a:xfrm>
          <a:prstGeom prst="rect">
            <a:avLst/>
          </a:prstGeom>
          <a:noFill/>
        </p:spPr>
        <p:txBody>
          <a:bodyPr wrap="none" rtlCol="0">
            <a:spAutoFit/>
          </a:bodyPr>
          <a:lstStyle/>
          <a:p>
            <a:r>
              <a:rPr lang="en-US" dirty="0">
                <a:solidFill>
                  <a:srgbClr val="0000CC"/>
                </a:solidFill>
              </a:rPr>
              <a:t>x=0</a:t>
            </a:r>
          </a:p>
        </p:txBody>
      </p:sp>
      <p:sp>
        <p:nvSpPr>
          <p:cNvPr id="24" name="Rectangle 23">
            <a:extLst>
              <a:ext uri="{FF2B5EF4-FFF2-40B4-BE49-F238E27FC236}">
                <a16:creationId xmlns:a16="http://schemas.microsoft.com/office/drawing/2014/main" id="{2127269B-A46D-2D39-573E-DBA6F3B8CFD8}"/>
              </a:ext>
            </a:extLst>
          </p:cNvPr>
          <p:cNvSpPr/>
          <p:nvPr/>
        </p:nvSpPr>
        <p:spPr>
          <a:xfrm>
            <a:off x="1" y="2070333"/>
            <a:ext cx="1789360" cy="82296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r>
              <a:rPr lang="en-US" baseline="-25000" dirty="0"/>
              <a:t>0</a:t>
            </a:r>
          </a:p>
        </p:txBody>
      </p:sp>
      <p:sp>
        <p:nvSpPr>
          <p:cNvPr id="25" name="Arc 24">
            <a:extLst>
              <a:ext uri="{FF2B5EF4-FFF2-40B4-BE49-F238E27FC236}">
                <a16:creationId xmlns:a16="http://schemas.microsoft.com/office/drawing/2014/main" id="{C409979B-03B3-6BF7-EDDF-E3AA2FFB4EB6}"/>
              </a:ext>
            </a:extLst>
          </p:cNvPr>
          <p:cNvSpPr/>
          <p:nvPr/>
        </p:nvSpPr>
        <p:spPr>
          <a:xfrm>
            <a:off x="3288145" y="2072010"/>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5E3E640D-DA5A-756D-F97E-70DABBE56AC6}"/>
              </a:ext>
            </a:extLst>
          </p:cNvPr>
          <p:cNvSpPr/>
          <p:nvPr/>
        </p:nvSpPr>
        <p:spPr>
          <a:xfrm flipV="1">
            <a:off x="3288144" y="2062775"/>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73C81070-2BDD-5CE7-B7B7-F079EAAB5B9A}"/>
              </a:ext>
            </a:extLst>
          </p:cNvPr>
          <p:cNvCxnSpPr>
            <a:stCxn id="25" idx="0"/>
          </p:cNvCxnSpPr>
          <p:nvPr/>
        </p:nvCxnSpPr>
        <p:spPr>
          <a:xfrm>
            <a:off x="4447307" y="2072010"/>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93D2D86F-AB91-DC97-3E39-1EA2DA4FC243}"/>
              </a:ext>
            </a:extLst>
          </p:cNvPr>
          <p:cNvCxnSpPr/>
          <p:nvPr/>
        </p:nvCxnSpPr>
        <p:spPr>
          <a:xfrm>
            <a:off x="4447307" y="2207493"/>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44F796AD-9446-E063-8E24-959F93654D1B}"/>
              </a:ext>
            </a:extLst>
          </p:cNvPr>
          <p:cNvCxnSpPr/>
          <p:nvPr/>
        </p:nvCxnSpPr>
        <p:spPr>
          <a:xfrm>
            <a:off x="4447307" y="2752316"/>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F441848-65E4-ED60-6722-74A250FB6005}"/>
              </a:ext>
            </a:extLst>
          </p:cNvPr>
          <p:cNvCxnSpPr>
            <a:cxnSpLocks/>
          </p:cNvCxnSpPr>
          <p:nvPr/>
        </p:nvCxnSpPr>
        <p:spPr>
          <a:xfrm>
            <a:off x="4461164" y="2627625"/>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6A13744-5404-19A1-BE89-BDB50C186FCD}"/>
              </a:ext>
            </a:extLst>
          </p:cNvPr>
          <p:cNvCxnSpPr>
            <a:cxnSpLocks/>
          </p:cNvCxnSpPr>
          <p:nvPr/>
        </p:nvCxnSpPr>
        <p:spPr>
          <a:xfrm>
            <a:off x="4447307" y="2336681"/>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6AFF8ECE-066C-A140-C882-00C3C9214DBA}"/>
              </a:ext>
            </a:extLst>
          </p:cNvPr>
          <p:cNvCxnSpPr>
            <a:cxnSpLocks/>
          </p:cNvCxnSpPr>
          <p:nvPr/>
        </p:nvCxnSpPr>
        <p:spPr>
          <a:xfrm>
            <a:off x="4447307" y="2482652"/>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C7C85DFA-BA70-0142-51D2-CDF81B55436C}"/>
              </a:ext>
            </a:extLst>
          </p:cNvPr>
          <p:cNvSpPr txBox="1"/>
          <p:nvPr/>
        </p:nvSpPr>
        <p:spPr>
          <a:xfrm>
            <a:off x="10862528" y="2288750"/>
            <a:ext cx="506870" cy="369332"/>
          </a:xfrm>
          <a:prstGeom prst="rect">
            <a:avLst/>
          </a:prstGeom>
          <a:noFill/>
        </p:spPr>
        <p:txBody>
          <a:bodyPr wrap="none" rtlCol="0">
            <a:spAutoFit/>
          </a:bodyPr>
          <a:lstStyle/>
          <a:p>
            <a:r>
              <a:rPr lang="en-US" dirty="0"/>
              <a:t>t=0</a:t>
            </a:r>
          </a:p>
        </p:txBody>
      </p:sp>
      <p:grpSp>
        <p:nvGrpSpPr>
          <p:cNvPr id="11" name="Group 10">
            <a:extLst>
              <a:ext uri="{FF2B5EF4-FFF2-40B4-BE49-F238E27FC236}">
                <a16:creationId xmlns:a16="http://schemas.microsoft.com/office/drawing/2014/main" id="{5B9AC538-977A-C3B9-3DE2-9F3C2B69416A}"/>
              </a:ext>
            </a:extLst>
          </p:cNvPr>
          <p:cNvGrpSpPr/>
          <p:nvPr/>
        </p:nvGrpSpPr>
        <p:grpSpPr>
          <a:xfrm>
            <a:off x="1" y="3982016"/>
            <a:ext cx="11369397" cy="957519"/>
            <a:chOff x="1" y="3982016"/>
            <a:chExt cx="11369397" cy="957519"/>
          </a:xfrm>
        </p:grpSpPr>
        <p:sp>
          <p:nvSpPr>
            <p:cNvPr id="35" name="Rectangle 34">
              <a:extLst>
                <a:ext uri="{FF2B5EF4-FFF2-40B4-BE49-F238E27FC236}">
                  <a16:creationId xmlns:a16="http://schemas.microsoft.com/office/drawing/2014/main" id="{1942A204-33A3-149D-0DD6-50C56A17EEAE}"/>
                </a:ext>
              </a:extLst>
            </p:cNvPr>
            <p:cNvSpPr/>
            <p:nvPr/>
          </p:nvSpPr>
          <p:spPr>
            <a:xfrm>
              <a:off x="1789361" y="3989574"/>
              <a:ext cx="8924821" cy="822960"/>
            </a:xfrm>
            <a:prstGeom prst="rect">
              <a:avLst/>
            </a:prstGeom>
            <a:gradFill>
              <a:gsLst>
                <a:gs pos="0">
                  <a:schemeClr val="accent2">
                    <a:lumMod val="0"/>
                    <a:lumOff val="100000"/>
                  </a:schemeClr>
                </a:gs>
                <a:gs pos="56000">
                  <a:schemeClr val="accent2">
                    <a:lumMod val="0"/>
                    <a:lumOff val="100000"/>
                  </a:schemeClr>
                </a:gs>
                <a:gs pos="100000">
                  <a:schemeClr val="accent2">
                    <a:lumMod val="100000"/>
                  </a:schemeClr>
                </a:gs>
              </a:gsLst>
              <a:lin ang="108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9C425DF2-B260-ACA6-2238-3334D94F6E5A}"/>
                </a:ext>
              </a:extLst>
            </p:cNvPr>
            <p:cNvCxnSpPr/>
            <p:nvPr/>
          </p:nvCxnSpPr>
          <p:spPr>
            <a:xfrm>
              <a:off x="1789361" y="4939535"/>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0D77B5D9-784B-B1B6-9710-FD4AEE6C600D}"/>
                </a:ext>
              </a:extLst>
            </p:cNvPr>
            <p:cNvCxnSpPr>
              <a:cxnSpLocks/>
              <a:stCxn id="35" idx="1"/>
              <a:endCxn id="35" idx="3"/>
            </p:cNvCxnSpPr>
            <p:nvPr/>
          </p:nvCxnSpPr>
          <p:spPr>
            <a:xfrm>
              <a:off x="1789361" y="4401054"/>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D8F8DCCA-8EEC-2C15-E4D7-F6477C9FC182}"/>
                </a:ext>
              </a:extLst>
            </p:cNvPr>
            <p:cNvSpPr/>
            <p:nvPr/>
          </p:nvSpPr>
          <p:spPr>
            <a:xfrm>
              <a:off x="1" y="3989574"/>
              <a:ext cx="1789360" cy="82296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r>
                <a:rPr lang="en-US" baseline="-25000" dirty="0"/>
                <a:t>0</a:t>
              </a:r>
            </a:p>
          </p:txBody>
        </p:sp>
        <p:sp>
          <p:nvSpPr>
            <p:cNvPr id="39" name="Arc 38">
              <a:extLst>
                <a:ext uri="{FF2B5EF4-FFF2-40B4-BE49-F238E27FC236}">
                  <a16:creationId xmlns:a16="http://schemas.microsoft.com/office/drawing/2014/main" id="{F263016D-7150-50CD-E1FC-EDEFA494980D}"/>
                </a:ext>
              </a:extLst>
            </p:cNvPr>
            <p:cNvSpPr/>
            <p:nvPr/>
          </p:nvSpPr>
          <p:spPr>
            <a:xfrm>
              <a:off x="3288145" y="3991251"/>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Arc 39">
              <a:extLst>
                <a:ext uri="{FF2B5EF4-FFF2-40B4-BE49-F238E27FC236}">
                  <a16:creationId xmlns:a16="http://schemas.microsoft.com/office/drawing/2014/main" id="{979F366E-7E6F-A778-886C-385D077145B4}"/>
                </a:ext>
              </a:extLst>
            </p:cNvPr>
            <p:cNvSpPr/>
            <p:nvPr/>
          </p:nvSpPr>
          <p:spPr>
            <a:xfrm flipV="1">
              <a:off x="3288144" y="3982016"/>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0F9FF9E0-7356-3EF8-D445-FA77F815C86F}"/>
                </a:ext>
              </a:extLst>
            </p:cNvPr>
            <p:cNvCxnSpPr>
              <a:stCxn id="39" idx="0"/>
            </p:cNvCxnSpPr>
            <p:nvPr/>
          </p:nvCxnSpPr>
          <p:spPr>
            <a:xfrm>
              <a:off x="4447307" y="3991251"/>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5C03F1E3-BD78-95B6-BEAC-F193494F21FF}"/>
                </a:ext>
              </a:extLst>
            </p:cNvPr>
            <p:cNvCxnSpPr/>
            <p:nvPr/>
          </p:nvCxnSpPr>
          <p:spPr>
            <a:xfrm>
              <a:off x="4447307" y="4126734"/>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562717D9-AA86-4900-2AF0-C7A3B7BD5EF1}"/>
                </a:ext>
              </a:extLst>
            </p:cNvPr>
            <p:cNvCxnSpPr/>
            <p:nvPr/>
          </p:nvCxnSpPr>
          <p:spPr>
            <a:xfrm>
              <a:off x="4447307" y="4671557"/>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5842DBE2-1D79-4D47-E263-10B9DC362C57}"/>
                </a:ext>
              </a:extLst>
            </p:cNvPr>
            <p:cNvCxnSpPr>
              <a:cxnSpLocks/>
            </p:cNvCxnSpPr>
            <p:nvPr/>
          </p:nvCxnSpPr>
          <p:spPr>
            <a:xfrm>
              <a:off x="4461164" y="4546866"/>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0BC1434F-F584-CF02-2FD7-4B29E7051033}"/>
                </a:ext>
              </a:extLst>
            </p:cNvPr>
            <p:cNvCxnSpPr>
              <a:cxnSpLocks/>
            </p:cNvCxnSpPr>
            <p:nvPr/>
          </p:nvCxnSpPr>
          <p:spPr>
            <a:xfrm>
              <a:off x="4447307" y="4255922"/>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42702C7A-F5D1-0861-2C5F-5F2461EA6692}"/>
                </a:ext>
              </a:extLst>
            </p:cNvPr>
            <p:cNvCxnSpPr>
              <a:cxnSpLocks/>
            </p:cNvCxnSpPr>
            <p:nvPr/>
          </p:nvCxnSpPr>
          <p:spPr>
            <a:xfrm>
              <a:off x="4447307" y="4392657"/>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C7559722-5016-5A3F-086E-2D609319B06A}"/>
                </a:ext>
              </a:extLst>
            </p:cNvPr>
            <p:cNvSpPr txBox="1"/>
            <p:nvPr/>
          </p:nvSpPr>
          <p:spPr>
            <a:xfrm>
              <a:off x="10862528" y="4207991"/>
              <a:ext cx="506870" cy="369332"/>
            </a:xfrm>
            <a:prstGeom prst="rect">
              <a:avLst/>
            </a:prstGeom>
            <a:noFill/>
          </p:spPr>
          <p:txBody>
            <a:bodyPr wrap="none" rtlCol="0">
              <a:spAutoFit/>
            </a:bodyPr>
            <a:lstStyle/>
            <a:p>
              <a:r>
                <a:rPr lang="en-US" dirty="0"/>
                <a:t>t=1</a:t>
              </a:r>
            </a:p>
          </p:txBody>
        </p:sp>
        <p:cxnSp>
          <p:nvCxnSpPr>
            <p:cNvPr id="62" name="Straight Connector 61">
              <a:extLst>
                <a:ext uri="{FF2B5EF4-FFF2-40B4-BE49-F238E27FC236}">
                  <a16:creationId xmlns:a16="http://schemas.microsoft.com/office/drawing/2014/main" id="{08828472-2161-058C-B10D-722613BC2302}"/>
                </a:ext>
              </a:extLst>
            </p:cNvPr>
            <p:cNvCxnSpPr/>
            <p:nvPr/>
          </p:nvCxnSpPr>
          <p:spPr>
            <a:xfrm>
              <a:off x="1789361" y="3989574"/>
              <a:ext cx="3946421" cy="82296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1668B556-D66A-7B02-60CE-5EB4A386721B}"/>
              </a:ext>
            </a:extLst>
          </p:cNvPr>
          <p:cNvGrpSpPr/>
          <p:nvPr/>
        </p:nvGrpSpPr>
        <p:grpSpPr>
          <a:xfrm>
            <a:off x="1" y="5871872"/>
            <a:ext cx="11369397" cy="957519"/>
            <a:chOff x="1" y="5871872"/>
            <a:chExt cx="11369397" cy="957519"/>
          </a:xfrm>
        </p:grpSpPr>
        <p:sp>
          <p:nvSpPr>
            <p:cNvPr id="48" name="Rectangle 47">
              <a:extLst>
                <a:ext uri="{FF2B5EF4-FFF2-40B4-BE49-F238E27FC236}">
                  <a16:creationId xmlns:a16="http://schemas.microsoft.com/office/drawing/2014/main" id="{3FAA66EE-902E-B377-3B1D-273C1C19AFC0}"/>
                </a:ext>
              </a:extLst>
            </p:cNvPr>
            <p:cNvSpPr/>
            <p:nvPr/>
          </p:nvSpPr>
          <p:spPr>
            <a:xfrm>
              <a:off x="1789361" y="5879430"/>
              <a:ext cx="8924821" cy="822960"/>
            </a:xfrm>
            <a:prstGeom prst="rect">
              <a:avLst/>
            </a:prstGeom>
            <a:gradFill>
              <a:gsLst>
                <a:gs pos="0">
                  <a:schemeClr val="accent2">
                    <a:lumMod val="0"/>
                    <a:lumOff val="100000"/>
                  </a:schemeClr>
                </a:gs>
                <a:gs pos="17000">
                  <a:schemeClr val="accent2">
                    <a:lumMod val="0"/>
                    <a:lumOff val="100000"/>
                  </a:schemeClr>
                </a:gs>
                <a:gs pos="100000">
                  <a:schemeClr val="accent2">
                    <a:lumMod val="100000"/>
                  </a:schemeClr>
                </a:gs>
              </a:gsLst>
              <a:lin ang="108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C5698E05-86DB-BD27-C966-FFB51F111496}"/>
                </a:ext>
              </a:extLst>
            </p:cNvPr>
            <p:cNvCxnSpPr/>
            <p:nvPr/>
          </p:nvCxnSpPr>
          <p:spPr>
            <a:xfrm>
              <a:off x="1789361" y="6829391"/>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071BA70-9A12-FD08-0A10-01D75DB9817F}"/>
                </a:ext>
              </a:extLst>
            </p:cNvPr>
            <p:cNvCxnSpPr>
              <a:cxnSpLocks/>
              <a:stCxn id="48" idx="1"/>
              <a:endCxn id="48" idx="3"/>
            </p:cNvCxnSpPr>
            <p:nvPr/>
          </p:nvCxnSpPr>
          <p:spPr>
            <a:xfrm>
              <a:off x="1789361" y="6290910"/>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6624E5A0-D4EC-303F-E6CC-712DCC82FEFF}"/>
                </a:ext>
              </a:extLst>
            </p:cNvPr>
            <p:cNvSpPr/>
            <p:nvPr/>
          </p:nvSpPr>
          <p:spPr>
            <a:xfrm>
              <a:off x="1" y="5879430"/>
              <a:ext cx="1789360" cy="82296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r>
                <a:rPr lang="en-US" baseline="-25000" dirty="0"/>
                <a:t>0</a:t>
              </a:r>
            </a:p>
          </p:txBody>
        </p:sp>
        <p:sp>
          <p:nvSpPr>
            <p:cNvPr id="52" name="Arc 51">
              <a:extLst>
                <a:ext uri="{FF2B5EF4-FFF2-40B4-BE49-F238E27FC236}">
                  <a16:creationId xmlns:a16="http://schemas.microsoft.com/office/drawing/2014/main" id="{F5614DD4-F204-6CAA-CCF4-5B14D8B40DC7}"/>
                </a:ext>
              </a:extLst>
            </p:cNvPr>
            <p:cNvSpPr/>
            <p:nvPr/>
          </p:nvSpPr>
          <p:spPr>
            <a:xfrm>
              <a:off x="3288145" y="5881107"/>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3" name="Arc 52">
              <a:extLst>
                <a:ext uri="{FF2B5EF4-FFF2-40B4-BE49-F238E27FC236}">
                  <a16:creationId xmlns:a16="http://schemas.microsoft.com/office/drawing/2014/main" id="{E70402B5-912D-9CAF-89D9-1AE16E5742FF}"/>
                </a:ext>
              </a:extLst>
            </p:cNvPr>
            <p:cNvSpPr/>
            <p:nvPr/>
          </p:nvSpPr>
          <p:spPr>
            <a:xfrm flipV="1">
              <a:off x="3288144" y="5871872"/>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3B6BBD7F-AC4A-50A7-A948-F815D62FA00D}"/>
                </a:ext>
              </a:extLst>
            </p:cNvPr>
            <p:cNvCxnSpPr>
              <a:stCxn id="52" idx="0"/>
            </p:cNvCxnSpPr>
            <p:nvPr/>
          </p:nvCxnSpPr>
          <p:spPr>
            <a:xfrm>
              <a:off x="4447307" y="5881107"/>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D5E57507-2339-7733-A209-9BC92B8D839F}"/>
                </a:ext>
              </a:extLst>
            </p:cNvPr>
            <p:cNvCxnSpPr/>
            <p:nvPr/>
          </p:nvCxnSpPr>
          <p:spPr>
            <a:xfrm>
              <a:off x="4447307" y="6016590"/>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C4A8B32-1296-59D3-2EAD-36F307584361}"/>
                </a:ext>
              </a:extLst>
            </p:cNvPr>
            <p:cNvCxnSpPr/>
            <p:nvPr/>
          </p:nvCxnSpPr>
          <p:spPr>
            <a:xfrm>
              <a:off x="4447307" y="6561413"/>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F88355C2-6465-576F-50F1-F64DDD67AB20}"/>
                </a:ext>
              </a:extLst>
            </p:cNvPr>
            <p:cNvCxnSpPr>
              <a:cxnSpLocks/>
            </p:cNvCxnSpPr>
            <p:nvPr/>
          </p:nvCxnSpPr>
          <p:spPr>
            <a:xfrm>
              <a:off x="4461164" y="6436722"/>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67210C3-8E64-A9E7-C921-352D552E6650}"/>
                </a:ext>
              </a:extLst>
            </p:cNvPr>
            <p:cNvCxnSpPr>
              <a:cxnSpLocks/>
            </p:cNvCxnSpPr>
            <p:nvPr/>
          </p:nvCxnSpPr>
          <p:spPr>
            <a:xfrm>
              <a:off x="4447307" y="6145778"/>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8748552B-103C-EADA-6E06-3B9DF5EF9C79}"/>
                </a:ext>
              </a:extLst>
            </p:cNvPr>
            <p:cNvCxnSpPr>
              <a:cxnSpLocks/>
            </p:cNvCxnSpPr>
            <p:nvPr/>
          </p:nvCxnSpPr>
          <p:spPr>
            <a:xfrm>
              <a:off x="4447307" y="6291749"/>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37536F5A-CB16-C710-8E6A-CDDB36005186}"/>
                </a:ext>
              </a:extLst>
            </p:cNvPr>
            <p:cNvSpPr txBox="1"/>
            <p:nvPr/>
          </p:nvSpPr>
          <p:spPr>
            <a:xfrm>
              <a:off x="10862528" y="6097847"/>
              <a:ext cx="506870" cy="369332"/>
            </a:xfrm>
            <a:prstGeom prst="rect">
              <a:avLst/>
            </a:prstGeom>
            <a:noFill/>
          </p:spPr>
          <p:txBody>
            <a:bodyPr wrap="none" rtlCol="0">
              <a:spAutoFit/>
            </a:bodyPr>
            <a:lstStyle/>
            <a:p>
              <a:r>
                <a:rPr lang="en-US" dirty="0"/>
                <a:t>t=2</a:t>
              </a:r>
            </a:p>
          </p:txBody>
        </p:sp>
        <p:cxnSp>
          <p:nvCxnSpPr>
            <p:cNvPr id="63" name="Straight Connector 62">
              <a:extLst>
                <a:ext uri="{FF2B5EF4-FFF2-40B4-BE49-F238E27FC236}">
                  <a16:creationId xmlns:a16="http://schemas.microsoft.com/office/drawing/2014/main" id="{DE63B8F6-BB89-6A2A-30C5-629D9B6B8E0A}"/>
                </a:ext>
              </a:extLst>
            </p:cNvPr>
            <p:cNvCxnSpPr>
              <a:cxnSpLocks/>
            </p:cNvCxnSpPr>
            <p:nvPr/>
          </p:nvCxnSpPr>
          <p:spPr>
            <a:xfrm>
              <a:off x="1789360" y="5899579"/>
              <a:ext cx="6708095" cy="79357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FB202FB-280A-B444-2B59-153EFF86512E}"/>
                  </a:ext>
                </a:extLst>
              </p:cNvPr>
              <p:cNvSpPr txBox="1"/>
              <p:nvPr/>
            </p:nvSpPr>
            <p:spPr>
              <a:xfrm>
                <a:off x="2459320" y="2969436"/>
                <a:ext cx="3002066" cy="904543"/>
              </a:xfrm>
              <a:prstGeom prst="rect">
                <a:avLst/>
              </a:prstGeom>
              <a:solidFill>
                <a:srgbClr val="FFFF00"/>
              </a:solidFill>
              <a:ln w="19050">
                <a:solidFill>
                  <a:srgbClr val="FF0000"/>
                </a:solidFill>
              </a:ln>
            </p:spPr>
            <p:txBody>
              <a:bodyPr wrap="square">
                <a:spAutoFit/>
              </a:bodyPr>
              <a:lstStyle/>
              <a:p>
                <a:pPr/>
                <a14:m>
                  <m:oMathPara xmlns:m="http://schemas.openxmlformats.org/officeDocument/2006/math">
                    <m:o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2</m:t>
                              </m:r>
                            </m:sup>
                          </m:sSup>
                        </m:den>
                      </m:f>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0</m:t>
                          </m:r>
                        </m:sub>
                        <m:sup>
                          <m:r>
                            <a:rPr lang="en-US" b="0" i="1" smtClean="0">
                              <a:latin typeface="Cambria Math" panose="02040503050406030204" pitchFamily="18" charset="0"/>
                            </a:rPr>
                            <m:t>𝑎</m:t>
                          </m:r>
                        </m:sup>
                        <m:e>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𝑑𝑟</m:t>
                          </m:r>
                        </m:e>
                      </m:nary>
                    </m:oMath>
                  </m:oMathPara>
                </a14:m>
                <a:endParaRPr lang="en-US" dirty="0"/>
              </a:p>
            </p:txBody>
          </p:sp>
        </mc:Choice>
        <mc:Fallback xmlns="">
          <p:sp>
            <p:nvSpPr>
              <p:cNvPr id="14" name="TextBox 13">
                <a:extLst>
                  <a:ext uri="{FF2B5EF4-FFF2-40B4-BE49-F238E27FC236}">
                    <a16:creationId xmlns:a16="http://schemas.microsoft.com/office/drawing/2014/main" id="{7FB202FB-280A-B444-2B59-153EFF86512E}"/>
                  </a:ext>
                </a:extLst>
              </p:cNvPr>
              <p:cNvSpPr txBox="1">
                <a:spLocks noRot="1" noChangeAspect="1" noMove="1" noResize="1" noEditPoints="1" noAdjustHandles="1" noChangeArrowheads="1" noChangeShapeType="1" noTextEdit="1"/>
              </p:cNvSpPr>
              <p:nvPr/>
            </p:nvSpPr>
            <p:spPr>
              <a:xfrm>
                <a:off x="2459320" y="2969436"/>
                <a:ext cx="3002066" cy="904543"/>
              </a:xfrm>
              <a:prstGeom prst="rect">
                <a:avLst/>
              </a:prstGeom>
              <a:blipFill>
                <a:blip r:embed="rId3"/>
                <a:stretch>
                  <a:fillRect/>
                </a:stretch>
              </a:blipFill>
              <a:ln w="19050">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7C1AA75-003C-4AB5-7CB4-DEF175635F14}"/>
                  </a:ext>
                </a:extLst>
              </p:cNvPr>
              <p:cNvSpPr txBox="1"/>
              <p:nvPr/>
            </p:nvSpPr>
            <p:spPr>
              <a:xfrm>
                <a:off x="6550816" y="3100659"/>
                <a:ext cx="2289281" cy="622350"/>
              </a:xfrm>
              <a:prstGeom prst="rect">
                <a:avLst/>
              </a:prstGeom>
              <a:solidFill>
                <a:srgbClr val="FFFF00"/>
              </a:solidFill>
              <a:ln w="19050">
                <a:solidFill>
                  <a:srgbClr val="FF0000"/>
                </a:solidFill>
              </a:ln>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𝑡</m:t>
                              </m:r>
                            </m:den>
                          </m:f>
                        </m:e>
                      </m:d>
                    </m:oMath>
                  </m:oMathPara>
                </a14:m>
                <a:endParaRPr lang="en-US" dirty="0"/>
              </a:p>
            </p:txBody>
          </p:sp>
        </mc:Choice>
        <mc:Fallback xmlns="">
          <p:sp>
            <p:nvSpPr>
              <p:cNvPr id="15" name="TextBox 14">
                <a:extLst>
                  <a:ext uri="{FF2B5EF4-FFF2-40B4-BE49-F238E27FC236}">
                    <a16:creationId xmlns:a16="http://schemas.microsoft.com/office/drawing/2014/main" id="{17C1AA75-003C-4AB5-7CB4-DEF175635F14}"/>
                  </a:ext>
                </a:extLst>
              </p:cNvPr>
              <p:cNvSpPr txBox="1">
                <a:spLocks noRot="1" noChangeAspect="1" noMove="1" noResize="1" noEditPoints="1" noAdjustHandles="1" noChangeArrowheads="1" noChangeShapeType="1" noTextEdit="1"/>
              </p:cNvSpPr>
              <p:nvPr/>
            </p:nvSpPr>
            <p:spPr>
              <a:xfrm>
                <a:off x="6550816" y="3100659"/>
                <a:ext cx="2289281" cy="622350"/>
              </a:xfrm>
              <a:prstGeom prst="rect">
                <a:avLst/>
              </a:prstGeom>
              <a:blipFill>
                <a:blip r:embed="rId4"/>
                <a:stretch>
                  <a:fillRect/>
                </a:stretch>
              </a:blipFill>
              <a:ln w="19050">
                <a:solidFill>
                  <a:srgbClr val="FF0000"/>
                </a:solidFill>
              </a:ln>
            </p:spPr>
            <p:txBody>
              <a:bodyPr/>
              <a:lstStyle/>
              <a:p>
                <a:r>
                  <a:rPr lang="en-US">
                    <a:noFill/>
                  </a:rPr>
                  <a:t> </a:t>
                </a:r>
              </a:p>
            </p:txBody>
          </p:sp>
        </mc:Fallback>
      </mc:AlternateContent>
      <p:sp>
        <p:nvSpPr>
          <p:cNvPr id="13" name="Slide Number Placeholder 12">
            <a:extLst>
              <a:ext uri="{FF2B5EF4-FFF2-40B4-BE49-F238E27FC236}">
                <a16:creationId xmlns:a16="http://schemas.microsoft.com/office/drawing/2014/main" id="{7DAA492C-A133-8E64-510F-CACA4954449A}"/>
              </a:ext>
            </a:extLst>
          </p:cNvPr>
          <p:cNvSpPr>
            <a:spLocks noGrp="1"/>
          </p:cNvSpPr>
          <p:nvPr>
            <p:ph type="sldNum" sz="quarter" idx="12"/>
          </p:nvPr>
        </p:nvSpPr>
        <p:spPr/>
        <p:txBody>
          <a:bodyPr/>
          <a:lstStyle/>
          <a:p>
            <a:fld id="{34765577-9A70-4B44-A463-20938F747DD0}" type="slidenum">
              <a:rPr lang="en-US" smtClean="0"/>
              <a:t>22</a:t>
            </a:fld>
            <a:endParaRPr lang="en-US"/>
          </a:p>
        </p:txBody>
      </p:sp>
    </p:spTree>
    <p:extLst>
      <p:ext uri="{BB962C8B-B14F-4D97-AF65-F5344CB8AC3E}">
        <p14:creationId xmlns:p14="http://schemas.microsoft.com/office/powerpoint/2010/main" val="172050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508B2-8FBB-9CF7-3C09-7AA6D4BC40FF}"/>
              </a:ext>
            </a:extLst>
          </p:cNvPr>
          <p:cNvSpPr>
            <a:spLocks noGrp="1"/>
          </p:cNvSpPr>
          <p:nvPr>
            <p:ph type="title"/>
          </p:nvPr>
        </p:nvSpPr>
        <p:spPr>
          <a:xfrm>
            <a:off x="771234" y="24338"/>
            <a:ext cx="10515600" cy="1325563"/>
          </a:xfrm>
        </p:spPr>
        <p:txBody>
          <a:bodyPr/>
          <a:lstStyle/>
          <a:p>
            <a:pPr algn="ctr"/>
            <a:r>
              <a:rPr lang="en-US" dirty="0">
                <a:solidFill>
                  <a:srgbClr val="0000CC"/>
                </a:solidFill>
              </a:rPr>
              <a:t>Tracer Emergence from Reactor</a:t>
            </a:r>
          </a:p>
        </p:txBody>
      </p:sp>
      <p:sp>
        <p:nvSpPr>
          <p:cNvPr id="3" name="Rectangle 2">
            <a:extLst>
              <a:ext uri="{FF2B5EF4-FFF2-40B4-BE49-F238E27FC236}">
                <a16:creationId xmlns:a16="http://schemas.microsoft.com/office/drawing/2014/main" id="{03CC1BC8-D169-F13A-7102-2378FE6CF268}"/>
              </a:ext>
            </a:extLst>
          </p:cNvPr>
          <p:cNvSpPr/>
          <p:nvPr/>
        </p:nvSpPr>
        <p:spPr>
          <a:xfrm>
            <a:off x="1789361" y="1359137"/>
            <a:ext cx="8924821" cy="822960"/>
          </a:xfrm>
          <a:prstGeom prst="rect">
            <a:avLst/>
          </a:prstGeom>
          <a:gradFill flip="none" rotWithShape="1">
            <a:gsLst>
              <a:gs pos="0">
                <a:schemeClr val="accent2">
                  <a:lumMod val="0"/>
                  <a:lumOff val="100000"/>
                </a:schemeClr>
              </a:gs>
              <a:gs pos="0">
                <a:schemeClr val="accent2">
                  <a:lumMod val="0"/>
                  <a:lumOff val="100000"/>
                </a:schemeClr>
              </a:gs>
              <a:gs pos="100000">
                <a:schemeClr val="accent2">
                  <a:lumMod val="100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902439F6-7C0C-4F8A-51F7-70082A5F3F24}"/>
              </a:ext>
            </a:extLst>
          </p:cNvPr>
          <p:cNvCxnSpPr/>
          <p:nvPr/>
        </p:nvCxnSpPr>
        <p:spPr>
          <a:xfrm>
            <a:off x="1789361" y="2309098"/>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BA28574D-C465-7840-5281-97BE2FD11F71}"/>
              </a:ext>
            </a:extLst>
          </p:cNvPr>
          <p:cNvCxnSpPr>
            <a:cxnSpLocks/>
            <a:stCxn id="3" idx="1"/>
            <a:endCxn id="3" idx="3"/>
          </p:cNvCxnSpPr>
          <p:nvPr/>
        </p:nvCxnSpPr>
        <p:spPr>
          <a:xfrm>
            <a:off x="1789361" y="1770617"/>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413D2A74-E5AB-239A-5A5D-5708DFD6A7B5}"/>
              </a:ext>
            </a:extLst>
          </p:cNvPr>
          <p:cNvSpPr/>
          <p:nvPr/>
        </p:nvSpPr>
        <p:spPr>
          <a:xfrm>
            <a:off x="1" y="1359137"/>
            <a:ext cx="1789360" cy="82296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r>
              <a:rPr lang="en-US" baseline="-25000" dirty="0"/>
              <a:t>0</a:t>
            </a:r>
          </a:p>
        </p:txBody>
      </p:sp>
      <p:sp>
        <p:nvSpPr>
          <p:cNvPr id="7" name="Arc 6">
            <a:extLst>
              <a:ext uri="{FF2B5EF4-FFF2-40B4-BE49-F238E27FC236}">
                <a16:creationId xmlns:a16="http://schemas.microsoft.com/office/drawing/2014/main" id="{E20E8AAE-D0AA-CB93-2858-5F2C7DAC2822}"/>
              </a:ext>
            </a:extLst>
          </p:cNvPr>
          <p:cNvSpPr/>
          <p:nvPr/>
        </p:nvSpPr>
        <p:spPr>
          <a:xfrm>
            <a:off x="3288145" y="1360814"/>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Arc 7">
            <a:extLst>
              <a:ext uri="{FF2B5EF4-FFF2-40B4-BE49-F238E27FC236}">
                <a16:creationId xmlns:a16="http://schemas.microsoft.com/office/drawing/2014/main" id="{BD07776D-2DAC-241F-277F-AEB533260540}"/>
              </a:ext>
            </a:extLst>
          </p:cNvPr>
          <p:cNvSpPr/>
          <p:nvPr/>
        </p:nvSpPr>
        <p:spPr>
          <a:xfrm flipV="1">
            <a:off x="3288144" y="1351579"/>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E151AB9C-FBE5-8950-8CA4-BA0215AA46D6}"/>
              </a:ext>
            </a:extLst>
          </p:cNvPr>
          <p:cNvCxnSpPr>
            <a:stCxn id="7" idx="0"/>
          </p:cNvCxnSpPr>
          <p:nvPr/>
        </p:nvCxnSpPr>
        <p:spPr>
          <a:xfrm>
            <a:off x="4447307" y="1360814"/>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E8B31E1-2C6A-07DE-EC3F-D81E35E86984}"/>
              </a:ext>
            </a:extLst>
          </p:cNvPr>
          <p:cNvCxnSpPr/>
          <p:nvPr/>
        </p:nvCxnSpPr>
        <p:spPr>
          <a:xfrm>
            <a:off x="4447307" y="1496297"/>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3F0F7CD7-4EEB-2BE0-E5A9-9CB129DAC770}"/>
              </a:ext>
            </a:extLst>
          </p:cNvPr>
          <p:cNvCxnSpPr/>
          <p:nvPr/>
        </p:nvCxnSpPr>
        <p:spPr>
          <a:xfrm>
            <a:off x="4447307" y="2041120"/>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C0DC662-8F55-A83B-457D-AF37FBA12610}"/>
              </a:ext>
            </a:extLst>
          </p:cNvPr>
          <p:cNvCxnSpPr>
            <a:cxnSpLocks/>
          </p:cNvCxnSpPr>
          <p:nvPr/>
        </p:nvCxnSpPr>
        <p:spPr>
          <a:xfrm>
            <a:off x="4461164" y="1916429"/>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D85D3CA-75EF-4BA9-550C-5CBEE48FF076}"/>
              </a:ext>
            </a:extLst>
          </p:cNvPr>
          <p:cNvCxnSpPr>
            <a:cxnSpLocks/>
          </p:cNvCxnSpPr>
          <p:nvPr/>
        </p:nvCxnSpPr>
        <p:spPr>
          <a:xfrm>
            <a:off x="4447307" y="1625485"/>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0D2777D-368D-DBB6-121F-74360C0E9152}"/>
              </a:ext>
            </a:extLst>
          </p:cNvPr>
          <p:cNvCxnSpPr>
            <a:cxnSpLocks/>
          </p:cNvCxnSpPr>
          <p:nvPr/>
        </p:nvCxnSpPr>
        <p:spPr>
          <a:xfrm>
            <a:off x="4447307" y="1771456"/>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7D46494-907B-A12E-8B8C-89F3C56B9777}"/>
                  </a:ext>
                </a:extLst>
              </p:cNvPr>
              <p:cNvSpPr txBox="1"/>
              <p:nvPr/>
            </p:nvSpPr>
            <p:spPr>
              <a:xfrm>
                <a:off x="10279637" y="2198264"/>
                <a:ext cx="1779077" cy="65793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den>
                      </m:f>
                      <m:r>
                        <a:rPr lang="en-US" b="0" i="1" smtClean="0">
                          <a:latin typeface="Cambria Math" panose="02040503050406030204" pitchFamily="18" charset="0"/>
                        </a:rPr>
                        <m:t>=1.87 </m:t>
                      </m:r>
                      <m:r>
                        <a:rPr lang="en-US" b="0" i="1" smtClean="0">
                          <a:latin typeface="Cambria Math" panose="02040503050406030204" pitchFamily="18" charset="0"/>
                        </a:rPr>
                        <m:t>𝑠</m:t>
                      </m:r>
                    </m:oMath>
                  </m:oMathPara>
                </a14:m>
                <a:endParaRPr lang="en-US" dirty="0"/>
              </a:p>
            </p:txBody>
          </p:sp>
        </mc:Choice>
        <mc:Fallback xmlns="">
          <p:sp>
            <p:nvSpPr>
              <p:cNvPr id="15" name="TextBox 14">
                <a:extLst>
                  <a:ext uri="{FF2B5EF4-FFF2-40B4-BE49-F238E27FC236}">
                    <a16:creationId xmlns:a16="http://schemas.microsoft.com/office/drawing/2014/main" id="{67D46494-907B-A12E-8B8C-89F3C56B9777}"/>
                  </a:ext>
                </a:extLst>
              </p:cNvPr>
              <p:cNvSpPr txBox="1">
                <a:spLocks noRot="1" noChangeAspect="1" noMove="1" noResize="1" noEditPoints="1" noAdjustHandles="1" noChangeArrowheads="1" noChangeShapeType="1" noTextEdit="1"/>
              </p:cNvSpPr>
              <p:nvPr/>
            </p:nvSpPr>
            <p:spPr>
              <a:xfrm>
                <a:off x="10279637" y="2198264"/>
                <a:ext cx="1779077" cy="657937"/>
              </a:xfrm>
              <a:prstGeom prst="rect">
                <a:avLst/>
              </a:prstGeom>
              <a:blipFill>
                <a:blip r:embed="rId2"/>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F5F9FDA3-AF7C-AEB3-E2EF-3EF762237EED}"/>
              </a:ext>
            </a:extLst>
          </p:cNvPr>
          <p:cNvCxnSpPr>
            <a:cxnSpLocks/>
          </p:cNvCxnSpPr>
          <p:nvPr/>
        </p:nvCxnSpPr>
        <p:spPr>
          <a:xfrm>
            <a:off x="1789361" y="1366695"/>
            <a:ext cx="8924821" cy="80616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2609EC3-E557-7D87-E032-420DB0DB5A5E}"/>
              </a:ext>
            </a:extLst>
          </p:cNvPr>
          <p:cNvSpPr txBox="1"/>
          <p:nvPr/>
        </p:nvSpPr>
        <p:spPr>
          <a:xfrm>
            <a:off x="5945959" y="2309098"/>
            <a:ext cx="300082" cy="369332"/>
          </a:xfrm>
          <a:prstGeom prst="rect">
            <a:avLst/>
          </a:prstGeom>
          <a:noFill/>
        </p:spPr>
        <p:txBody>
          <a:bodyPr wrap="none" rtlCol="0">
            <a:spAutoFit/>
          </a:bodyPr>
          <a:lstStyle/>
          <a:p>
            <a:r>
              <a:rPr lang="en-US" dirty="0">
                <a:solidFill>
                  <a:srgbClr val="FF0000"/>
                </a:solidFill>
              </a:rPr>
              <a:t>L</a:t>
            </a:r>
          </a:p>
        </p:txBody>
      </p:sp>
      <p:cxnSp>
        <p:nvCxnSpPr>
          <p:cNvPr id="20" name="Straight Connector 19">
            <a:extLst>
              <a:ext uri="{FF2B5EF4-FFF2-40B4-BE49-F238E27FC236}">
                <a16:creationId xmlns:a16="http://schemas.microsoft.com/office/drawing/2014/main" id="{E9858A75-D0F7-AE81-FCAB-A4340E180EB9}"/>
              </a:ext>
            </a:extLst>
          </p:cNvPr>
          <p:cNvCxnSpPr/>
          <p:nvPr/>
        </p:nvCxnSpPr>
        <p:spPr>
          <a:xfrm>
            <a:off x="1789361" y="2292931"/>
            <a:ext cx="0" cy="496333"/>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8F317813-9BE5-09A6-46B4-4BD8EDD75F52}"/>
              </a:ext>
            </a:extLst>
          </p:cNvPr>
          <p:cNvSpPr txBox="1"/>
          <p:nvPr/>
        </p:nvSpPr>
        <p:spPr>
          <a:xfrm>
            <a:off x="1522300" y="2715432"/>
            <a:ext cx="534121" cy="369332"/>
          </a:xfrm>
          <a:prstGeom prst="rect">
            <a:avLst/>
          </a:prstGeom>
          <a:noFill/>
        </p:spPr>
        <p:txBody>
          <a:bodyPr wrap="none" rtlCol="0">
            <a:spAutoFit/>
          </a:bodyPr>
          <a:lstStyle/>
          <a:p>
            <a:r>
              <a:rPr lang="en-US" dirty="0">
                <a:solidFill>
                  <a:srgbClr val="0000CC"/>
                </a:solidFill>
              </a:rPr>
              <a:t>x=0</a:t>
            </a:r>
          </a:p>
        </p:txBody>
      </p:sp>
      <p:grpSp>
        <p:nvGrpSpPr>
          <p:cNvPr id="16" name="Group 15">
            <a:extLst>
              <a:ext uri="{FF2B5EF4-FFF2-40B4-BE49-F238E27FC236}">
                <a16:creationId xmlns:a16="http://schemas.microsoft.com/office/drawing/2014/main" id="{871CC37A-DAE8-3370-7E4A-375AB9422E9F}"/>
              </a:ext>
            </a:extLst>
          </p:cNvPr>
          <p:cNvGrpSpPr/>
          <p:nvPr/>
        </p:nvGrpSpPr>
        <p:grpSpPr>
          <a:xfrm>
            <a:off x="1" y="3463391"/>
            <a:ext cx="11727563" cy="1733185"/>
            <a:chOff x="1" y="3463391"/>
            <a:chExt cx="11727563" cy="1733185"/>
          </a:xfrm>
        </p:grpSpPr>
        <p:sp>
          <p:nvSpPr>
            <p:cNvPr id="22" name="Rectangle 21">
              <a:extLst>
                <a:ext uri="{FF2B5EF4-FFF2-40B4-BE49-F238E27FC236}">
                  <a16:creationId xmlns:a16="http://schemas.microsoft.com/office/drawing/2014/main" id="{1562BDA2-C75B-3FB1-903D-A05F3041301E}"/>
                </a:ext>
              </a:extLst>
            </p:cNvPr>
            <p:cNvSpPr/>
            <p:nvPr/>
          </p:nvSpPr>
          <p:spPr>
            <a:xfrm>
              <a:off x="1789361" y="3470949"/>
              <a:ext cx="8924821" cy="822960"/>
            </a:xfrm>
            <a:prstGeom prst="rect">
              <a:avLst/>
            </a:prstGeom>
            <a:gradFill flip="none" rotWithShape="1">
              <a:gsLst>
                <a:gs pos="0">
                  <a:schemeClr val="accent2">
                    <a:lumMod val="0"/>
                    <a:lumOff val="100000"/>
                  </a:schemeClr>
                </a:gs>
                <a:gs pos="0">
                  <a:schemeClr val="accent2">
                    <a:lumMod val="0"/>
                    <a:lumOff val="100000"/>
                  </a:schemeClr>
                </a:gs>
                <a:gs pos="100000">
                  <a:schemeClr val="accent2">
                    <a:lumMod val="100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5AFD3764-E869-3649-0178-6885856E2B31}"/>
                </a:ext>
              </a:extLst>
            </p:cNvPr>
            <p:cNvCxnSpPr/>
            <p:nvPr/>
          </p:nvCxnSpPr>
          <p:spPr>
            <a:xfrm>
              <a:off x="1789361" y="4420910"/>
              <a:ext cx="8924821" cy="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32C497B-2012-CBEF-9E26-C53BA8D20060}"/>
                </a:ext>
              </a:extLst>
            </p:cNvPr>
            <p:cNvCxnSpPr>
              <a:cxnSpLocks/>
              <a:stCxn id="22" idx="1"/>
              <a:endCxn id="22" idx="3"/>
            </p:cNvCxnSpPr>
            <p:nvPr/>
          </p:nvCxnSpPr>
          <p:spPr>
            <a:xfrm>
              <a:off x="1789361" y="3882429"/>
              <a:ext cx="8924821" cy="0"/>
            </a:xfrm>
            <a:prstGeom prst="line">
              <a:avLst/>
            </a:prstGeom>
            <a:ln>
              <a:prstDash val="dashDot"/>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D742EEE8-0090-47A7-7B5A-9B40029BB05C}"/>
                </a:ext>
              </a:extLst>
            </p:cNvPr>
            <p:cNvSpPr/>
            <p:nvPr/>
          </p:nvSpPr>
          <p:spPr>
            <a:xfrm>
              <a:off x="1" y="3470949"/>
              <a:ext cx="1789360" cy="82296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t>
              </a:r>
              <a:r>
                <a:rPr lang="en-US" baseline="-25000" dirty="0"/>
                <a:t>0</a:t>
              </a:r>
            </a:p>
          </p:txBody>
        </p:sp>
        <p:sp>
          <p:nvSpPr>
            <p:cNvPr id="26" name="Arc 25">
              <a:extLst>
                <a:ext uri="{FF2B5EF4-FFF2-40B4-BE49-F238E27FC236}">
                  <a16:creationId xmlns:a16="http://schemas.microsoft.com/office/drawing/2014/main" id="{4B682F36-E416-9E20-5CC7-EECA0D551F01}"/>
                </a:ext>
              </a:extLst>
            </p:cNvPr>
            <p:cNvSpPr/>
            <p:nvPr/>
          </p:nvSpPr>
          <p:spPr>
            <a:xfrm>
              <a:off x="3288145" y="3472626"/>
              <a:ext cx="2318325" cy="821283"/>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AEFB3A81-0221-E07B-B27F-C9373C8F8AFE}"/>
                </a:ext>
              </a:extLst>
            </p:cNvPr>
            <p:cNvSpPr/>
            <p:nvPr/>
          </p:nvSpPr>
          <p:spPr>
            <a:xfrm flipV="1">
              <a:off x="3288144" y="3463391"/>
              <a:ext cx="2318325" cy="821282"/>
            </a:xfrm>
            <a:prstGeom prst="arc">
              <a:avLst/>
            </a:prstGeom>
            <a:ln>
              <a:solidFill>
                <a:srgbClr val="0000CC"/>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DB1573E8-164A-4FAC-3951-CF42148D8C5A}"/>
                </a:ext>
              </a:extLst>
            </p:cNvPr>
            <p:cNvCxnSpPr>
              <a:stCxn id="26" idx="0"/>
            </p:cNvCxnSpPr>
            <p:nvPr/>
          </p:nvCxnSpPr>
          <p:spPr>
            <a:xfrm>
              <a:off x="4447307" y="3472626"/>
              <a:ext cx="13857" cy="812047"/>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7DE3E1A-CFC9-2ABB-1A97-A1C7DDA6E01E}"/>
                </a:ext>
              </a:extLst>
            </p:cNvPr>
            <p:cNvCxnSpPr/>
            <p:nvPr/>
          </p:nvCxnSpPr>
          <p:spPr>
            <a:xfrm>
              <a:off x="4447307" y="3608109"/>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671BAD5-C3C5-77A2-F365-4E1E65660C1C}"/>
                </a:ext>
              </a:extLst>
            </p:cNvPr>
            <p:cNvCxnSpPr/>
            <p:nvPr/>
          </p:nvCxnSpPr>
          <p:spPr>
            <a:xfrm>
              <a:off x="4447307" y="4152932"/>
              <a:ext cx="817420"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E8FAE9B-A021-CD69-D93A-4FA43D0EF9EE}"/>
                </a:ext>
              </a:extLst>
            </p:cNvPr>
            <p:cNvCxnSpPr>
              <a:cxnSpLocks/>
            </p:cNvCxnSpPr>
            <p:nvPr/>
          </p:nvCxnSpPr>
          <p:spPr>
            <a:xfrm>
              <a:off x="4461164" y="4028241"/>
              <a:ext cx="1052945"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0F95D39B-0C07-DE21-424E-5AE8661418B7}"/>
                </a:ext>
              </a:extLst>
            </p:cNvPr>
            <p:cNvCxnSpPr>
              <a:cxnSpLocks/>
            </p:cNvCxnSpPr>
            <p:nvPr/>
          </p:nvCxnSpPr>
          <p:spPr>
            <a:xfrm>
              <a:off x="4447307" y="3737297"/>
              <a:ext cx="106680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2038AE9-93AC-5D94-5865-FBB2DE99B9EF}"/>
                </a:ext>
              </a:extLst>
            </p:cNvPr>
            <p:cNvCxnSpPr>
              <a:cxnSpLocks/>
            </p:cNvCxnSpPr>
            <p:nvPr/>
          </p:nvCxnSpPr>
          <p:spPr>
            <a:xfrm>
              <a:off x="4447307" y="3883268"/>
              <a:ext cx="1159162" cy="0"/>
            </a:xfrm>
            <a:prstGeom prst="straightConnector1">
              <a:avLst/>
            </a:prstGeom>
            <a:ln>
              <a:solidFill>
                <a:srgbClr val="0000CC"/>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46CAE3A-2933-D367-31B1-AF9B83ED8473}"/>
                    </a:ext>
                  </a:extLst>
                </p:cNvPr>
                <p:cNvSpPr txBox="1"/>
                <p:nvPr/>
              </p:nvSpPr>
              <p:spPr>
                <a:xfrm>
                  <a:off x="10846105" y="3553460"/>
                  <a:ext cx="881459" cy="657937"/>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𝑡</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den>
                        </m:f>
                      </m:oMath>
                    </m:oMathPara>
                  </a14:m>
                  <a:endParaRPr lang="en-US" dirty="0"/>
                </a:p>
              </p:txBody>
            </p:sp>
          </mc:Choice>
          <mc:Fallback xmlns="">
            <p:sp>
              <p:nvSpPr>
                <p:cNvPr id="34" name="TextBox 33">
                  <a:extLst>
                    <a:ext uri="{FF2B5EF4-FFF2-40B4-BE49-F238E27FC236}">
                      <a16:creationId xmlns:a16="http://schemas.microsoft.com/office/drawing/2014/main" id="{346CAE3A-2933-D367-31B1-AF9B83ED8473}"/>
                    </a:ext>
                  </a:extLst>
                </p:cNvPr>
                <p:cNvSpPr txBox="1">
                  <a:spLocks noRot="1" noChangeAspect="1" noMove="1" noResize="1" noEditPoints="1" noAdjustHandles="1" noChangeArrowheads="1" noChangeShapeType="1" noTextEdit="1"/>
                </p:cNvSpPr>
                <p:nvPr/>
              </p:nvSpPr>
              <p:spPr>
                <a:xfrm>
                  <a:off x="10846105" y="3553460"/>
                  <a:ext cx="881459" cy="657937"/>
                </a:xfrm>
                <a:prstGeom prst="rect">
                  <a:avLst/>
                </a:prstGeom>
                <a:blipFill>
                  <a:blip r:embed="rId3"/>
                  <a:stretch>
                    <a:fillRect/>
                  </a:stretch>
                </a:blipFill>
              </p:spPr>
              <p:txBody>
                <a:bodyPr/>
                <a:lstStyle/>
                <a:p>
                  <a:r>
                    <a:rPr lang="en-US">
                      <a:noFill/>
                    </a:rPr>
                    <a:t> </a:t>
                  </a:r>
                </a:p>
              </p:txBody>
            </p:sp>
          </mc:Fallback>
        </mc:AlternateContent>
        <p:cxnSp>
          <p:nvCxnSpPr>
            <p:cNvPr id="35" name="Straight Connector 34">
              <a:extLst>
                <a:ext uri="{FF2B5EF4-FFF2-40B4-BE49-F238E27FC236}">
                  <a16:creationId xmlns:a16="http://schemas.microsoft.com/office/drawing/2014/main" id="{DC9BBE69-0DBA-44C7-F1AF-66852DA55416}"/>
                </a:ext>
              </a:extLst>
            </p:cNvPr>
            <p:cNvCxnSpPr>
              <a:cxnSpLocks/>
            </p:cNvCxnSpPr>
            <p:nvPr/>
          </p:nvCxnSpPr>
          <p:spPr>
            <a:xfrm>
              <a:off x="1789361" y="3478507"/>
              <a:ext cx="8924821" cy="57307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5A9B4F99-AF70-B602-2ACF-697D056EB60D}"/>
                </a:ext>
              </a:extLst>
            </p:cNvPr>
            <p:cNvSpPr txBox="1"/>
            <p:nvPr/>
          </p:nvSpPr>
          <p:spPr>
            <a:xfrm>
              <a:off x="5945959" y="4420910"/>
              <a:ext cx="300082" cy="369332"/>
            </a:xfrm>
            <a:prstGeom prst="rect">
              <a:avLst/>
            </a:prstGeom>
            <a:noFill/>
          </p:spPr>
          <p:txBody>
            <a:bodyPr wrap="none" rtlCol="0">
              <a:spAutoFit/>
            </a:bodyPr>
            <a:lstStyle/>
            <a:p>
              <a:r>
                <a:rPr lang="en-US" dirty="0">
                  <a:solidFill>
                    <a:srgbClr val="FF0000"/>
                  </a:solidFill>
                </a:rPr>
                <a:t>L</a:t>
              </a:r>
            </a:p>
          </p:txBody>
        </p:sp>
        <p:cxnSp>
          <p:nvCxnSpPr>
            <p:cNvPr id="37" name="Straight Connector 36">
              <a:extLst>
                <a:ext uri="{FF2B5EF4-FFF2-40B4-BE49-F238E27FC236}">
                  <a16:creationId xmlns:a16="http://schemas.microsoft.com/office/drawing/2014/main" id="{89828515-A71D-25C4-5A00-A031B5E88DDB}"/>
                </a:ext>
              </a:extLst>
            </p:cNvPr>
            <p:cNvCxnSpPr/>
            <p:nvPr/>
          </p:nvCxnSpPr>
          <p:spPr>
            <a:xfrm>
              <a:off x="1789361" y="4404743"/>
              <a:ext cx="0" cy="496333"/>
            </a:xfrm>
            <a:prstGeom prst="line">
              <a:avLst/>
            </a:prstGeom>
            <a:ln>
              <a:solidFill>
                <a:srgbClr val="0000CC"/>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C1A53879-679D-FB6F-1E26-364F63508EF6}"/>
                </a:ext>
              </a:extLst>
            </p:cNvPr>
            <p:cNvSpPr txBox="1"/>
            <p:nvPr/>
          </p:nvSpPr>
          <p:spPr>
            <a:xfrm>
              <a:off x="1522300" y="4827244"/>
              <a:ext cx="534121" cy="369332"/>
            </a:xfrm>
            <a:prstGeom prst="rect">
              <a:avLst/>
            </a:prstGeom>
            <a:noFill/>
          </p:spPr>
          <p:txBody>
            <a:bodyPr wrap="none" rtlCol="0">
              <a:spAutoFit/>
            </a:bodyPr>
            <a:lstStyle/>
            <a:p>
              <a:r>
                <a:rPr lang="en-US" dirty="0">
                  <a:solidFill>
                    <a:srgbClr val="0000CC"/>
                  </a:solidFill>
                </a:rPr>
                <a:t>x=0</a:t>
              </a:r>
            </a:p>
          </p:txBody>
        </p:sp>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327BB29-A306-3641-E24A-D4E7852537AD}"/>
                  </a:ext>
                </a:extLst>
              </p:cNvPr>
              <p:cNvSpPr txBox="1"/>
              <p:nvPr/>
            </p:nvSpPr>
            <p:spPr>
              <a:xfrm>
                <a:off x="2088542" y="5026144"/>
                <a:ext cx="4523290" cy="1815497"/>
              </a:xfrm>
              <a:prstGeom prst="rect">
                <a:avLst/>
              </a:prstGeom>
              <a:noFill/>
            </p:spPr>
            <p:txBody>
              <a:bodyPr wrap="none" rtlCol="0">
                <a:spAutoFit/>
              </a:bodyPr>
              <a:lstStyle/>
              <a:p>
                <a:pPr algn="ctr"/>
                <a:r>
                  <a:rPr lang="en-US" dirty="0"/>
                  <a:t>Effluent Concentration Profile (Taylor, 1953) </a:t>
                </a:r>
              </a:p>
              <a:p>
                <a:pPr algn="ctr"/>
                <a:r>
                  <a:rPr lang="en-US" dirty="0"/>
                  <a:t>and RTD (Cumulative Form)</a:t>
                </a:r>
              </a:p>
              <a:p>
                <a:pPr/>
                <a14:m>
                  <m:oMathPara xmlns:m="http://schemas.openxmlformats.org/officeDocument/2006/math">
                    <m:o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𝑡</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r>
                            <a:rPr lang="en-US" b="0" i="1" smtClean="0">
                              <a:latin typeface="Cambria Math" panose="02040503050406030204" pitchFamily="18" charset="0"/>
                            </a:rPr>
                            <m:t>𝑡</m:t>
                          </m:r>
                        </m:den>
                      </m:f>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den>
                      </m:f>
                    </m:oMath>
                  </m:oMathPara>
                </a14:m>
                <a:endParaRPr lang="en-US" dirty="0"/>
              </a:p>
              <a:p>
                <a:pPr/>
                <a14:m>
                  <m:oMathPara xmlns:m="http://schemas.openxmlformats.org/officeDocument/2006/math">
                    <m:o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𝑡</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den>
                      </m:f>
                      <m:r>
                        <a:rPr lang="en-US" b="0" i="1" smtClean="0">
                          <a:latin typeface="Cambria Math" panose="02040503050406030204" pitchFamily="18" charset="0"/>
                        </a:rPr>
                        <m:t>=0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𝑜𝑡ℎ𝑒𝑟</m:t>
                      </m:r>
                      <m:r>
                        <a:rPr lang="en-US" b="0" i="1" smtClean="0">
                          <a:latin typeface="Cambria Math" panose="02040503050406030204" pitchFamily="18" charset="0"/>
                        </a:rPr>
                        <m:t> </m:t>
                      </m:r>
                      <m:r>
                        <a:rPr lang="en-US" b="0" i="1" smtClean="0">
                          <a:latin typeface="Cambria Math" panose="02040503050406030204" pitchFamily="18" charset="0"/>
                        </a:rPr>
                        <m:t>𝑡</m:t>
                      </m:r>
                    </m:oMath>
                  </m:oMathPara>
                </a14:m>
                <a:endParaRPr lang="en-US" dirty="0"/>
              </a:p>
            </p:txBody>
          </p:sp>
        </mc:Choice>
        <mc:Fallback xmlns="">
          <p:sp>
            <p:nvSpPr>
              <p:cNvPr id="42" name="TextBox 41">
                <a:extLst>
                  <a:ext uri="{FF2B5EF4-FFF2-40B4-BE49-F238E27FC236}">
                    <a16:creationId xmlns:a16="http://schemas.microsoft.com/office/drawing/2014/main" id="{7327BB29-A306-3641-E24A-D4E7852537AD}"/>
                  </a:ext>
                </a:extLst>
              </p:cNvPr>
              <p:cNvSpPr txBox="1">
                <a:spLocks noRot="1" noChangeAspect="1" noMove="1" noResize="1" noEditPoints="1" noAdjustHandles="1" noChangeArrowheads="1" noChangeShapeType="1" noTextEdit="1"/>
              </p:cNvSpPr>
              <p:nvPr/>
            </p:nvSpPr>
            <p:spPr>
              <a:xfrm>
                <a:off x="2088542" y="5026144"/>
                <a:ext cx="4523290" cy="1815497"/>
              </a:xfrm>
              <a:prstGeom prst="rect">
                <a:avLst/>
              </a:prstGeom>
              <a:blipFill>
                <a:blip r:embed="rId4"/>
                <a:stretch>
                  <a:fillRect l="-809" t="-1342" r="-5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864DDCB-B24E-437D-9215-1012BC3DFFE2}"/>
                  </a:ext>
                </a:extLst>
              </p:cNvPr>
              <p:cNvSpPr txBox="1"/>
              <p:nvPr/>
            </p:nvSpPr>
            <p:spPr>
              <a:xfrm>
                <a:off x="7089057" y="5329382"/>
                <a:ext cx="3671838" cy="1230914"/>
              </a:xfrm>
              <a:prstGeom prst="rect">
                <a:avLst/>
              </a:prstGeom>
              <a:noFill/>
            </p:spPr>
            <p:txBody>
              <a:bodyPr wrap="none" rtlCol="0">
                <a:spAutoFit/>
              </a:bodyPr>
              <a:lstStyle/>
              <a:p>
                <a:pPr algn="ctr"/>
                <a:r>
                  <a:rPr lang="en-US" dirty="0"/>
                  <a:t>RTD (Density Form)</a:t>
                </a:r>
              </a:p>
              <a:p>
                <a:pPr/>
                <a14:m>
                  <m:oMathPara xmlns:m="http://schemas.openxmlformats.org/officeDocument/2006/math">
                    <m:o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𝑑𝐹</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sup>
                          </m:sSup>
                        </m:den>
                      </m:f>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𝑡</m:t>
                      </m:r>
                      <m:r>
                        <a:rPr lang="en-US" b="0" i="1" smtClean="0">
                          <a:latin typeface="Cambria Math" panose="02040503050406030204" pitchFamily="18" charset="0"/>
                        </a:rPr>
                        <m:t>&gt;</m:t>
                      </m:r>
                      <m:f>
                        <m:fPr>
                          <m:ctrlPr>
                            <a:rPr lang="en-US" b="0" i="1" smtClean="0">
                              <a:latin typeface="Cambria Math" panose="02040503050406030204" pitchFamily="18" charset="0"/>
                            </a:rPr>
                          </m:ctrlPr>
                        </m:fPr>
                        <m:num>
                          <m:r>
                            <a:rPr lang="en-US" b="0" i="1" smtClean="0">
                              <a:latin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0</m:t>
                              </m:r>
                            </m:sub>
                          </m:sSub>
                        </m:den>
                      </m:f>
                    </m:oMath>
                  </m:oMathPara>
                </a14:m>
                <a:endParaRPr lang="en-US" dirty="0"/>
              </a:p>
              <a:p>
                <a:pPr/>
                <a14:m>
                  <m:oMathPara xmlns:m="http://schemas.openxmlformats.org/officeDocument/2006/math">
                    <m:o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𝑜𝑡ℎ𝑒𝑟</m:t>
                      </m:r>
                      <m:r>
                        <a:rPr lang="en-US" b="0" i="1" smtClean="0">
                          <a:latin typeface="Cambria Math" panose="02040503050406030204" pitchFamily="18" charset="0"/>
                        </a:rPr>
                        <m:t> </m:t>
                      </m:r>
                      <m:r>
                        <a:rPr lang="en-US" b="0" i="1" smtClean="0">
                          <a:latin typeface="Cambria Math" panose="02040503050406030204" pitchFamily="18" charset="0"/>
                        </a:rPr>
                        <m:t>𝑡</m:t>
                      </m:r>
                    </m:oMath>
                  </m:oMathPara>
                </a14:m>
                <a:endParaRPr lang="en-US" dirty="0"/>
              </a:p>
            </p:txBody>
          </p:sp>
        </mc:Choice>
        <mc:Fallback xmlns="">
          <p:sp>
            <p:nvSpPr>
              <p:cNvPr id="45" name="TextBox 44">
                <a:extLst>
                  <a:ext uri="{FF2B5EF4-FFF2-40B4-BE49-F238E27FC236}">
                    <a16:creationId xmlns:a16="http://schemas.microsoft.com/office/drawing/2014/main" id="{0864DDCB-B24E-437D-9215-1012BC3DFFE2}"/>
                  </a:ext>
                </a:extLst>
              </p:cNvPr>
              <p:cNvSpPr txBox="1">
                <a:spLocks noRot="1" noChangeAspect="1" noMove="1" noResize="1" noEditPoints="1" noAdjustHandles="1" noChangeArrowheads="1" noChangeShapeType="1" noTextEdit="1"/>
              </p:cNvSpPr>
              <p:nvPr/>
            </p:nvSpPr>
            <p:spPr>
              <a:xfrm>
                <a:off x="7089057" y="5329382"/>
                <a:ext cx="3671838" cy="1230914"/>
              </a:xfrm>
              <a:prstGeom prst="rect">
                <a:avLst/>
              </a:prstGeom>
              <a:blipFill>
                <a:blip r:embed="rId5"/>
                <a:stretch>
                  <a:fillRect t="-1980" b="-3465"/>
                </a:stretch>
              </a:blipFill>
            </p:spPr>
            <p:txBody>
              <a:bodyPr/>
              <a:lstStyle/>
              <a:p>
                <a:r>
                  <a:rPr lang="en-US">
                    <a:noFill/>
                  </a:rPr>
                  <a:t> </a:t>
                </a:r>
              </a:p>
            </p:txBody>
          </p:sp>
        </mc:Fallback>
      </mc:AlternateContent>
      <p:sp>
        <p:nvSpPr>
          <p:cNvPr id="18" name="Slide Number Placeholder 17">
            <a:extLst>
              <a:ext uri="{FF2B5EF4-FFF2-40B4-BE49-F238E27FC236}">
                <a16:creationId xmlns:a16="http://schemas.microsoft.com/office/drawing/2014/main" id="{3EC37C73-7BC2-C6B5-645C-D9AEFD5E053B}"/>
              </a:ext>
            </a:extLst>
          </p:cNvPr>
          <p:cNvSpPr>
            <a:spLocks noGrp="1"/>
          </p:cNvSpPr>
          <p:nvPr>
            <p:ph type="sldNum" sz="quarter" idx="12"/>
          </p:nvPr>
        </p:nvSpPr>
        <p:spPr/>
        <p:txBody>
          <a:bodyPr/>
          <a:lstStyle/>
          <a:p>
            <a:fld id="{34765577-9A70-4B44-A463-20938F747DD0}" type="slidenum">
              <a:rPr lang="en-US" smtClean="0"/>
              <a:t>23</a:t>
            </a:fld>
            <a:endParaRPr lang="en-US"/>
          </a:p>
        </p:txBody>
      </p:sp>
    </p:spTree>
    <p:extLst>
      <p:ext uri="{BB962C8B-B14F-4D97-AF65-F5344CB8AC3E}">
        <p14:creationId xmlns:p14="http://schemas.microsoft.com/office/powerpoint/2010/main" val="310390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8DE502B1-2B0B-C8A9-9F73-D0393CE65611}"/>
              </a:ext>
            </a:extLst>
          </p:cNvPr>
          <p:cNvGraphicFramePr>
            <a:graphicFrameLocks noChangeAspect="1"/>
          </p:cNvGraphicFramePr>
          <p:nvPr/>
        </p:nvGraphicFramePr>
        <p:xfrm>
          <a:off x="0" y="1207293"/>
          <a:ext cx="5802313" cy="4443413"/>
        </p:xfrm>
        <a:graphic>
          <a:graphicData uri="http://schemas.openxmlformats.org/presentationml/2006/ole">
            <mc:AlternateContent xmlns:mc="http://schemas.openxmlformats.org/markup-compatibility/2006">
              <mc:Choice xmlns:v="urn:schemas-microsoft-com:vml" Requires="v">
                <p:oleObj name="SPW 16.0 Graph" r:id="rId2" imgW="5802001" imgH="4443827" progId="SigmaPlotGraphicObject.16">
                  <p:embed/>
                </p:oleObj>
              </mc:Choice>
              <mc:Fallback>
                <p:oleObj name="SPW 16.0 Graph" r:id="rId2" imgW="5802001" imgH="4443827" progId="SigmaPlotGraphicObject.16">
                  <p:embed/>
                  <p:pic>
                    <p:nvPicPr>
                      <p:cNvPr id="2" name="Object 1">
                        <a:extLst>
                          <a:ext uri="{FF2B5EF4-FFF2-40B4-BE49-F238E27FC236}">
                            <a16:creationId xmlns:a16="http://schemas.microsoft.com/office/drawing/2014/main" id="{8DE502B1-2B0B-C8A9-9F73-D0393CE65611}"/>
                          </a:ext>
                        </a:extLst>
                      </p:cNvPr>
                      <p:cNvPicPr/>
                      <p:nvPr/>
                    </p:nvPicPr>
                    <p:blipFill>
                      <a:blip r:embed="rId3"/>
                      <a:stretch>
                        <a:fillRect/>
                      </a:stretch>
                    </p:blipFill>
                    <p:spPr>
                      <a:xfrm>
                        <a:off x="0" y="1207293"/>
                        <a:ext cx="5802313" cy="4443413"/>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FCE9BAF4-FD4E-FAD5-8B9F-427FEA0EBC78}"/>
              </a:ext>
            </a:extLst>
          </p:cNvPr>
          <p:cNvGraphicFramePr>
            <a:graphicFrameLocks noChangeAspect="1"/>
          </p:cNvGraphicFramePr>
          <p:nvPr/>
        </p:nvGraphicFramePr>
        <p:xfrm>
          <a:off x="6352505" y="1207293"/>
          <a:ext cx="5802313" cy="4443413"/>
        </p:xfrm>
        <a:graphic>
          <a:graphicData uri="http://schemas.openxmlformats.org/presentationml/2006/ole">
            <mc:AlternateContent xmlns:mc="http://schemas.openxmlformats.org/markup-compatibility/2006">
              <mc:Choice xmlns:v="urn:schemas-microsoft-com:vml" Requires="v">
                <p:oleObj name="SPW 16.0 Graph" r:id="rId4" imgW="5802001" imgH="4443827" progId="SigmaPlotGraphicObject.16">
                  <p:embed/>
                </p:oleObj>
              </mc:Choice>
              <mc:Fallback>
                <p:oleObj name="SPW 16.0 Graph" r:id="rId4" imgW="5802001" imgH="4443827" progId="SigmaPlotGraphicObject.16">
                  <p:embed/>
                  <p:pic>
                    <p:nvPicPr>
                      <p:cNvPr id="3" name="Object 2">
                        <a:extLst>
                          <a:ext uri="{FF2B5EF4-FFF2-40B4-BE49-F238E27FC236}">
                            <a16:creationId xmlns:a16="http://schemas.microsoft.com/office/drawing/2014/main" id="{FCE9BAF4-FD4E-FAD5-8B9F-427FEA0EBC78}"/>
                          </a:ext>
                        </a:extLst>
                      </p:cNvPr>
                      <p:cNvPicPr/>
                      <p:nvPr/>
                    </p:nvPicPr>
                    <p:blipFill>
                      <a:blip r:embed="rId5"/>
                      <a:stretch>
                        <a:fillRect/>
                      </a:stretch>
                    </p:blipFill>
                    <p:spPr>
                      <a:xfrm>
                        <a:off x="6352505" y="1207293"/>
                        <a:ext cx="5802313" cy="4443413"/>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63A40AF3-1676-3932-A5EE-728634F25767}"/>
              </a:ext>
            </a:extLst>
          </p:cNvPr>
          <p:cNvSpPr>
            <a:spLocks noGrp="1"/>
          </p:cNvSpPr>
          <p:nvPr>
            <p:ph type="sldNum" sz="quarter" idx="12"/>
          </p:nvPr>
        </p:nvSpPr>
        <p:spPr/>
        <p:txBody>
          <a:bodyPr/>
          <a:lstStyle/>
          <a:p>
            <a:fld id="{34765577-9A70-4B44-A463-20938F747DD0}" type="slidenum">
              <a:rPr lang="en-US" smtClean="0"/>
              <a:t>24</a:t>
            </a:fld>
            <a:endParaRPr lang="en-US"/>
          </a:p>
        </p:txBody>
      </p:sp>
    </p:spTree>
    <p:extLst>
      <p:ext uri="{BB962C8B-B14F-4D97-AF65-F5344CB8AC3E}">
        <p14:creationId xmlns:p14="http://schemas.microsoft.com/office/powerpoint/2010/main" val="11917622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C4553C-F334-FDF9-BFF1-7E9CBE8FD3E1}"/>
              </a:ext>
            </a:extLst>
          </p:cNvPr>
          <p:cNvSpPr>
            <a:spLocks noGrp="1"/>
          </p:cNvSpPr>
          <p:nvPr>
            <p:ph type="title"/>
          </p:nvPr>
        </p:nvSpPr>
        <p:spPr>
          <a:xfrm>
            <a:off x="838200" y="0"/>
            <a:ext cx="10515600" cy="913302"/>
          </a:xfrm>
        </p:spPr>
        <p:txBody>
          <a:bodyPr/>
          <a:lstStyle/>
          <a:p>
            <a:pPr algn="ctr"/>
            <a:r>
              <a:rPr lang="en-US" dirty="0">
                <a:solidFill>
                  <a:srgbClr val="0000CC"/>
                </a:solidFill>
              </a:rPr>
              <a:t>Residence Time Distribution Function (RTD)</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31477D7E-B097-4778-3B05-DAA332996826}"/>
                  </a:ext>
                </a:extLst>
              </p:cNvPr>
              <p:cNvSpPr>
                <a:spLocks noGrp="1"/>
              </p:cNvSpPr>
              <p:nvPr>
                <p:ph sz="half" idx="1"/>
              </p:nvPr>
            </p:nvSpPr>
            <p:spPr>
              <a:xfrm>
                <a:off x="130009" y="793059"/>
                <a:ext cx="5772782" cy="6019438"/>
              </a:xfrm>
            </p:spPr>
            <p:txBody>
              <a:bodyPr>
                <a:normAutofit fontScale="92500"/>
              </a:bodyPr>
              <a:lstStyle/>
              <a:p>
                <a:r>
                  <a:rPr lang="en-US" dirty="0"/>
                  <a:t>Probabilistic function</a:t>
                </a:r>
              </a:p>
              <a:p>
                <a:pPr lvl="1"/>
                <a:r>
                  <a:rPr lang="en-US" dirty="0"/>
                  <a:t>Cumulative form, F(t)</a:t>
                </a:r>
              </a:p>
              <a:p>
                <a:pPr lvl="1"/>
                <a:r>
                  <a:rPr lang="en-US" dirty="0"/>
                  <a:t>Density form, E(t)</a:t>
                </a:r>
              </a:p>
              <a:p>
                <a:r>
                  <a:rPr lang="en-US" dirty="0"/>
                  <a:t>Fundamental properties:</a:t>
                </a:r>
              </a:p>
              <a:p>
                <a14:m>
                  <m:oMath xmlns:m="http://schemas.openxmlformats.org/officeDocument/2006/math">
                    <m:r>
                      <a:rPr lang="en-US" b="0" i="1" smtClean="0">
                        <a:latin typeface="Cambria Math" panose="02040503050406030204" pitchFamily="18" charset="0"/>
                      </a:rPr>
                      <m:t>𝐸</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𝑑𝑡</m:t>
                    </m:r>
                    <m:r>
                      <a:rPr lang="en-US" b="0" i="1" smtClean="0">
                        <a:latin typeface="Cambria Math" panose="02040503050406030204" pitchFamily="18" charset="0"/>
                      </a:rPr>
                      <m:t>=</m:t>
                    </m:r>
                  </m:oMath>
                </a14:m>
                <a:r>
                  <a:rPr lang="en-US" dirty="0"/>
                  <a:t>fraction of fluid elements with residence time between t and </a:t>
                </a:r>
                <a:r>
                  <a:rPr lang="en-US" dirty="0" err="1"/>
                  <a:t>t+dt</a:t>
                </a:r>
                <a:r>
                  <a:rPr lang="en-US" dirty="0"/>
                  <a:t> (hatched area)</a:t>
                </a:r>
              </a:p>
              <a:p>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rPr>
                      <m:t>=</m:t>
                    </m:r>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𝜏</m:t>
                        </m:r>
                      </m:sup>
                      <m:e>
                        <m:r>
                          <a:rPr lang="en-US" i="1">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𝑑𝑡</m:t>
                        </m:r>
                        <m:r>
                          <a:rPr lang="en-US" b="0" i="1" smtClean="0">
                            <a:latin typeface="Cambria Math" panose="02040503050406030204" pitchFamily="18" charset="0"/>
                          </a:rPr>
                          <m:t>=</m:t>
                        </m:r>
                      </m:e>
                    </m:nary>
                  </m:oMath>
                </a14:m>
                <a:r>
                  <a:rPr lang="en-US" dirty="0"/>
                  <a:t>fraction of fluid elements with residence time ≤</a:t>
                </a:r>
                <a:r>
                  <a:rPr lang="en-US" dirty="0">
                    <a:sym typeface="Symbol" panose="05050102010706020507" pitchFamily="18" charset="2"/>
                  </a:rPr>
                  <a:t></a:t>
                </a:r>
              </a:p>
              <a:p>
                <a14:m>
                  <m:oMath xmlns:m="http://schemas.openxmlformats.org/officeDocument/2006/math">
                    <m:r>
                      <a:rPr lang="en-US" i="1">
                        <a:latin typeface="Cambria Math" panose="02040503050406030204" pitchFamily="18" charset="0"/>
                      </a:rPr>
                      <m:t>𝐹</m:t>
                    </m:r>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m:t>
                        </m:r>
                      </m:e>
                    </m:d>
                    <m:r>
                      <a:rPr lang="en-US" i="1">
                        <a:latin typeface="Cambria Math" panose="02040503050406030204" pitchFamily="18" charset="0"/>
                      </a:rPr>
                      <m:t>=</m:t>
                    </m:r>
                    <m:nary>
                      <m:naryPr>
                        <m:limLoc m:val="undOvr"/>
                        <m:ctrlPr>
                          <a:rPr lang="en-US" i="1">
                            <a:latin typeface="Cambria Math" panose="02040503050406030204" pitchFamily="18" charset="0"/>
                          </a:rPr>
                        </m:ctrlPr>
                      </m:naryPr>
                      <m:sub>
                        <m:r>
                          <m:rPr>
                            <m:brk m:alnAt="24"/>
                          </m:rPr>
                          <a:rPr lang="en-US" i="1">
                            <a:latin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m:t>
                        </m:r>
                      </m:sup>
                      <m:e>
                        <m:r>
                          <a:rPr lang="en-US" i="1">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𝑑𝑡</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e>
                    </m:nary>
                  </m:oMath>
                </a14:m>
                <a:endParaRPr lang="en-US" dirty="0"/>
              </a:p>
              <a:p>
                <a:r>
                  <a:rPr lang="en-US" dirty="0"/>
                  <a:t>Experimental measurement (tracer test)</a:t>
                </a:r>
              </a:p>
              <a:p>
                <a:pPr lvl="1"/>
                <a:r>
                  <a:rPr lang="en-US" dirty="0"/>
                  <a:t>Pulse introduction @ inlet</a:t>
                </a:r>
              </a:p>
              <a:p>
                <a:pPr lvl="1"/>
                <a:r>
                  <a:rPr lang="en-US" dirty="0"/>
                  <a:t>Step change @ inlet</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31477D7E-B097-4778-3B05-DAA332996826}"/>
                  </a:ext>
                </a:extLst>
              </p:cNvPr>
              <p:cNvSpPr>
                <a:spLocks noGrp="1" noRot="1" noChangeAspect="1" noMove="1" noResize="1" noEditPoints="1" noAdjustHandles="1" noChangeArrowheads="1" noChangeShapeType="1" noTextEdit="1"/>
              </p:cNvSpPr>
              <p:nvPr>
                <p:ph sz="half" idx="1"/>
              </p:nvPr>
            </p:nvSpPr>
            <p:spPr>
              <a:xfrm>
                <a:off x="130009" y="793059"/>
                <a:ext cx="5772782" cy="6019438"/>
              </a:xfrm>
              <a:blipFill>
                <a:blip r:embed="rId2"/>
                <a:stretch>
                  <a:fillRect l="-1584" t="-1518" b="-911"/>
                </a:stretch>
              </a:blipFill>
            </p:spPr>
            <p:txBody>
              <a:bodyPr/>
              <a:lstStyle/>
              <a:p>
                <a:r>
                  <a:rPr lang="en-US">
                    <a:noFill/>
                  </a:rPr>
                  <a:t> </a:t>
                </a:r>
              </a:p>
            </p:txBody>
          </p:sp>
        </mc:Fallback>
      </mc:AlternateContent>
      <p:pic>
        <p:nvPicPr>
          <p:cNvPr id="9" name="Content Placeholder 8">
            <a:extLst>
              <a:ext uri="{FF2B5EF4-FFF2-40B4-BE49-F238E27FC236}">
                <a16:creationId xmlns:a16="http://schemas.microsoft.com/office/drawing/2014/main" id="{39605C05-0EAC-02A1-7068-9C0B97A367F3}"/>
              </a:ext>
            </a:extLst>
          </p:cNvPr>
          <p:cNvPicPr>
            <a:picLocks noGrp="1" noChangeAspect="1"/>
          </p:cNvPicPr>
          <p:nvPr>
            <p:ph sz="half" idx="2"/>
          </p:nvPr>
        </p:nvPicPr>
        <p:blipFill>
          <a:blip r:embed="rId3"/>
          <a:stretch>
            <a:fillRect/>
          </a:stretch>
        </p:blipFill>
        <p:spPr>
          <a:xfrm>
            <a:off x="6019800" y="1229440"/>
            <a:ext cx="6354574" cy="470913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9DF59EA-84AA-42CD-E995-FC98877D54A2}"/>
                  </a:ext>
                </a:extLst>
              </p:cNvPr>
              <p:cNvSpPr txBox="1"/>
              <p:nvPr/>
            </p:nvSpPr>
            <p:spPr>
              <a:xfrm>
                <a:off x="4167100" y="1229440"/>
                <a:ext cx="1794195" cy="629852"/>
              </a:xfrm>
              <a:prstGeom prst="rect">
                <a:avLst/>
              </a:prstGeom>
              <a:solidFill>
                <a:srgbClr val="FFFF00"/>
              </a:solidFill>
              <a:ln w="19050">
                <a:solidFill>
                  <a:srgbClr val="FF0000"/>
                </a:solidFill>
              </a:ln>
            </p:spPr>
            <p:txBody>
              <a:bodyPr wrap="square">
                <a:spAutoFit/>
              </a:bodyPr>
              <a:lstStyle/>
              <a:p>
                <a:pPr/>
                <a14:m>
                  <m:oMathPara xmlns:m="http://schemas.openxmlformats.org/officeDocument/2006/math">
                    <m:oMath>
                      <m:r>
                        <a:rPr lang="en-US" b="0" i="1" smtClean="0">
                          <a:latin typeface="Cambria Math" panose="02040503050406030204" pitchFamily="18" charset="0"/>
                        </a:rPr>
                        <m:t>𝐸</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𝑑𝐹</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num>
                        <m:den>
                          <m:r>
                            <a:rPr lang="en-US" b="0" i="1" smtClean="0">
                              <a:latin typeface="Cambria Math" panose="02040503050406030204" pitchFamily="18" charset="0"/>
                            </a:rPr>
                            <m:t>𝑑𝑡</m:t>
                          </m:r>
                        </m:den>
                      </m:f>
                    </m:oMath>
                  </m:oMathPara>
                </a14:m>
                <a:endParaRPr lang="en-US" dirty="0"/>
              </a:p>
            </p:txBody>
          </p:sp>
        </mc:Choice>
        <mc:Fallback xmlns="">
          <p:sp>
            <p:nvSpPr>
              <p:cNvPr id="5" name="TextBox 4">
                <a:extLst>
                  <a:ext uri="{FF2B5EF4-FFF2-40B4-BE49-F238E27FC236}">
                    <a16:creationId xmlns:a16="http://schemas.microsoft.com/office/drawing/2014/main" id="{A9DF59EA-84AA-42CD-E995-FC98877D54A2}"/>
                  </a:ext>
                </a:extLst>
              </p:cNvPr>
              <p:cNvSpPr txBox="1">
                <a:spLocks noRot="1" noChangeAspect="1" noMove="1" noResize="1" noEditPoints="1" noAdjustHandles="1" noChangeArrowheads="1" noChangeShapeType="1" noTextEdit="1"/>
              </p:cNvSpPr>
              <p:nvPr/>
            </p:nvSpPr>
            <p:spPr>
              <a:xfrm>
                <a:off x="4167100" y="1229440"/>
                <a:ext cx="1794195" cy="629852"/>
              </a:xfrm>
              <a:prstGeom prst="rect">
                <a:avLst/>
              </a:prstGeom>
              <a:blipFill>
                <a:blip r:embed="rId4"/>
                <a:stretch>
                  <a:fillRect/>
                </a:stretch>
              </a:blipFill>
              <a:ln w="19050">
                <a:solidFill>
                  <a:srgbClr val="FF0000"/>
                </a:solidFill>
              </a:ln>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142F97B-84CF-7DE1-B504-1EA1EE754E8E}"/>
              </a:ext>
            </a:extLst>
          </p:cNvPr>
          <p:cNvSpPr>
            <a:spLocks noGrp="1"/>
          </p:cNvSpPr>
          <p:nvPr>
            <p:ph type="sldNum" sz="quarter" idx="12"/>
          </p:nvPr>
        </p:nvSpPr>
        <p:spPr/>
        <p:txBody>
          <a:bodyPr/>
          <a:lstStyle/>
          <a:p>
            <a:fld id="{34765577-9A70-4B44-A463-20938F747DD0}" type="slidenum">
              <a:rPr lang="en-US" smtClean="0"/>
              <a:t>25</a:t>
            </a:fld>
            <a:endParaRPr lang="en-US"/>
          </a:p>
        </p:txBody>
      </p:sp>
    </p:spTree>
    <p:extLst>
      <p:ext uri="{BB962C8B-B14F-4D97-AF65-F5344CB8AC3E}">
        <p14:creationId xmlns:p14="http://schemas.microsoft.com/office/powerpoint/2010/main" val="360237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Effect transition="in" filter="fade">
                                      <p:cBhvr>
                                        <p:cTn id="23" dur="500"/>
                                        <p:tgtEl>
                                          <p:spTgt spid="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500"/>
                                        <p:tgtEl>
                                          <p:spTgt spid="4">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fade">
                                      <p:cBhvr>
                                        <p:cTn id="33" dur="500"/>
                                        <p:tgtEl>
                                          <p:spTgt spid="4">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xEl>
                                              <p:pRg st="6" end="6"/>
                                            </p:txEl>
                                          </p:spTgt>
                                        </p:tgtEl>
                                        <p:attrNameLst>
                                          <p:attrName>style.visibility</p:attrName>
                                        </p:attrNameLst>
                                      </p:cBhvr>
                                      <p:to>
                                        <p:strVal val="visible"/>
                                      </p:to>
                                    </p:set>
                                    <p:animEffect transition="in" filter="fade">
                                      <p:cBhvr>
                                        <p:cTn id="38" dur="500"/>
                                        <p:tgtEl>
                                          <p:spTgt spid="4">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animEffect transition="in" filter="fade">
                                      <p:cBhvr>
                                        <p:cTn id="43" dur="500"/>
                                        <p:tgtEl>
                                          <p:spTgt spid="4">
                                            <p:txEl>
                                              <p:pRg st="7" end="7"/>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Effect transition="in" filter="fade">
                                      <p:cBhvr>
                                        <p:cTn id="46" dur="500"/>
                                        <p:tgtEl>
                                          <p:spTgt spid="4">
                                            <p:txEl>
                                              <p:pRg st="8" end="8"/>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txEl>
                                              <p:pRg st="9" end="9"/>
                                            </p:txEl>
                                          </p:spTgt>
                                        </p:tgtEl>
                                        <p:attrNameLst>
                                          <p:attrName>style.visibility</p:attrName>
                                        </p:attrNameLst>
                                      </p:cBhvr>
                                      <p:to>
                                        <p:strVal val="visible"/>
                                      </p:to>
                                    </p:set>
                                    <p:animEffect transition="in" filter="fade">
                                      <p:cBhvr>
                                        <p:cTn id="49" dur="500"/>
                                        <p:tgtEl>
                                          <p:spTgt spid="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1623</Words>
  <Application>Microsoft Office PowerPoint</Application>
  <PresentationFormat>Widescreen</PresentationFormat>
  <Paragraphs>265</Paragraphs>
  <Slides>25</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34" baseType="lpstr">
      <vt:lpstr>Aptos</vt:lpstr>
      <vt:lpstr>Aptos Display</vt:lpstr>
      <vt:lpstr>Arial</vt:lpstr>
      <vt:lpstr>Cambria Math</vt:lpstr>
      <vt:lpstr>Symbol</vt:lpstr>
      <vt:lpstr>Times New Roman</vt:lpstr>
      <vt:lpstr>Office Theme</vt:lpstr>
      <vt:lpstr>SPW 16.0 Graph</vt:lpstr>
      <vt:lpstr>Microsoft Word Document</vt:lpstr>
      <vt:lpstr>UV-C Dose-Response Behavior of Airborne (Aerosolized) Challenge Agents I: Theoretical Foundation</vt:lpstr>
      <vt:lpstr>Background/Motivation</vt:lpstr>
      <vt:lpstr>Room as a Reactor</vt:lpstr>
      <vt:lpstr>Need for a Standard Method</vt:lpstr>
      <vt:lpstr>Project Goals</vt:lpstr>
      <vt:lpstr>Original Design Concept:  Numerical Simulations (Ray Tracing)</vt:lpstr>
      <vt:lpstr>Alternative Designs</vt:lpstr>
      <vt:lpstr>Mark: add more images here to illustrate results of updated fluence rate field simulations</vt:lpstr>
      <vt:lpstr>Definition Sketch: Transport Behavior for Laminar Flow in a Circular Tube (Taylor, 1953)</vt:lpstr>
      <vt:lpstr>Properties of Challenge Agents</vt:lpstr>
      <vt:lpstr>Transport Behavior in Circular Tube</vt:lpstr>
      <vt:lpstr>Segregated Flow Model (SFM), Time Basis: Definition Sketch</vt:lpstr>
      <vt:lpstr>Chemical Reactor Performance Segregated Flow Model</vt:lpstr>
      <vt:lpstr>PowerPoint Presentation</vt:lpstr>
      <vt:lpstr>Intrinsic Kinetics for Actinometry: Homogenous Gas-Phase Reactions</vt:lpstr>
      <vt:lpstr>PowerPoint Presentation</vt:lpstr>
      <vt:lpstr>BLueprint Uniform Cylindrical Integrating Fluence Rate Reactor (BLUCIFRR) Production</vt:lpstr>
      <vt:lpstr>BLUCIFRR Prototype</vt:lpstr>
      <vt:lpstr>Summary</vt:lpstr>
      <vt:lpstr>Thank you!  Questions?</vt:lpstr>
      <vt:lpstr>Transport Behavior of Suspended/Soluble Material Under Laminar Flow in a Circular Tube</vt:lpstr>
      <vt:lpstr>Hypothetical Tracer Test (No Diffusion) Step Change in Inlet Concentration at t=0</vt:lpstr>
      <vt:lpstr>Tracer Emergence from Reactor</vt:lpstr>
      <vt:lpstr>PowerPoint Presentation</vt:lpstr>
      <vt:lpstr>Residence Time Distribution Function (RTD)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Ernest R Blatchley</dc:creator>
  <cp:lastModifiedBy>Ernest R Blatchley</cp:lastModifiedBy>
  <cp:revision>6</cp:revision>
  <dcterms:created xsi:type="dcterms:W3CDTF">2026-09-24T20:56:21Z</dcterms:created>
  <dcterms:modified xsi:type="dcterms:W3CDTF">2026-09-29T15:44:44Z</dcterms:modified>
</cp:coreProperties>
</file>